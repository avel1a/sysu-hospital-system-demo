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 id="2147483660" r:id="rId2"/>
  </p:sldMasterIdLst>
  <p:notesMasterIdLst>
    <p:notesMasterId r:id="rId24"/>
  </p:notes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53" d="100"/>
          <a:sy n="53" d="100"/>
        </p:scale>
        <p:origin x="68" y="1164"/>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viewProps" Target="viewProps.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notesMaster" Target="notesMasters/notesMaster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tableStyles" Target="tableStyles.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14.01.2026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大家好，今天我将向大家汇报我们小组开发的社区医院门诊管理系统的数据库设计与实现。</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本次汇报将分为六个部分，首先是项目背景与目标，其次是需求分析，然后是核心的数据库设计，接着是功能实现的展示，之后是我们项目的创新与亮点，最后是总结与展望。</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首先，我们来看看项目的背景与目标。在医疗信息化的大趋势下，社区医院需要通过数字化手段来提升效率。因此，我们的目标是开发一个能够覆盖门诊全流程的管理系统，并通过数据分析为医院运营提供决策支持。</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我们的系统主要面向三类用户：患者、前台工作人员和医院管理人员。患者追求便捷，前台需要高效，而管理人员则关注数据和决策支持。我们的设计将围绕这三类用户的核心需求展开。</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基于对用户的分析，我们将系统功能划分为三个模块：患者端、前台端和管理员端。患者端主要提供预约和查询服务；前台端负责日常的登记和收费；管理员端则侧重于数据管理和分析。</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接下来是数据库设计部分。首先是概念设计，我们通过E-R图来描述系统的实体和它们之间的关系。我们定义了员工、预约、就诊和支付四个核心实体，并明确了它们之间的联系。</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在概念设计的基础上，我们将E-R图转换为关系模式，设计了四个主要的数据库表，分别对应员工、预约、就诊和支付四个实体。</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这是员工表的详细设计，我们定义了工号、姓名、职称、科室等字段，并设置了相应的数据类型和约束条件。</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这是预约表的设计，主要存储患者的预约信息，包括姓名、电话、预约科室和时间等。</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就诊记录表是系统的核心表，记录了患者就诊的详细信息，包括个人信息、就诊科室、接诊医生以及就诊状态等。</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支付表记录了每一次就诊的缴费信息，通过就诊编号与就诊记录关联，详细记录了总金额、医保金额和自费金额。</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在技术实现上，我们选择了轻量级且高效的技术栈。前端使用Python的Streamlit库，可以快速构建交互式Web应用。后端同样使用Python，数据库则采用了文件型的SQLite，方便部署和移植。</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这是患者端的预约挂号界面。我们设计得非常简洁，患者只需要填写少量信息，即可完成预约。同时，我们还提供了状态查询功能，方便患者了解就诊进度。</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前台端是医院日常运营的核心。我们为前台人员设计了高效的工作界面，支持预约核验和收费结算等功能，大大提升了工作效率。</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管理员端主要提供数据洞察和管理功能。数据看板为管理层提供了可视化的运营数据，帮助他们做出更科学的决策。同时，员工管理模块也让人事管理变得更加便捷。</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这是我们数据库设计中的一个核心代码片段。我们创建了支付表，并定义了一个触发器。当患者完成支付后，这个触发器会自动将对应的就诊记录的状态更新为“已离院”，实现了业务流程的自动化。</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我们项目的一个重要创新点是广泛使用了数据库触发器来实现业务流程的自动化。这不仅简化了应用层的代码，也让整个系统的逻辑更加清晰和可靠。</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在数据一致性方面，我们也做了很多工作。我们利用乐观锁机制来防止号源超卖，并通过事务来保证关键业务操作的原子性，确保了数据的安全和可靠。</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为了提升系统性能，我们采取了一系列优化措施。通过创建预编译视图和合理的索引，我们大大提高了复杂查询的效率，确保了系统在数据量增长的情况下依然能够保持良好的性能。</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为了确保系统的质量，我们进行了全面的验证和测试。在不同的环境下，通过大量的测试用例，我们验证了系统功能的正确性、数据的一致性和性能的稳定性。</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最后，我们对本次项目进行一个简要的总结和展望。我们成功地完成了系统的数据库设计与实现，并达到了预期的目标。未来，我们希望能够进一步扩展系统功能，开发移动端应用，并深化数据分析，为社区医院的发展贡献更多的力量。</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标题幻灯片" type="title">
  <p:cSld name="TITLE">
    <p:spTree>
      <p:nvGrpSpPr>
        <p:cNvPr id="1" name="Shape 11"/>
        <p:cNvGrpSpPr/>
        <p:nvPr/>
      </p:nvGrpSpPr>
      <p:grpSpPr>
        <a:xfrm>
          <a:off x="0" y="0"/>
          <a:ext cx="0" cy="0"/>
          <a:chOff x="0" y="0"/>
          <a:chExt cx="0" cy="0"/>
        </a:xfrm>
      </p:grpSpPr>
      <p:sp>
        <p:nvSpPr>
          <p:cNvPr id="12" name="Shape 30"/>
          <p:cNvSpPr txBox="1">
            <a:spLocks noGrp="1"/>
          </p:cNvSpPr>
          <p:nvPr>
            <p:ph type="ctrTitle"/>
          </p:nvPr>
        </p:nvSpPr>
        <p:spPr>
          <a:xfrm>
            <a:off x="1143000" y="841772"/>
            <a:ext cx="6858000" cy="1790700"/>
          </a:xfrm>
          <a:prstGeom prst="rect">
            <a:avLst/>
          </a:prstGeom>
          <a:noFill/>
          <a:ln>
            <a:noFill/>
          </a:ln>
        </p:spPr>
        <p:txBody>
          <a:bodyPr spcFirstLastPara="1" wrap="square" lIns="68575" tIns="34275" rIns="68575" bIns="34275" anchor="b" anchorCtr="0">
            <a:normAutofit/>
          </a:bodyPr>
          <a:lstStyle>
            <a:lvl1pPr lvl="0" algn="ctr">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3" name="Shape 31"/>
          <p:cNvSpPr txBox="1">
            <a:spLocks noGrp="1"/>
          </p:cNvSpPr>
          <p:nvPr>
            <p:ph type="subTitle" idx="1"/>
          </p:nvPr>
        </p:nvSpPr>
        <p:spPr>
          <a:xfrm>
            <a:off x="1143000" y="2701528"/>
            <a:ext cx="6858000" cy="1241821"/>
          </a:xfrm>
          <a:prstGeom prst="rect">
            <a:avLst/>
          </a:prstGeom>
          <a:noFill/>
          <a:ln>
            <a:noFill/>
          </a:ln>
        </p:spPr>
        <p:txBody>
          <a:bodyPr spcFirstLastPara="1" wrap="square" lIns="68575" tIns="34275" rIns="68575" bIns="34275" anchor="t" anchorCtr="0">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a:endParaRPr/>
          </a:p>
        </p:txBody>
      </p:sp>
      <p:sp>
        <p:nvSpPr>
          <p:cNvPr id="14" name="Shape 32"/>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5" name="Shape 33"/>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6" name="Shape 34"/>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标题和内容" type="obj">
  <p:cSld name="OBJECT">
    <p:spTree>
      <p:nvGrpSpPr>
        <p:cNvPr id="1" name="Shape 17"/>
        <p:cNvGrpSpPr/>
        <p:nvPr/>
      </p:nvGrpSpPr>
      <p:grpSpPr>
        <a:xfrm>
          <a:off x="0" y="0"/>
          <a:ext cx="0" cy="0"/>
          <a:chOff x="0" y="0"/>
          <a:chExt cx="0" cy="0"/>
        </a:xfrm>
      </p:grpSpPr>
      <p:sp>
        <p:nvSpPr>
          <p:cNvPr id="18" name="Shape 54"/>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9" name="Shape 55"/>
          <p:cNvSpPr txBox="1">
            <a:spLocks noGrp="1"/>
          </p:cNvSpPr>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20" name="Shape 5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1" name="Shape 5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2" name="Shape 5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节标题" type="secHead">
  <p:cSld name="SECTION_HEADER">
    <p:spTree>
      <p:nvGrpSpPr>
        <p:cNvPr id="1" name="Shape 23"/>
        <p:cNvGrpSpPr/>
        <p:nvPr/>
      </p:nvGrpSpPr>
      <p:grpSpPr>
        <a:xfrm>
          <a:off x="0" y="0"/>
          <a:ext cx="0" cy="0"/>
          <a:chOff x="0" y="0"/>
          <a:chExt cx="0" cy="0"/>
        </a:xfrm>
      </p:grpSpPr>
      <p:sp>
        <p:nvSpPr>
          <p:cNvPr id="24" name="Shape 59"/>
          <p:cNvSpPr txBox="1">
            <a:spLocks noGrp="1"/>
          </p:cNvSpPr>
          <p:nvPr>
            <p:ph type="title"/>
          </p:nvPr>
        </p:nvSpPr>
        <p:spPr>
          <a:xfrm>
            <a:off x="623888" y="1282304"/>
            <a:ext cx="7886700" cy="2139553"/>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25" name="Shape 60"/>
          <p:cNvSpPr txBox="1">
            <a:spLocks noGrp="1"/>
          </p:cNvSpPr>
          <p:nvPr>
            <p:ph type="body" idx="1"/>
          </p:nvPr>
        </p:nvSpPr>
        <p:spPr>
          <a:xfrm>
            <a:off x="623888" y="3442097"/>
            <a:ext cx="7886700" cy="112514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rgbClr val="888888"/>
              </a:buClr>
              <a:buSzPts val="1800"/>
              <a:buNone/>
              <a:defRPr sz="1800">
                <a:solidFill>
                  <a:srgbClr val="888888"/>
                </a:solidFill>
              </a:defRPr>
            </a:lvl1pPr>
            <a:lvl2pPr marL="914400" lvl="1" indent="-228600" algn="l">
              <a:lnSpc>
                <a:spcPct val="90000"/>
              </a:lnSpc>
              <a:spcBef>
                <a:spcPts val="400"/>
              </a:spcBef>
              <a:spcAft>
                <a:spcPts val="0"/>
              </a:spcAft>
              <a:buClr>
                <a:srgbClr val="888888"/>
              </a:buClr>
              <a:buSzPts val="1500"/>
              <a:buNone/>
              <a:defRPr sz="1500">
                <a:solidFill>
                  <a:srgbClr val="888888"/>
                </a:solidFill>
              </a:defRPr>
            </a:lvl2pPr>
            <a:lvl3pPr marL="1371600" lvl="2" indent="-228600" algn="l">
              <a:lnSpc>
                <a:spcPct val="90000"/>
              </a:lnSpc>
              <a:spcBef>
                <a:spcPts val="400"/>
              </a:spcBef>
              <a:spcAft>
                <a:spcPts val="0"/>
              </a:spcAft>
              <a:buClr>
                <a:srgbClr val="888888"/>
              </a:buClr>
              <a:buSzPts val="1400"/>
              <a:buNone/>
              <a:defRPr sz="1400">
                <a:solidFill>
                  <a:srgbClr val="888888"/>
                </a:solidFill>
              </a:defRPr>
            </a:lvl3pPr>
            <a:lvl4pPr marL="1828800" lvl="3" indent="-228600" algn="l">
              <a:lnSpc>
                <a:spcPct val="90000"/>
              </a:lnSpc>
              <a:spcBef>
                <a:spcPts val="400"/>
              </a:spcBef>
              <a:spcAft>
                <a:spcPts val="0"/>
              </a:spcAft>
              <a:buClr>
                <a:srgbClr val="888888"/>
              </a:buClr>
              <a:buSzPts val="1200"/>
              <a:buNone/>
              <a:defRPr sz="1200">
                <a:solidFill>
                  <a:srgbClr val="888888"/>
                </a:solidFill>
              </a:defRPr>
            </a:lvl4pPr>
            <a:lvl5pPr marL="2286000" lvl="4" indent="-228600" algn="l">
              <a:lnSpc>
                <a:spcPct val="90000"/>
              </a:lnSpc>
              <a:spcBef>
                <a:spcPts val="400"/>
              </a:spcBef>
              <a:spcAft>
                <a:spcPts val="0"/>
              </a:spcAft>
              <a:buClr>
                <a:srgbClr val="888888"/>
              </a:buClr>
              <a:buSzPts val="1200"/>
              <a:buNone/>
              <a:defRPr sz="1200">
                <a:solidFill>
                  <a:srgbClr val="888888"/>
                </a:solidFill>
              </a:defRPr>
            </a:lvl5pPr>
            <a:lvl6pPr marL="2743200" lvl="5" indent="-228600" algn="l">
              <a:lnSpc>
                <a:spcPct val="90000"/>
              </a:lnSpc>
              <a:spcBef>
                <a:spcPts val="400"/>
              </a:spcBef>
              <a:spcAft>
                <a:spcPts val="0"/>
              </a:spcAft>
              <a:buClr>
                <a:srgbClr val="888888"/>
              </a:buClr>
              <a:buSzPts val="1200"/>
              <a:buNone/>
              <a:defRPr sz="1200">
                <a:solidFill>
                  <a:srgbClr val="888888"/>
                </a:solidFill>
              </a:defRPr>
            </a:lvl6pPr>
            <a:lvl7pPr marL="3200400" lvl="6" indent="-228600" algn="l">
              <a:lnSpc>
                <a:spcPct val="90000"/>
              </a:lnSpc>
              <a:spcBef>
                <a:spcPts val="400"/>
              </a:spcBef>
              <a:spcAft>
                <a:spcPts val="0"/>
              </a:spcAft>
              <a:buClr>
                <a:srgbClr val="888888"/>
              </a:buClr>
              <a:buSzPts val="1200"/>
              <a:buNone/>
              <a:defRPr sz="1200">
                <a:solidFill>
                  <a:srgbClr val="888888"/>
                </a:solidFill>
              </a:defRPr>
            </a:lvl7pPr>
            <a:lvl8pPr marL="3657600" lvl="7" indent="-228600" algn="l">
              <a:lnSpc>
                <a:spcPct val="90000"/>
              </a:lnSpc>
              <a:spcBef>
                <a:spcPts val="400"/>
              </a:spcBef>
              <a:spcAft>
                <a:spcPts val="0"/>
              </a:spcAft>
              <a:buClr>
                <a:srgbClr val="888888"/>
              </a:buClr>
              <a:buSzPts val="1200"/>
              <a:buNone/>
              <a:defRPr sz="1200">
                <a:solidFill>
                  <a:srgbClr val="888888"/>
                </a:solidFill>
              </a:defRPr>
            </a:lvl8pPr>
            <a:lvl9pPr marL="4114800" lvl="8" indent="-228600" algn="l">
              <a:lnSpc>
                <a:spcPct val="90000"/>
              </a:lnSpc>
              <a:spcBef>
                <a:spcPts val="400"/>
              </a:spcBef>
              <a:spcAft>
                <a:spcPts val="0"/>
              </a:spcAft>
              <a:buClr>
                <a:srgbClr val="888888"/>
              </a:buClr>
              <a:buSzPts val="1200"/>
              <a:buNone/>
              <a:defRPr sz="1200">
                <a:solidFill>
                  <a:srgbClr val="888888"/>
                </a:solidFill>
              </a:defRPr>
            </a:lvl9pPr>
          </a:lstStyle>
          <a:p>
            <a:endParaRPr/>
          </a:p>
        </p:txBody>
      </p:sp>
      <p:sp>
        <p:nvSpPr>
          <p:cNvPr id="26" name="Shape 6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7" name="Shape 6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8" name="Shape 6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两栏内容" type="twoObj">
  <p:cSld name="TWO_OBJECTS">
    <p:spTree>
      <p:nvGrpSpPr>
        <p:cNvPr id="1" name="Shape 29"/>
        <p:cNvGrpSpPr/>
        <p:nvPr/>
      </p:nvGrpSpPr>
      <p:grpSpPr>
        <a:xfrm>
          <a:off x="0" y="0"/>
          <a:ext cx="0" cy="0"/>
          <a:chOff x="0" y="0"/>
          <a:chExt cx="0" cy="0"/>
        </a:xfrm>
      </p:grpSpPr>
      <p:sp>
        <p:nvSpPr>
          <p:cNvPr id="30" name="Shape 9"/>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31" name="Shape 10"/>
          <p:cNvSpPr txBox="1">
            <a:spLocks noGrp="1"/>
          </p:cNvSpPr>
          <p:nvPr>
            <p:ph type="body" idx="1"/>
          </p:nvPr>
        </p:nvSpPr>
        <p:spPr>
          <a:xfrm>
            <a:off x="6286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32" name="Shape 11"/>
          <p:cNvSpPr txBox="1">
            <a:spLocks noGrp="1"/>
          </p:cNvSpPr>
          <p:nvPr>
            <p:ph type="body" idx="2"/>
          </p:nvPr>
        </p:nvSpPr>
        <p:spPr>
          <a:xfrm>
            <a:off x="46291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33" name="Shape 12"/>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34" name="Shape 13"/>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35" name="Shape 14"/>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比较" type="twoTxTwoObj">
  <p:cSld name="TWO_OBJECTS_WITH_TEXT">
    <p:spTree>
      <p:nvGrpSpPr>
        <p:cNvPr id="1" name="Shape 36"/>
        <p:cNvGrpSpPr/>
        <p:nvPr/>
      </p:nvGrpSpPr>
      <p:grpSpPr>
        <a:xfrm>
          <a:off x="0" y="0"/>
          <a:ext cx="0" cy="0"/>
          <a:chOff x="0" y="0"/>
          <a:chExt cx="0" cy="0"/>
        </a:xfrm>
      </p:grpSpPr>
      <p:sp>
        <p:nvSpPr>
          <p:cNvPr id="37" name="Shape 35"/>
          <p:cNvSpPr txBox="1">
            <a:spLocks noGrp="1"/>
          </p:cNvSpPr>
          <p:nvPr>
            <p:ph type="title"/>
          </p:nvPr>
        </p:nvSpPr>
        <p:spPr>
          <a:xfrm>
            <a:off x="629841"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38" name="Shape 36"/>
          <p:cNvSpPr txBox="1">
            <a:spLocks noGrp="1"/>
          </p:cNvSpPr>
          <p:nvPr>
            <p:ph type="body" idx="1"/>
          </p:nvPr>
        </p:nvSpPr>
        <p:spPr>
          <a:xfrm>
            <a:off x="629841" y="1260872"/>
            <a:ext cx="3868340"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endParaRPr/>
          </a:p>
        </p:txBody>
      </p:sp>
      <p:sp>
        <p:nvSpPr>
          <p:cNvPr id="39" name="Shape 37"/>
          <p:cNvSpPr txBox="1">
            <a:spLocks noGrp="1"/>
          </p:cNvSpPr>
          <p:nvPr>
            <p:ph type="body" idx="2"/>
          </p:nvPr>
        </p:nvSpPr>
        <p:spPr>
          <a:xfrm>
            <a:off x="629841" y="1878806"/>
            <a:ext cx="3868340"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40" name="Shape 38"/>
          <p:cNvSpPr txBox="1">
            <a:spLocks noGrp="1"/>
          </p:cNvSpPr>
          <p:nvPr>
            <p:ph type="body" idx="3"/>
          </p:nvPr>
        </p:nvSpPr>
        <p:spPr>
          <a:xfrm>
            <a:off x="4629150" y="1260872"/>
            <a:ext cx="3887391"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endParaRPr/>
          </a:p>
        </p:txBody>
      </p:sp>
      <p:sp>
        <p:nvSpPr>
          <p:cNvPr id="41" name="Shape 39"/>
          <p:cNvSpPr txBox="1">
            <a:spLocks noGrp="1"/>
          </p:cNvSpPr>
          <p:nvPr>
            <p:ph type="body" idx="4"/>
          </p:nvPr>
        </p:nvSpPr>
        <p:spPr>
          <a:xfrm>
            <a:off x="4629150" y="1878806"/>
            <a:ext cx="3887391"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42" name="Shape 40"/>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3" name="Shape 41"/>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4" name="Shape 42"/>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仅标题" type="titleOnly">
  <p:cSld name="TITLE_ONLY">
    <p:spTree>
      <p:nvGrpSpPr>
        <p:cNvPr id="1" name="Shape 45"/>
        <p:cNvGrpSpPr/>
        <p:nvPr/>
      </p:nvGrpSpPr>
      <p:grpSpPr>
        <a:xfrm>
          <a:off x="0" y="0"/>
          <a:ext cx="0" cy="0"/>
          <a:chOff x="0" y="0"/>
          <a:chExt cx="0" cy="0"/>
        </a:xfrm>
      </p:grpSpPr>
      <p:sp>
        <p:nvSpPr>
          <p:cNvPr id="46" name="Shape 20"/>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47" name="Shape 2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8" name="Shape 2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9" name="Shape 2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空白" type="blank">
  <p:cSld name="BLANK">
    <p:spTree>
      <p:nvGrpSpPr>
        <p:cNvPr id="1" name="Shape 50"/>
        <p:cNvGrpSpPr/>
        <p:nvPr/>
      </p:nvGrpSpPr>
      <p:grpSpPr>
        <a:xfrm>
          <a:off x="0" y="0"/>
          <a:ext cx="0" cy="0"/>
          <a:chOff x="0" y="0"/>
          <a:chExt cx="0" cy="0"/>
        </a:xfrm>
      </p:grpSpPr>
      <p:sp>
        <p:nvSpPr>
          <p:cNvPr id="51" name="Shape 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2" name="Shape 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3" name="Shape 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内容与标题" type="objTx">
  <p:cSld name="OBJECT_WITH_CAPTION_TEXT">
    <p:spTree>
      <p:nvGrpSpPr>
        <p:cNvPr id="1" name="Shape 54"/>
        <p:cNvGrpSpPr/>
        <p:nvPr/>
      </p:nvGrpSpPr>
      <p:grpSpPr>
        <a:xfrm>
          <a:off x="0" y="0"/>
          <a:ext cx="0" cy="0"/>
          <a:chOff x="0" y="0"/>
          <a:chExt cx="0" cy="0"/>
        </a:xfrm>
      </p:grpSpPr>
      <p:sp>
        <p:nvSpPr>
          <p:cNvPr id="55" name="Shape 43"/>
          <p:cNvSpPr txBox="1">
            <a:spLocks noGrp="1"/>
          </p:cNvSpPr>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56" name="Shape 44"/>
          <p:cNvSpPr txBox="1">
            <a:spLocks noGrp="1"/>
          </p:cNvSpPr>
          <p:nvPr>
            <p:ph type="body" idx="1"/>
          </p:nvPr>
        </p:nvSpPr>
        <p:spPr>
          <a:xfrm>
            <a:off x="3887391" y="740569"/>
            <a:ext cx="4629150" cy="3655219"/>
          </a:xfrm>
          <a:prstGeom prst="rect">
            <a:avLst/>
          </a:prstGeom>
          <a:noFill/>
          <a:ln>
            <a:noFill/>
          </a:ln>
        </p:spPr>
        <p:txBody>
          <a:bodyPr spcFirstLastPara="1" wrap="square" lIns="68575" tIns="34275" rIns="68575" bIns="34275" anchor="t" anchorCtr="0">
            <a:normAutofit/>
          </a:bodyPr>
          <a:lstStyle>
            <a:lvl1pPr marL="457200" lvl="0" indent="-381000" algn="l">
              <a:lnSpc>
                <a:spcPct val="90000"/>
              </a:lnSpc>
              <a:spcBef>
                <a:spcPts val="800"/>
              </a:spcBef>
              <a:spcAft>
                <a:spcPts val="0"/>
              </a:spcAft>
              <a:buClr>
                <a:schemeClr val="dk1"/>
              </a:buClr>
              <a:buSzPts val="2400"/>
              <a:buChar char="•"/>
              <a:defRPr sz="2400"/>
            </a:lvl1pPr>
            <a:lvl2pPr marL="914400" lvl="1" indent="-361950" algn="l">
              <a:lnSpc>
                <a:spcPct val="90000"/>
              </a:lnSpc>
              <a:spcBef>
                <a:spcPts val="400"/>
              </a:spcBef>
              <a:spcAft>
                <a:spcPts val="0"/>
              </a:spcAft>
              <a:buClr>
                <a:schemeClr val="dk1"/>
              </a:buClr>
              <a:buSzPts val="2100"/>
              <a:buChar char="•"/>
              <a:defRPr sz="2100"/>
            </a:lvl2pPr>
            <a:lvl3pPr marL="1371600" lvl="2" indent="-342900" algn="l">
              <a:lnSpc>
                <a:spcPct val="90000"/>
              </a:lnSpc>
              <a:spcBef>
                <a:spcPts val="400"/>
              </a:spcBef>
              <a:spcAft>
                <a:spcPts val="0"/>
              </a:spcAft>
              <a:buClr>
                <a:schemeClr val="dk1"/>
              </a:buClr>
              <a:buSzPts val="1800"/>
              <a:buChar char="•"/>
              <a:defRPr sz="1800"/>
            </a:lvl3pPr>
            <a:lvl4pPr marL="1828800" lvl="3" indent="-323850" algn="l">
              <a:lnSpc>
                <a:spcPct val="90000"/>
              </a:lnSpc>
              <a:spcBef>
                <a:spcPts val="400"/>
              </a:spcBef>
              <a:spcAft>
                <a:spcPts val="0"/>
              </a:spcAft>
              <a:buClr>
                <a:schemeClr val="dk1"/>
              </a:buClr>
              <a:buSzPts val="1500"/>
              <a:buChar char="•"/>
              <a:defRPr sz="1500"/>
            </a:lvl4pPr>
            <a:lvl5pPr marL="2286000" lvl="4" indent="-323850" algn="l">
              <a:lnSpc>
                <a:spcPct val="90000"/>
              </a:lnSpc>
              <a:spcBef>
                <a:spcPts val="400"/>
              </a:spcBef>
              <a:spcAft>
                <a:spcPts val="0"/>
              </a:spcAft>
              <a:buClr>
                <a:schemeClr val="dk1"/>
              </a:buClr>
              <a:buSzPts val="1500"/>
              <a:buChar char="•"/>
              <a:defRPr sz="1500"/>
            </a:lvl5pPr>
            <a:lvl6pPr marL="2743200" lvl="5" indent="-323850" algn="l">
              <a:lnSpc>
                <a:spcPct val="90000"/>
              </a:lnSpc>
              <a:spcBef>
                <a:spcPts val="400"/>
              </a:spcBef>
              <a:spcAft>
                <a:spcPts val="0"/>
              </a:spcAft>
              <a:buClr>
                <a:schemeClr val="dk1"/>
              </a:buClr>
              <a:buSzPts val="1500"/>
              <a:buChar char="•"/>
              <a:defRPr sz="1500"/>
            </a:lvl6pPr>
            <a:lvl7pPr marL="3200400" lvl="6" indent="-323850" algn="l">
              <a:lnSpc>
                <a:spcPct val="90000"/>
              </a:lnSpc>
              <a:spcBef>
                <a:spcPts val="400"/>
              </a:spcBef>
              <a:spcAft>
                <a:spcPts val="0"/>
              </a:spcAft>
              <a:buClr>
                <a:schemeClr val="dk1"/>
              </a:buClr>
              <a:buSzPts val="1500"/>
              <a:buChar char="•"/>
              <a:defRPr sz="1500"/>
            </a:lvl7pPr>
            <a:lvl8pPr marL="3657600" lvl="7" indent="-323850" algn="l">
              <a:lnSpc>
                <a:spcPct val="90000"/>
              </a:lnSpc>
              <a:spcBef>
                <a:spcPts val="400"/>
              </a:spcBef>
              <a:spcAft>
                <a:spcPts val="0"/>
              </a:spcAft>
              <a:buClr>
                <a:schemeClr val="dk1"/>
              </a:buClr>
              <a:buSzPts val="1500"/>
              <a:buChar char="•"/>
              <a:defRPr sz="1500"/>
            </a:lvl8pPr>
            <a:lvl9pPr marL="4114800" lvl="8" indent="-323850" algn="l">
              <a:lnSpc>
                <a:spcPct val="90000"/>
              </a:lnSpc>
              <a:spcBef>
                <a:spcPts val="400"/>
              </a:spcBef>
              <a:spcAft>
                <a:spcPts val="0"/>
              </a:spcAft>
              <a:buClr>
                <a:schemeClr val="dk1"/>
              </a:buClr>
              <a:buSzPts val="1500"/>
              <a:buChar char="•"/>
              <a:defRPr sz="1500"/>
            </a:lvl9pPr>
          </a:lstStyle>
          <a:p>
            <a:endParaRPr/>
          </a:p>
        </p:txBody>
      </p:sp>
      <p:sp>
        <p:nvSpPr>
          <p:cNvPr id="57" name="Shape 45"/>
          <p:cNvSpPr txBox="1">
            <a:spLocks noGrp="1"/>
          </p:cNvSpPr>
          <p:nvPr>
            <p:ph type="body" idx="2"/>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a:endParaRPr/>
          </a:p>
        </p:txBody>
      </p:sp>
      <p:sp>
        <p:nvSpPr>
          <p:cNvPr id="58" name="Shape 4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9" name="Shape 4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0" name="Shape 4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图片与标题" type="picTx">
  <p:cSld name="PICTURE_WITH_CAPTION_TEXT">
    <p:spTree>
      <p:nvGrpSpPr>
        <p:cNvPr id="1" name="Shape 61"/>
        <p:cNvGrpSpPr/>
        <p:nvPr/>
      </p:nvGrpSpPr>
      <p:grpSpPr>
        <a:xfrm>
          <a:off x="0" y="0"/>
          <a:ext cx="0" cy="0"/>
          <a:chOff x="0" y="0"/>
          <a:chExt cx="0" cy="0"/>
        </a:xfrm>
      </p:grpSpPr>
      <p:sp>
        <p:nvSpPr>
          <p:cNvPr id="62" name="Shape 24"/>
          <p:cNvSpPr txBox="1">
            <a:spLocks noGrp="1"/>
          </p:cNvSpPr>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63" name="Shape 25"/>
          <p:cNvSpPr>
            <a:spLocks noGrp="1"/>
          </p:cNvSpPr>
          <p:nvPr>
            <p:ph type="pic" idx="2"/>
          </p:nvPr>
        </p:nvSpPr>
        <p:spPr>
          <a:xfrm>
            <a:off x="3887391" y="740569"/>
            <a:ext cx="4629150" cy="3655219"/>
          </a:xfrm>
          <a:prstGeom prst="rect">
            <a:avLst/>
          </a:prstGeom>
          <a:noFill/>
          <a:ln>
            <a:noFill/>
          </a:ln>
        </p:spPr>
      </p:sp>
      <p:sp>
        <p:nvSpPr>
          <p:cNvPr id="64" name="Shape 26"/>
          <p:cNvSpPr txBox="1">
            <a:spLocks noGrp="1"/>
          </p:cNvSpPr>
          <p:nvPr>
            <p:ph type="body" idx="1"/>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a:endParaRPr/>
          </a:p>
        </p:txBody>
      </p:sp>
      <p:sp>
        <p:nvSpPr>
          <p:cNvPr id="65" name="Shape 27"/>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6" name="Shape 28"/>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7" name="Shape 29"/>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标题和竖排文字" type="vertTx">
  <p:cSld name="VERTICAL_TEXT">
    <p:spTree>
      <p:nvGrpSpPr>
        <p:cNvPr id="1" name="Shape 68"/>
        <p:cNvGrpSpPr/>
        <p:nvPr/>
      </p:nvGrpSpPr>
      <p:grpSpPr>
        <a:xfrm>
          <a:off x="0" y="0"/>
          <a:ext cx="0" cy="0"/>
          <a:chOff x="0" y="0"/>
          <a:chExt cx="0" cy="0"/>
        </a:xfrm>
      </p:grpSpPr>
      <p:sp>
        <p:nvSpPr>
          <p:cNvPr id="69" name="Shape 49"/>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70" name="Shape 50"/>
          <p:cNvSpPr txBox="1">
            <a:spLocks noGrp="1"/>
          </p:cNvSpPr>
          <p:nvPr>
            <p:ph type="body" idx="1"/>
          </p:nvPr>
        </p:nvSpPr>
        <p:spPr>
          <a:xfrm rot="5400000">
            <a:off x="2940248" y="-942379"/>
            <a:ext cx="3263504" cy="78867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71" name="Shape 5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2" name="Shape 5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3" name="Shape 5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竖排标题与文本" type="vertTitleAndTx">
  <p:cSld name="VERTICAL_TITLE_AND_VERTICAL_TEXT">
    <p:spTree>
      <p:nvGrpSpPr>
        <p:cNvPr id="1" name="Shape 74"/>
        <p:cNvGrpSpPr/>
        <p:nvPr/>
      </p:nvGrpSpPr>
      <p:grpSpPr>
        <a:xfrm>
          <a:off x="0" y="0"/>
          <a:ext cx="0" cy="0"/>
          <a:chOff x="0" y="0"/>
          <a:chExt cx="0" cy="0"/>
        </a:xfrm>
      </p:grpSpPr>
      <p:sp>
        <p:nvSpPr>
          <p:cNvPr id="75" name="Shape 15"/>
          <p:cNvSpPr txBox="1">
            <a:spLocks noGrp="1"/>
          </p:cNvSpPr>
          <p:nvPr>
            <p:ph type="title"/>
          </p:nvPr>
        </p:nvSpPr>
        <p:spPr>
          <a:xfrm rot="5400000">
            <a:off x="5350073" y="1467445"/>
            <a:ext cx="4358879" cy="1971675"/>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76" name="Shape 16"/>
          <p:cNvSpPr txBox="1">
            <a:spLocks noGrp="1"/>
          </p:cNvSpPr>
          <p:nvPr>
            <p:ph type="body" idx="1"/>
          </p:nvPr>
        </p:nvSpPr>
        <p:spPr>
          <a:xfrm rot="5400000">
            <a:off x="1349573" y="-447080"/>
            <a:ext cx="4358879" cy="5800725"/>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77" name="Shape 17"/>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8" name="Shape 18"/>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9" name="Shape 19"/>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Shape 1"/>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marR="0" lvl="0" algn="l" rtl="0">
              <a:lnSpc>
                <a:spcPct val="90000"/>
              </a:lnSpc>
              <a:spcBef>
                <a:spcPts val="0"/>
              </a:spcBef>
              <a:spcAft>
                <a:spcPts val="0"/>
              </a:spcAft>
              <a:buClr>
                <a:schemeClr val="dk1"/>
              </a:buClr>
              <a:buSzPts val="3300"/>
              <a:buFont typeface="Arial"/>
              <a:buNone/>
              <a:defRPr sz="3300" b="0" i="0" u="none" strike="noStrike" cap="none">
                <a:solidFill>
                  <a:schemeClr val="dk1"/>
                </a:solidFill>
                <a:latin typeface="Arial"/>
                <a:ea typeface="Arial"/>
                <a:cs typeface="Arial"/>
                <a:sym typeface="Arial"/>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a:endParaRPr/>
          </a:p>
        </p:txBody>
      </p:sp>
      <p:sp>
        <p:nvSpPr>
          <p:cNvPr id="7" name="Shape 2"/>
          <p:cNvSpPr txBox="1">
            <a:spLocks noGrp="1"/>
          </p:cNvSpPr>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marR="0" lvl="0" indent="-361950" algn="l" rtl="0">
              <a:lnSpc>
                <a:spcPct val="90000"/>
              </a:lnSpc>
              <a:spcBef>
                <a:spcPts val="800"/>
              </a:spcBef>
              <a:spcAft>
                <a:spcPts val="0"/>
              </a:spcAft>
              <a:buClr>
                <a:schemeClr val="dk1"/>
              </a:buClr>
              <a:buSzPts val="2100"/>
              <a:buFont typeface="Arial"/>
              <a:buChar char="•"/>
              <a:defRPr sz="2100" b="0" i="0" u="none" strike="noStrike" cap="none">
                <a:solidFill>
                  <a:schemeClr val="dk1"/>
                </a:solidFill>
                <a:latin typeface="Arial"/>
                <a:ea typeface="Arial"/>
                <a:cs typeface="Arial"/>
                <a:sym typeface="Arial"/>
              </a:defRPr>
            </a:lvl1pPr>
            <a:lvl2pPr marL="914400" marR="0" lvl="1" indent="-342900" algn="l" rtl="0">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2pPr>
            <a:lvl3pPr marL="1371600" marR="0" lvl="2" indent="-323850" algn="l" rtl="0">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3pPr>
            <a:lvl4pPr marL="1828800" marR="0" lvl="3"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4pPr>
            <a:lvl5pPr marL="2286000" marR="0" lvl="4"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9pPr>
          </a:lstStyle>
          <a:p>
            <a:endParaRPr/>
          </a:p>
        </p:txBody>
      </p:sp>
      <p:sp>
        <p:nvSpPr>
          <p:cNvPr id="8" name="Shape 3"/>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marR="0" lvl="0" algn="l" rtl="0">
              <a:spcBef>
                <a:spcPts val="0"/>
              </a:spcBef>
              <a:spcAft>
                <a:spcPts val="0"/>
              </a:spcAft>
              <a:buSzPts val="1100"/>
              <a:buNone/>
              <a:defRPr sz="900" b="0" i="0" u="none" strike="noStrike" cap="none">
                <a:solidFill>
                  <a:srgbClr val="888888"/>
                </a:solidFill>
                <a:latin typeface="Arial"/>
                <a:ea typeface="Arial"/>
                <a:cs typeface="Arial"/>
                <a:sym typeface="Arial"/>
              </a:defRPr>
            </a:lvl1pPr>
            <a:lvl2pPr marR="0" lvl="1" algn="l" rtl="0">
              <a:spcBef>
                <a:spcPts val="0"/>
              </a:spcBef>
              <a:spcAft>
                <a:spcPts val="0"/>
              </a:spcAft>
              <a:buSzPts val="1100"/>
              <a:buNone/>
              <a:defRPr sz="1400" b="0" i="0" u="none" strike="noStrike" cap="none">
                <a:solidFill>
                  <a:schemeClr val="dk1"/>
                </a:solidFill>
                <a:latin typeface="Arial"/>
                <a:ea typeface="Arial"/>
                <a:cs typeface="Arial"/>
                <a:sym typeface="Arial"/>
              </a:defRPr>
            </a:lvl2pPr>
            <a:lvl3pPr marR="0" lvl="2" algn="l" rtl="0">
              <a:spcBef>
                <a:spcPts val="0"/>
              </a:spcBef>
              <a:spcAft>
                <a:spcPts val="0"/>
              </a:spcAft>
              <a:buSzPts val="1100"/>
              <a:buNone/>
              <a:defRPr sz="1400" b="0" i="0" u="none" strike="noStrike" cap="none">
                <a:solidFill>
                  <a:schemeClr val="dk1"/>
                </a:solidFill>
                <a:latin typeface="Arial"/>
                <a:ea typeface="Arial"/>
                <a:cs typeface="Arial"/>
                <a:sym typeface="Arial"/>
              </a:defRPr>
            </a:lvl3pPr>
            <a:lvl4pPr marR="0" lvl="3" algn="l" rtl="0">
              <a:spcBef>
                <a:spcPts val="0"/>
              </a:spcBef>
              <a:spcAft>
                <a:spcPts val="0"/>
              </a:spcAft>
              <a:buSzPts val="1100"/>
              <a:buNone/>
              <a:defRPr sz="1400" b="0" i="0" u="none" strike="noStrike" cap="none">
                <a:solidFill>
                  <a:schemeClr val="dk1"/>
                </a:solidFill>
                <a:latin typeface="Arial"/>
                <a:ea typeface="Arial"/>
                <a:cs typeface="Arial"/>
                <a:sym typeface="Arial"/>
              </a:defRPr>
            </a:lvl4pPr>
            <a:lvl5pPr marR="0" lvl="4" algn="l" rtl="0">
              <a:spcBef>
                <a:spcPts val="0"/>
              </a:spcBef>
              <a:spcAft>
                <a:spcPts val="0"/>
              </a:spcAft>
              <a:buSzPts val="1100"/>
              <a:buNone/>
              <a:defRPr sz="1400" b="0" i="0" u="none" strike="noStrike" cap="none">
                <a:solidFill>
                  <a:schemeClr val="dk1"/>
                </a:solidFill>
                <a:latin typeface="Arial"/>
                <a:ea typeface="Arial"/>
                <a:cs typeface="Arial"/>
                <a:sym typeface="Arial"/>
              </a:defRPr>
            </a:lvl5pPr>
            <a:lvl6pPr marR="0" lvl="5" algn="l" rtl="0">
              <a:spcBef>
                <a:spcPts val="0"/>
              </a:spcBef>
              <a:spcAft>
                <a:spcPts val="0"/>
              </a:spcAft>
              <a:buSzPts val="1100"/>
              <a:buNone/>
              <a:defRPr sz="1400" b="0" i="0" u="none" strike="noStrike" cap="none">
                <a:solidFill>
                  <a:schemeClr val="dk1"/>
                </a:solidFill>
                <a:latin typeface="Arial"/>
                <a:ea typeface="Arial"/>
                <a:cs typeface="Arial"/>
                <a:sym typeface="Arial"/>
              </a:defRPr>
            </a:lvl6pPr>
            <a:lvl7pPr marR="0" lvl="6" algn="l" rtl="0">
              <a:spcBef>
                <a:spcPts val="0"/>
              </a:spcBef>
              <a:spcAft>
                <a:spcPts val="0"/>
              </a:spcAft>
              <a:buSzPts val="1100"/>
              <a:buNone/>
              <a:defRPr sz="1400" b="0" i="0" u="none" strike="noStrike" cap="none">
                <a:solidFill>
                  <a:schemeClr val="dk1"/>
                </a:solidFill>
                <a:latin typeface="Arial"/>
                <a:ea typeface="Arial"/>
                <a:cs typeface="Arial"/>
                <a:sym typeface="Arial"/>
              </a:defRPr>
            </a:lvl7pPr>
            <a:lvl8pPr marR="0" lvl="7" algn="l" rtl="0">
              <a:spcBef>
                <a:spcPts val="0"/>
              </a:spcBef>
              <a:spcAft>
                <a:spcPts val="0"/>
              </a:spcAft>
              <a:buSzPts val="1100"/>
              <a:buNone/>
              <a:defRPr sz="1400" b="0" i="0" u="none" strike="noStrike" cap="none">
                <a:solidFill>
                  <a:schemeClr val="dk1"/>
                </a:solidFill>
                <a:latin typeface="Arial"/>
                <a:ea typeface="Arial"/>
                <a:cs typeface="Arial"/>
                <a:sym typeface="Arial"/>
              </a:defRPr>
            </a:lvl8pPr>
            <a:lvl9pPr marR="0" lvl="8" algn="l" rtl="0">
              <a:spcBef>
                <a:spcPts val="0"/>
              </a:spcBef>
              <a:spcAft>
                <a:spcPts val="0"/>
              </a:spcAft>
              <a:buSzPts val="1100"/>
              <a:buNone/>
              <a:defRPr sz="1400" b="0" i="0" u="none" strike="noStrike" cap="none">
                <a:solidFill>
                  <a:schemeClr val="dk1"/>
                </a:solidFill>
                <a:latin typeface="Arial"/>
                <a:ea typeface="Arial"/>
                <a:cs typeface="Arial"/>
                <a:sym typeface="Arial"/>
              </a:defRPr>
            </a:lvl9pPr>
          </a:lstStyle>
          <a:p>
            <a:endParaRPr/>
          </a:p>
        </p:txBody>
      </p:sp>
      <p:sp>
        <p:nvSpPr>
          <p:cNvPr id="9" name="Shape 4"/>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marR="0" lvl="0" algn="ctr" rtl="0">
              <a:spcBef>
                <a:spcPts val="0"/>
              </a:spcBef>
              <a:spcAft>
                <a:spcPts val="0"/>
              </a:spcAft>
              <a:buSzPts val="1100"/>
              <a:buNone/>
              <a:defRPr sz="900" b="0" i="0" u="none" strike="noStrike" cap="none">
                <a:solidFill>
                  <a:srgbClr val="888888"/>
                </a:solidFill>
                <a:latin typeface="Arial"/>
                <a:ea typeface="Arial"/>
                <a:cs typeface="Arial"/>
                <a:sym typeface="Arial"/>
              </a:defRPr>
            </a:lvl1pPr>
            <a:lvl2pPr marR="0" lvl="1" algn="l" rtl="0">
              <a:spcBef>
                <a:spcPts val="0"/>
              </a:spcBef>
              <a:spcAft>
                <a:spcPts val="0"/>
              </a:spcAft>
              <a:buSzPts val="1100"/>
              <a:buNone/>
              <a:defRPr sz="1400" b="0" i="0" u="none" strike="noStrike" cap="none">
                <a:solidFill>
                  <a:schemeClr val="dk1"/>
                </a:solidFill>
                <a:latin typeface="Arial"/>
                <a:ea typeface="Arial"/>
                <a:cs typeface="Arial"/>
                <a:sym typeface="Arial"/>
              </a:defRPr>
            </a:lvl2pPr>
            <a:lvl3pPr marR="0" lvl="2" algn="l" rtl="0">
              <a:spcBef>
                <a:spcPts val="0"/>
              </a:spcBef>
              <a:spcAft>
                <a:spcPts val="0"/>
              </a:spcAft>
              <a:buSzPts val="1100"/>
              <a:buNone/>
              <a:defRPr sz="1400" b="0" i="0" u="none" strike="noStrike" cap="none">
                <a:solidFill>
                  <a:schemeClr val="dk1"/>
                </a:solidFill>
                <a:latin typeface="Arial"/>
                <a:ea typeface="Arial"/>
                <a:cs typeface="Arial"/>
                <a:sym typeface="Arial"/>
              </a:defRPr>
            </a:lvl3pPr>
            <a:lvl4pPr marR="0" lvl="3" algn="l" rtl="0">
              <a:spcBef>
                <a:spcPts val="0"/>
              </a:spcBef>
              <a:spcAft>
                <a:spcPts val="0"/>
              </a:spcAft>
              <a:buSzPts val="1100"/>
              <a:buNone/>
              <a:defRPr sz="1400" b="0" i="0" u="none" strike="noStrike" cap="none">
                <a:solidFill>
                  <a:schemeClr val="dk1"/>
                </a:solidFill>
                <a:latin typeface="Arial"/>
                <a:ea typeface="Arial"/>
                <a:cs typeface="Arial"/>
                <a:sym typeface="Arial"/>
              </a:defRPr>
            </a:lvl4pPr>
            <a:lvl5pPr marR="0" lvl="4" algn="l" rtl="0">
              <a:spcBef>
                <a:spcPts val="0"/>
              </a:spcBef>
              <a:spcAft>
                <a:spcPts val="0"/>
              </a:spcAft>
              <a:buSzPts val="1100"/>
              <a:buNone/>
              <a:defRPr sz="1400" b="0" i="0" u="none" strike="noStrike" cap="none">
                <a:solidFill>
                  <a:schemeClr val="dk1"/>
                </a:solidFill>
                <a:latin typeface="Arial"/>
                <a:ea typeface="Arial"/>
                <a:cs typeface="Arial"/>
                <a:sym typeface="Arial"/>
              </a:defRPr>
            </a:lvl5pPr>
            <a:lvl6pPr marR="0" lvl="5" algn="l" rtl="0">
              <a:spcBef>
                <a:spcPts val="0"/>
              </a:spcBef>
              <a:spcAft>
                <a:spcPts val="0"/>
              </a:spcAft>
              <a:buSzPts val="1100"/>
              <a:buNone/>
              <a:defRPr sz="1400" b="0" i="0" u="none" strike="noStrike" cap="none">
                <a:solidFill>
                  <a:schemeClr val="dk1"/>
                </a:solidFill>
                <a:latin typeface="Arial"/>
                <a:ea typeface="Arial"/>
                <a:cs typeface="Arial"/>
                <a:sym typeface="Arial"/>
              </a:defRPr>
            </a:lvl6pPr>
            <a:lvl7pPr marR="0" lvl="6" algn="l" rtl="0">
              <a:spcBef>
                <a:spcPts val="0"/>
              </a:spcBef>
              <a:spcAft>
                <a:spcPts val="0"/>
              </a:spcAft>
              <a:buSzPts val="1100"/>
              <a:buNone/>
              <a:defRPr sz="1400" b="0" i="0" u="none" strike="noStrike" cap="none">
                <a:solidFill>
                  <a:schemeClr val="dk1"/>
                </a:solidFill>
                <a:latin typeface="Arial"/>
                <a:ea typeface="Arial"/>
                <a:cs typeface="Arial"/>
                <a:sym typeface="Arial"/>
              </a:defRPr>
            </a:lvl7pPr>
            <a:lvl8pPr marR="0" lvl="7" algn="l" rtl="0">
              <a:spcBef>
                <a:spcPts val="0"/>
              </a:spcBef>
              <a:spcAft>
                <a:spcPts val="0"/>
              </a:spcAft>
              <a:buSzPts val="1100"/>
              <a:buNone/>
              <a:defRPr sz="1400" b="0" i="0" u="none" strike="noStrike" cap="none">
                <a:solidFill>
                  <a:schemeClr val="dk1"/>
                </a:solidFill>
                <a:latin typeface="Arial"/>
                <a:ea typeface="Arial"/>
                <a:cs typeface="Arial"/>
                <a:sym typeface="Arial"/>
              </a:defRPr>
            </a:lvl8pPr>
            <a:lvl9pPr marR="0" lvl="8" algn="l" rtl="0">
              <a:spcBef>
                <a:spcPts val="0"/>
              </a:spcBef>
              <a:spcAft>
                <a:spcPts val="0"/>
              </a:spcAft>
              <a:buSzPts val="1100"/>
              <a:buNone/>
              <a:defRPr sz="1400" b="0" i="0" u="none" strike="noStrike" cap="none">
                <a:solidFill>
                  <a:schemeClr val="dk1"/>
                </a:solidFill>
                <a:latin typeface="Arial"/>
                <a:ea typeface="Arial"/>
                <a:cs typeface="Arial"/>
                <a:sym typeface="Arial"/>
              </a:defRPr>
            </a:lvl9pPr>
          </a:lstStyle>
          <a:p>
            <a:endParaRPr/>
          </a:p>
        </p:txBody>
      </p:sp>
      <p:sp>
        <p:nvSpPr>
          <p:cNvPr id="10" name="Shape 5"/>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rtl="0">
              <a:spcBef>
                <a:spcPts val="0"/>
              </a:spcBef>
              <a:buNone/>
              <a:defRPr sz="900" b="0" i="0" u="none" strike="noStrike" cap="none">
                <a:solidFill>
                  <a:srgbClr val="888888"/>
                </a:solidFill>
                <a:latin typeface="Arial"/>
                <a:ea typeface="Arial"/>
                <a:cs typeface="Arial"/>
                <a:sym typeface="Arial"/>
              </a:defRPr>
            </a:lvl1pPr>
            <a:lvl2pPr marL="0" marR="0" lvl="1" indent="0" algn="r" rtl="0">
              <a:spcBef>
                <a:spcPts val="0"/>
              </a:spcBef>
              <a:buNone/>
              <a:defRPr sz="900" b="0" i="0" u="none" strike="noStrike" cap="none">
                <a:solidFill>
                  <a:srgbClr val="888888"/>
                </a:solidFill>
                <a:latin typeface="Arial"/>
                <a:ea typeface="Arial"/>
                <a:cs typeface="Arial"/>
                <a:sym typeface="Arial"/>
              </a:defRPr>
            </a:lvl2pPr>
            <a:lvl3pPr marL="0" marR="0" lvl="2" indent="0" algn="r" rtl="0">
              <a:spcBef>
                <a:spcPts val="0"/>
              </a:spcBef>
              <a:buNone/>
              <a:defRPr sz="900" b="0" i="0" u="none" strike="noStrike" cap="none">
                <a:solidFill>
                  <a:srgbClr val="888888"/>
                </a:solidFill>
                <a:latin typeface="Arial"/>
                <a:ea typeface="Arial"/>
                <a:cs typeface="Arial"/>
                <a:sym typeface="Arial"/>
              </a:defRPr>
            </a:lvl3pPr>
            <a:lvl4pPr marL="0" marR="0" lvl="3" indent="0" algn="r" rtl="0">
              <a:spcBef>
                <a:spcPts val="0"/>
              </a:spcBef>
              <a:buNone/>
              <a:defRPr sz="900" b="0" i="0" u="none" strike="noStrike" cap="none">
                <a:solidFill>
                  <a:srgbClr val="888888"/>
                </a:solidFill>
                <a:latin typeface="Arial"/>
                <a:ea typeface="Arial"/>
                <a:cs typeface="Arial"/>
                <a:sym typeface="Arial"/>
              </a:defRPr>
            </a:lvl4pPr>
            <a:lvl5pPr marL="0" marR="0" lvl="4" indent="0" algn="r" rtl="0">
              <a:spcBef>
                <a:spcPts val="0"/>
              </a:spcBef>
              <a:buNone/>
              <a:defRPr sz="900" b="0" i="0" u="none" strike="noStrike" cap="none">
                <a:solidFill>
                  <a:srgbClr val="888888"/>
                </a:solidFill>
                <a:latin typeface="Arial"/>
                <a:ea typeface="Arial"/>
                <a:cs typeface="Arial"/>
                <a:sym typeface="Arial"/>
              </a:defRPr>
            </a:lvl5pPr>
            <a:lvl6pPr marL="0" marR="0" lvl="5" indent="0" algn="r" rtl="0">
              <a:spcBef>
                <a:spcPts val="0"/>
              </a:spcBef>
              <a:buNone/>
              <a:defRPr sz="900" b="0" i="0" u="none" strike="noStrike" cap="none">
                <a:solidFill>
                  <a:srgbClr val="888888"/>
                </a:solidFill>
                <a:latin typeface="Arial"/>
                <a:ea typeface="Arial"/>
                <a:cs typeface="Arial"/>
                <a:sym typeface="Arial"/>
              </a:defRPr>
            </a:lvl6pPr>
            <a:lvl7pPr marL="0" marR="0" lvl="6" indent="0" algn="r" rtl="0">
              <a:spcBef>
                <a:spcPts val="0"/>
              </a:spcBef>
              <a:buNone/>
              <a:defRPr sz="900" b="0" i="0" u="none" strike="noStrike" cap="none">
                <a:solidFill>
                  <a:srgbClr val="888888"/>
                </a:solidFill>
                <a:latin typeface="Arial"/>
                <a:ea typeface="Arial"/>
                <a:cs typeface="Arial"/>
                <a:sym typeface="Arial"/>
              </a:defRPr>
            </a:lvl7pPr>
            <a:lvl8pPr marL="0" marR="0" lvl="7" indent="0" algn="r" rtl="0">
              <a:spcBef>
                <a:spcPts val="0"/>
              </a:spcBef>
              <a:buNone/>
              <a:defRPr sz="900" b="0" i="0" u="none" strike="noStrike" cap="none">
                <a:solidFill>
                  <a:srgbClr val="888888"/>
                </a:solidFill>
                <a:latin typeface="Arial"/>
                <a:ea typeface="Arial"/>
                <a:cs typeface="Arial"/>
                <a:sym typeface="Arial"/>
              </a:defRPr>
            </a:lvl8pPr>
            <a:lvl9pPr marL="0" marR="0" lvl="8" indent="0" algn="r" rtl="0">
              <a:spcBef>
                <a:spcPts val="0"/>
              </a:spcBef>
              <a:buNone/>
              <a:defRPr sz="9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zh-C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默认主题">
    <p:bg>
      <p:bgPr>
        <a:solidFill>
          <a:srgbClr val="FFFFFF">
            <a:alpha val="100000"/>
          </a:srgbClr>
        </a:solidFill>
        <a:effectLst/>
      </p:bgPr>
    </p:bg>
    <p:spTree>
      <p:nvGrpSpPr>
        <p:cNvPr id="1"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57483699"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7.jpeg"/><Relationship Id="rId2" Type="http://schemas.openxmlformats.org/officeDocument/2006/relationships/notesSlide" Target="../notesSlides/notesSlide3.xml"/><Relationship Id="rId1" Type="http://schemas.openxmlformats.org/officeDocument/2006/relationships/slideLayout" Target="../slideLayouts/slideLayout12.xml"/><Relationship Id="rId6" Type="http://schemas.openxmlformats.org/officeDocument/2006/relationships/image" Target="../media/image6.svg"/><Relationship Id="rId5" Type="http://schemas.openxmlformats.org/officeDocument/2006/relationships/image" Target="../media/image5.png"/><Relationship Id="rId4" Type="http://schemas.openxmlformats.org/officeDocument/2006/relationships/image" Target="../media/image4.svg"/></Relationships>
</file>

<file path=ppt/slides/_rels/slide4.xml.rels><?xml version="1.0" encoding="UTF-8" standalone="yes"?>
<Relationships xmlns="http://schemas.openxmlformats.org/package/2006/relationships"><Relationship Id="rId8" Type="http://schemas.openxmlformats.org/officeDocument/2006/relationships/image" Target="../media/image13.svg"/><Relationship Id="rId3" Type="http://schemas.openxmlformats.org/officeDocument/2006/relationships/image" Target="../media/image8.jpeg"/><Relationship Id="rId7" Type="http://schemas.openxmlformats.org/officeDocument/2006/relationships/image" Target="../media/image12.png"/><Relationship Id="rId2" Type="http://schemas.openxmlformats.org/officeDocument/2006/relationships/notesSlide" Target="../notesSlides/notesSlide4.xml"/><Relationship Id="rId1" Type="http://schemas.openxmlformats.org/officeDocument/2006/relationships/slideLayout" Target="../slideLayouts/slideLayout12.xml"/><Relationship Id="rId6" Type="http://schemas.openxmlformats.org/officeDocument/2006/relationships/image" Target="../media/image11.jpeg"/><Relationship Id="rId11" Type="http://schemas.openxmlformats.org/officeDocument/2006/relationships/image" Target="../media/image16.svg"/><Relationship Id="rId5" Type="http://schemas.openxmlformats.org/officeDocument/2006/relationships/image" Target="../media/image10.svg"/><Relationship Id="rId10" Type="http://schemas.openxmlformats.org/officeDocument/2006/relationships/image" Target="../media/image15.png"/><Relationship Id="rId4" Type="http://schemas.openxmlformats.org/officeDocument/2006/relationships/image" Target="../media/image9.png"/><Relationship Id="rId9" Type="http://schemas.openxmlformats.org/officeDocument/2006/relationships/image" Target="../media/image14.jpeg"/></Relationships>
</file>

<file path=ppt/slides/_rels/slide5.xml.rels><?xml version="1.0" encoding="UTF-8" standalone="yes"?>
<Relationships xmlns="http://schemas.openxmlformats.org/package/2006/relationships"><Relationship Id="rId8" Type="http://schemas.openxmlformats.org/officeDocument/2006/relationships/image" Target="../media/image20.svg"/><Relationship Id="rId13" Type="http://schemas.openxmlformats.org/officeDocument/2006/relationships/image" Target="../media/image23.png"/><Relationship Id="rId18" Type="http://schemas.openxmlformats.org/officeDocument/2006/relationships/image" Target="../media/image28.svg"/><Relationship Id="rId3" Type="http://schemas.openxmlformats.org/officeDocument/2006/relationships/image" Target="../media/image12.png"/><Relationship Id="rId7" Type="http://schemas.openxmlformats.org/officeDocument/2006/relationships/image" Target="../media/image19.png"/><Relationship Id="rId12" Type="http://schemas.openxmlformats.org/officeDocument/2006/relationships/image" Target="../media/image16.svg"/><Relationship Id="rId17" Type="http://schemas.openxmlformats.org/officeDocument/2006/relationships/image" Target="../media/image27.png"/><Relationship Id="rId2" Type="http://schemas.openxmlformats.org/officeDocument/2006/relationships/notesSlide" Target="../notesSlides/notesSlide5.xml"/><Relationship Id="rId16" Type="http://schemas.openxmlformats.org/officeDocument/2006/relationships/image" Target="../media/image26.svg"/><Relationship Id="rId1" Type="http://schemas.openxmlformats.org/officeDocument/2006/relationships/slideLayout" Target="../slideLayouts/slideLayout12.xml"/><Relationship Id="rId6" Type="http://schemas.openxmlformats.org/officeDocument/2006/relationships/image" Target="../media/image18.svg"/><Relationship Id="rId11" Type="http://schemas.openxmlformats.org/officeDocument/2006/relationships/image" Target="../media/image15.png"/><Relationship Id="rId5" Type="http://schemas.openxmlformats.org/officeDocument/2006/relationships/image" Target="../media/image17.png"/><Relationship Id="rId15" Type="http://schemas.openxmlformats.org/officeDocument/2006/relationships/image" Target="../media/image25.png"/><Relationship Id="rId10" Type="http://schemas.openxmlformats.org/officeDocument/2006/relationships/image" Target="../media/image22.svg"/><Relationship Id="rId4" Type="http://schemas.openxmlformats.org/officeDocument/2006/relationships/image" Target="../media/image13.svg"/><Relationship Id="rId9" Type="http://schemas.openxmlformats.org/officeDocument/2006/relationships/image" Target="../media/image21.png"/><Relationship Id="rId14" Type="http://schemas.openxmlformats.org/officeDocument/2006/relationships/image" Target="../media/image24.svg"/></Relationships>
</file>

<file path=ppt/slides/_rels/slide6.xml.rels><?xml version="1.0" encoding="UTF-8" standalone="yes"?>
<Relationships xmlns="http://schemas.openxmlformats.org/package/2006/relationships"><Relationship Id="rId8" Type="http://schemas.openxmlformats.org/officeDocument/2006/relationships/image" Target="../media/image32.svg"/><Relationship Id="rId3" Type="http://schemas.openxmlformats.org/officeDocument/2006/relationships/image" Target="../media/image9.png"/><Relationship Id="rId7" Type="http://schemas.openxmlformats.org/officeDocument/2006/relationships/image" Target="../media/image31.png"/><Relationship Id="rId2" Type="http://schemas.openxmlformats.org/officeDocument/2006/relationships/notesSlide" Target="../notesSlides/notesSlide6.xml"/><Relationship Id="rId1" Type="http://schemas.openxmlformats.org/officeDocument/2006/relationships/slideLayout" Target="../slideLayouts/slideLayout12.xml"/><Relationship Id="rId6" Type="http://schemas.openxmlformats.org/officeDocument/2006/relationships/image" Target="../media/image30.svg"/><Relationship Id="rId5" Type="http://schemas.openxmlformats.org/officeDocument/2006/relationships/image" Target="../media/image29.png"/><Relationship Id="rId4" Type="http://schemas.openxmlformats.org/officeDocument/2006/relationships/image" Target="../media/image10.svg"/><Relationship Id="rId9" Type="http://schemas.openxmlformats.org/officeDocument/2006/relationships/image" Target="../media/image33.png"/></Relationships>
</file>

<file path=ppt/slides/_rels/slide7.xml.rels><?xml version="1.0" encoding="UTF-8" standalone="yes"?>
<Relationships xmlns="http://schemas.openxmlformats.org/package/2006/relationships"><Relationship Id="rId8" Type="http://schemas.openxmlformats.org/officeDocument/2006/relationships/image" Target="../media/image30.svg"/><Relationship Id="rId3" Type="http://schemas.openxmlformats.org/officeDocument/2006/relationships/image" Target="../media/image34.png"/><Relationship Id="rId7" Type="http://schemas.openxmlformats.org/officeDocument/2006/relationships/image" Target="../media/image29.png"/><Relationship Id="rId12" Type="http://schemas.openxmlformats.org/officeDocument/2006/relationships/image" Target="../media/image39.svg"/><Relationship Id="rId2" Type="http://schemas.openxmlformats.org/officeDocument/2006/relationships/notesSlide" Target="../notesSlides/notesSlide7.xml"/><Relationship Id="rId1" Type="http://schemas.openxmlformats.org/officeDocument/2006/relationships/slideLayout" Target="../slideLayouts/slideLayout12.xml"/><Relationship Id="rId6" Type="http://schemas.openxmlformats.org/officeDocument/2006/relationships/image" Target="../media/image13.svg"/><Relationship Id="rId11" Type="http://schemas.openxmlformats.org/officeDocument/2006/relationships/image" Target="../media/image38.png"/><Relationship Id="rId5" Type="http://schemas.openxmlformats.org/officeDocument/2006/relationships/image" Target="../media/image12.png"/><Relationship Id="rId10" Type="http://schemas.openxmlformats.org/officeDocument/2006/relationships/image" Target="../media/image37.svg"/><Relationship Id="rId4" Type="http://schemas.openxmlformats.org/officeDocument/2006/relationships/image" Target="../media/image35.svg"/><Relationship Id="rId9" Type="http://schemas.openxmlformats.org/officeDocument/2006/relationships/image" Target="../media/image36.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3" Type="http://schemas.openxmlformats.org/officeDocument/2006/relationships/image" Target="../media/image40.jpeg"/><Relationship Id="rId2" Type="http://schemas.openxmlformats.org/officeDocument/2006/relationships/notesSlide" Target="../notesSlides/notesSlide12.xml"/><Relationship Id="rId1" Type="http://schemas.openxmlformats.org/officeDocument/2006/relationships/slideLayout" Target="../slideLayouts/slideLayout12.xml"/><Relationship Id="rId6" Type="http://schemas.openxmlformats.org/officeDocument/2006/relationships/image" Target="../media/image43.jpeg"/><Relationship Id="rId5" Type="http://schemas.openxmlformats.org/officeDocument/2006/relationships/image" Target="../media/image42.svg"/><Relationship Id="rId4" Type="http://schemas.openxmlformats.org/officeDocument/2006/relationships/image" Target="../media/image41.png"/></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7" Type="http://schemas.openxmlformats.org/officeDocument/2006/relationships/image" Target="../media/image44.png"/><Relationship Id="rId2" Type="http://schemas.openxmlformats.org/officeDocument/2006/relationships/notesSlide" Target="../notesSlides/notesSlide13.xml"/><Relationship Id="rId1" Type="http://schemas.openxmlformats.org/officeDocument/2006/relationships/slideLayout" Target="../slideLayouts/slideLayout12.xml"/><Relationship Id="rId6" Type="http://schemas.openxmlformats.org/officeDocument/2006/relationships/image" Target="../media/image18.svg"/><Relationship Id="rId5" Type="http://schemas.openxmlformats.org/officeDocument/2006/relationships/image" Target="../media/image17.png"/><Relationship Id="rId4" Type="http://schemas.openxmlformats.org/officeDocument/2006/relationships/image" Target="../media/image13.svg"/></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7" Type="http://schemas.openxmlformats.org/officeDocument/2006/relationships/image" Target="../media/image47.png"/><Relationship Id="rId2" Type="http://schemas.openxmlformats.org/officeDocument/2006/relationships/notesSlide" Target="../notesSlides/notesSlide14.xml"/><Relationship Id="rId1" Type="http://schemas.openxmlformats.org/officeDocument/2006/relationships/slideLayout" Target="../slideLayouts/slideLayout12.xml"/><Relationship Id="rId6" Type="http://schemas.openxmlformats.org/officeDocument/2006/relationships/image" Target="../media/image46.svg"/><Relationship Id="rId5" Type="http://schemas.openxmlformats.org/officeDocument/2006/relationships/image" Target="../media/image45.png"/><Relationship Id="rId4" Type="http://schemas.openxmlformats.org/officeDocument/2006/relationships/image" Target="../media/image13.svg"/></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7" Type="http://schemas.openxmlformats.org/officeDocument/2006/relationships/image" Target="../media/image50.png"/><Relationship Id="rId2" Type="http://schemas.openxmlformats.org/officeDocument/2006/relationships/notesSlide" Target="../notesSlides/notesSlide15.xml"/><Relationship Id="rId1" Type="http://schemas.openxmlformats.org/officeDocument/2006/relationships/slideLayout" Target="../slideLayouts/slideLayout12.xml"/><Relationship Id="rId6" Type="http://schemas.openxmlformats.org/officeDocument/2006/relationships/image" Target="../media/image49.svg"/><Relationship Id="rId5" Type="http://schemas.openxmlformats.org/officeDocument/2006/relationships/image" Target="../media/image48.png"/><Relationship Id="rId4" Type="http://schemas.openxmlformats.org/officeDocument/2006/relationships/image" Target="../media/image16.svg"/></Relationships>
</file>

<file path=ppt/slides/_rels/slide1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6.xml"/><Relationship Id="rId1" Type="http://schemas.openxmlformats.org/officeDocument/2006/relationships/slideLayout" Target="../slideLayouts/slideLayout12.xml"/><Relationship Id="rId6" Type="http://schemas.openxmlformats.org/officeDocument/2006/relationships/image" Target="../media/image52.png"/><Relationship Id="rId5" Type="http://schemas.openxmlformats.org/officeDocument/2006/relationships/image" Target="../media/image51.png"/><Relationship Id="rId4" Type="http://schemas.openxmlformats.org/officeDocument/2006/relationships/image" Target="../media/image6.svg"/></Relationships>
</file>

<file path=ppt/slides/_rels/slide17.xml.rels><?xml version="1.0" encoding="UTF-8" standalone="yes"?>
<Relationships xmlns="http://schemas.openxmlformats.org/package/2006/relationships"><Relationship Id="rId8" Type="http://schemas.openxmlformats.org/officeDocument/2006/relationships/image" Target="../media/image58.png"/><Relationship Id="rId3" Type="http://schemas.openxmlformats.org/officeDocument/2006/relationships/image" Target="../media/image53.jpeg"/><Relationship Id="rId7" Type="http://schemas.openxmlformats.org/officeDocument/2006/relationships/image" Target="../media/image57.svg"/><Relationship Id="rId2" Type="http://schemas.openxmlformats.org/officeDocument/2006/relationships/notesSlide" Target="../notesSlides/notesSlide17.xml"/><Relationship Id="rId1" Type="http://schemas.openxmlformats.org/officeDocument/2006/relationships/slideLayout" Target="../slideLayouts/slideLayout12.xml"/><Relationship Id="rId6" Type="http://schemas.openxmlformats.org/officeDocument/2006/relationships/image" Target="../media/image56.png"/><Relationship Id="rId11" Type="http://schemas.openxmlformats.org/officeDocument/2006/relationships/image" Target="../media/image6.svg"/><Relationship Id="rId5" Type="http://schemas.openxmlformats.org/officeDocument/2006/relationships/image" Target="../media/image55.svg"/><Relationship Id="rId10" Type="http://schemas.openxmlformats.org/officeDocument/2006/relationships/image" Target="../media/image5.png"/><Relationship Id="rId4" Type="http://schemas.openxmlformats.org/officeDocument/2006/relationships/image" Target="../media/image54.png"/><Relationship Id="rId9" Type="http://schemas.openxmlformats.org/officeDocument/2006/relationships/image" Target="../media/image59.svg"/></Relationships>
</file>

<file path=ppt/slides/_rels/slide18.xml.rels><?xml version="1.0" encoding="UTF-8" standalone="yes"?>
<Relationships xmlns="http://schemas.openxmlformats.org/package/2006/relationships"><Relationship Id="rId8" Type="http://schemas.openxmlformats.org/officeDocument/2006/relationships/image" Target="../media/image61.png"/><Relationship Id="rId3" Type="http://schemas.openxmlformats.org/officeDocument/2006/relationships/image" Target="../media/image60.jpeg"/><Relationship Id="rId7" Type="http://schemas.openxmlformats.org/officeDocument/2006/relationships/image" Target="../media/image32.svg"/><Relationship Id="rId2" Type="http://schemas.openxmlformats.org/officeDocument/2006/relationships/notesSlide" Target="../notesSlides/notesSlide18.xml"/><Relationship Id="rId1" Type="http://schemas.openxmlformats.org/officeDocument/2006/relationships/slideLayout" Target="../slideLayouts/slideLayout12.xml"/><Relationship Id="rId6" Type="http://schemas.openxmlformats.org/officeDocument/2006/relationships/image" Target="../media/image31.png"/><Relationship Id="rId5" Type="http://schemas.openxmlformats.org/officeDocument/2006/relationships/image" Target="../media/image59.svg"/><Relationship Id="rId4" Type="http://schemas.openxmlformats.org/officeDocument/2006/relationships/image" Target="../media/image58.png"/><Relationship Id="rId9" Type="http://schemas.openxmlformats.org/officeDocument/2006/relationships/image" Target="../media/image62.svg"/></Relationships>
</file>

<file path=ppt/slides/_rels/slide19.xml.rels><?xml version="1.0" encoding="UTF-8" standalone="yes"?>
<Relationships xmlns="http://schemas.openxmlformats.org/package/2006/relationships"><Relationship Id="rId8" Type="http://schemas.openxmlformats.org/officeDocument/2006/relationships/image" Target="../media/image66.png"/><Relationship Id="rId3" Type="http://schemas.openxmlformats.org/officeDocument/2006/relationships/image" Target="../media/image63.jpeg"/><Relationship Id="rId7" Type="http://schemas.openxmlformats.org/officeDocument/2006/relationships/image" Target="../media/image65.svg"/><Relationship Id="rId2" Type="http://schemas.openxmlformats.org/officeDocument/2006/relationships/notesSlide" Target="../notesSlides/notesSlide19.xml"/><Relationship Id="rId1" Type="http://schemas.openxmlformats.org/officeDocument/2006/relationships/slideLayout" Target="../slideLayouts/slideLayout12.xml"/><Relationship Id="rId6" Type="http://schemas.openxmlformats.org/officeDocument/2006/relationships/image" Target="../media/image64.png"/><Relationship Id="rId5" Type="http://schemas.openxmlformats.org/officeDocument/2006/relationships/image" Target="../media/image57.svg"/><Relationship Id="rId4" Type="http://schemas.openxmlformats.org/officeDocument/2006/relationships/image" Target="../media/image56.png"/><Relationship Id="rId9" Type="http://schemas.openxmlformats.org/officeDocument/2006/relationships/image" Target="../media/image67.svg"/></Relationships>
</file>

<file path=ppt/slides/_rels/slide20.xml.rels><?xml version="1.0" encoding="UTF-8" standalone="yes"?>
<Relationships xmlns="http://schemas.openxmlformats.org/package/2006/relationships"><Relationship Id="rId8" Type="http://schemas.openxmlformats.org/officeDocument/2006/relationships/image" Target="../media/image73.svg"/><Relationship Id="rId3" Type="http://schemas.openxmlformats.org/officeDocument/2006/relationships/image" Target="../media/image68.png"/><Relationship Id="rId7" Type="http://schemas.openxmlformats.org/officeDocument/2006/relationships/image" Target="../media/image72.png"/><Relationship Id="rId2" Type="http://schemas.openxmlformats.org/officeDocument/2006/relationships/notesSlide" Target="../notesSlides/notesSlide20.xml"/><Relationship Id="rId1" Type="http://schemas.openxmlformats.org/officeDocument/2006/relationships/slideLayout" Target="../slideLayouts/slideLayout12.xml"/><Relationship Id="rId6" Type="http://schemas.openxmlformats.org/officeDocument/2006/relationships/image" Target="../media/image71.svg"/><Relationship Id="rId5" Type="http://schemas.openxmlformats.org/officeDocument/2006/relationships/image" Target="../media/image70.png"/><Relationship Id="rId4" Type="http://schemas.openxmlformats.org/officeDocument/2006/relationships/image" Target="../media/image69.svg"/><Relationship Id="rId9" Type="http://schemas.openxmlformats.org/officeDocument/2006/relationships/image" Target="../media/image74.jpeg"/></Relationships>
</file>

<file path=ppt/slides/_rels/slide21.xml.rels><?xml version="1.0" encoding="UTF-8" standalone="yes"?>
<Relationships xmlns="http://schemas.openxmlformats.org/package/2006/relationships"><Relationship Id="rId8" Type="http://schemas.openxmlformats.org/officeDocument/2006/relationships/image" Target="../media/image78.png"/><Relationship Id="rId3" Type="http://schemas.openxmlformats.org/officeDocument/2006/relationships/image" Target="../media/image75.jpeg"/><Relationship Id="rId7" Type="http://schemas.openxmlformats.org/officeDocument/2006/relationships/image" Target="../media/image77.svg"/><Relationship Id="rId2" Type="http://schemas.openxmlformats.org/officeDocument/2006/relationships/notesSlide" Target="../notesSlides/notesSlide21.xml"/><Relationship Id="rId1" Type="http://schemas.openxmlformats.org/officeDocument/2006/relationships/slideLayout" Target="../slideLayouts/slideLayout12.xml"/><Relationship Id="rId6" Type="http://schemas.openxmlformats.org/officeDocument/2006/relationships/image" Target="../media/image76.png"/><Relationship Id="rId11" Type="http://schemas.openxmlformats.org/officeDocument/2006/relationships/image" Target="../media/image16.svg"/><Relationship Id="rId5" Type="http://schemas.openxmlformats.org/officeDocument/2006/relationships/image" Target="../media/image73.svg"/><Relationship Id="rId10" Type="http://schemas.openxmlformats.org/officeDocument/2006/relationships/image" Target="../media/image15.png"/><Relationship Id="rId4" Type="http://schemas.openxmlformats.org/officeDocument/2006/relationships/image" Target="../media/image72.png"/><Relationship Id="rId9" Type="http://schemas.openxmlformats.org/officeDocument/2006/relationships/image" Target="../media/image79.sv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03366">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3"/>
          <a:srcRect t="21875" b="21875"/>
          <a:stretch>
            <a:fillRect/>
          </a:stretch>
        </p:blipFill>
        <p:spPr>
          <a:xfrm>
            <a:off x="0" y="0"/>
            <a:ext cx="12192000" cy="6858000"/>
          </a:xfrm>
          <a:prstGeom prst="rect">
            <a:avLst/>
          </a:prstGeom>
          <a:noFill/>
          <a:ln w="25400" cap="flat" cmpd="sng">
            <a:noFill/>
            <a:prstDash val="solid"/>
            <a:round/>
          </a:ln>
        </p:spPr>
      </p:pic>
      <p:sp>
        <p:nvSpPr>
          <p:cNvPr id="3" name="AutoShape 3"/>
          <p:cNvSpPr/>
          <p:nvPr/>
        </p:nvSpPr>
        <p:spPr>
          <a:xfrm>
            <a:off x="0" y="0"/>
            <a:ext cx="12192000" cy="6858000"/>
          </a:xfrm>
          <a:prstGeom prst="roundRect">
            <a:avLst>
              <a:gd name="adj" fmla="val 0"/>
            </a:avLst>
          </a:prstGeom>
          <a:solidFill>
            <a:srgbClr val="003366">
              <a:alpha val="60000"/>
            </a:srgbClr>
          </a:solidFill>
          <a:ln w="25400" cap="flat" cmpd="sng">
            <a:noFill/>
            <a:prstDash val="solid"/>
            <a:round/>
          </a:ln>
        </p:spPr>
        <p:txBody>
          <a:bodyPr vert="horz" wrap="square" lIns="63500" tIns="63500" rIns="63500" bIns="63500" rtlCol="0" anchor="ctr"/>
          <a:lstStyle/>
          <a:p>
            <a:pPr algn="ctr">
              <a:defRPr/>
            </a:pPr>
            <a:endParaRPr/>
          </a:p>
        </p:txBody>
      </p:sp>
      <p:sp>
        <p:nvSpPr>
          <p:cNvPr id="4" name="AutoShape 4"/>
          <p:cNvSpPr/>
          <p:nvPr/>
        </p:nvSpPr>
        <p:spPr>
          <a:xfrm>
            <a:off x="1016000" y="2286000"/>
            <a:ext cx="10160000" cy="635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3600" b="1" i="0" u="none" strike="noStrike">
                <a:solidFill>
                  <a:srgbClr val="FFFFFF"/>
                </a:solidFill>
                <a:latin typeface="Noto Sans SC"/>
                <a:ea typeface="Noto Sans SC"/>
                <a:cs typeface="Noto Sans SC"/>
                <a:sym typeface="Noto Sans SC"/>
              </a:rPr>
              <a:t>社区医院门诊管理系统</a:t>
            </a:r>
            <a:endParaRPr lang="en-US" sz="1100"/>
          </a:p>
        </p:txBody>
      </p:sp>
      <p:sp>
        <p:nvSpPr>
          <p:cNvPr id="5" name="AutoShape 5"/>
          <p:cNvSpPr/>
          <p:nvPr/>
        </p:nvSpPr>
        <p:spPr>
          <a:xfrm>
            <a:off x="5588000" y="3111500"/>
            <a:ext cx="1016000" cy="50800"/>
          </a:xfrm>
          <a:prstGeom prst="roundRect">
            <a:avLst>
              <a:gd name="adj" fmla="val 0"/>
            </a:avLst>
          </a:prstGeom>
          <a:solidFill>
            <a:srgbClr val="4A90E2">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6" name="AutoShape 6"/>
          <p:cNvSpPr/>
          <p:nvPr/>
        </p:nvSpPr>
        <p:spPr>
          <a:xfrm>
            <a:off x="1016000" y="3429000"/>
            <a:ext cx="10160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200" b="0" i="0" u="none" strike="noStrike">
                <a:solidFill>
                  <a:srgbClr val="E5E7EB"/>
                </a:solidFill>
                <a:latin typeface="Noto Sans SC"/>
                <a:ea typeface="Noto Sans SC"/>
                <a:cs typeface="Noto Sans SC"/>
                <a:sym typeface="Noto Sans SC"/>
              </a:rPr>
              <a:t>数据库设计与实现</a:t>
            </a:r>
            <a:endParaRPr lang="en-US" sz="1100"/>
          </a:p>
        </p:txBody>
      </p:sp>
      <p:sp>
        <p:nvSpPr>
          <p:cNvPr id="7" name="AutoShape 7"/>
          <p:cNvSpPr/>
          <p:nvPr/>
        </p:nvSpPr>
        <p:spPr>
          <a:xfrm>
            <a:off x="1016000" y="5715000"/>
            <a:ext cx="10160000" cy="3048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3"/>
          <a:srcRect t="21875" b="21875"/>
          <a:stretch>
            <a:fillRect/>
          </a:stretch>
        </p:blipFill>
        <p:spPr>
          <a:xfrm>
            <a:off x="0" y="0"/>
            <a:ext cx="12192000" cy="6858000"/>
          </a:xfrm>
          <a:prstGeom prst="rect">
            <a:avLst/>
          </a:prstGeom>
          <a:noFill/>
          <a:ln w="25400" cap="flat" cmpd="sng">
            <a:noFill/>
            <a:prstDash val="solid"/>
            <a:round/>
          </a:ln>
        </p:spPr>
      </p:pic>
      <p:sp>
        <p:nvSpPr>
          <p:cNvPr id="3" name="AutoShape 3"/>
          <p:cNvSpPr/>
          <p:nvPr/>
        </p:nvSpPr>
        <p:spPr>
          <a:xfrm>
            <a:off x="762000" y="508000"/>
            <a:ext cx="3810000" cy="558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600" b="1" i="0" u="none" strike="noStrike">
                <a:solidFill>
                  <a:srgbClr val="003366"/>
                </a:solidFill>
                <a:latin typeface="Noto Sans SC"/>
                <a:ea typeface="Noto Sans SC"/>
                <a:cs typeface="Noto Sans SC"/>
                <a:sym typeface="Noto Sans SC"/>
              </a:rPr>
              <a:t>目录</a:t>
            </a:r>
            <a:endParaRPr lang="en-US" sz="1100"/>
          </a:p>
        </p:txBody>
      </p:sp>
      <p:cxnSp>
        <p:nvCxnSpPr>
          <p:cNvPr id="4" name="Connector 4"/>
          <p:cNvCxnSpPr/>
          <p:nvPr/>
        </p:nvCxnSpPr>
        <p:spPr>
          <a:xfrm rot="-4092">
            <a:off x="762004" y="1263650"/>
            <a:ext cx="10668000" cy="12700"/>
          </a:xfrm>
          <a:prstGeom prst="straightConnector1">
            <a:avLst/>
          </a:prstGeom>
          <a:solidFill>
            <a:srgbClr val="DEE0E3">
              <a:alpha val="100000"/>
            </a:srgbClr>
          </a:solidFill>
          <a:ln w="25400" cap="flat" cmpd="sng">
            <a:solidFill>
              <a:srgbClr val="4A90E2">
                <a:alpha val="100000"/>
              </a:srgbClr>
            </a:solidFill>
            <a:prstDash val="solid"/>
            <a:round/>
            <a:headEnd type="none" w="lg" len="lg"/>
            <a:tailEnd type="none" w="lg" len="lg"/>
          </a:ln>
        </p:spPr>
      </p:cxnSp>
      <p:sp>
        <p:nvSpPr>
          <p:cNvPr id="5" name="AutoShape 5"/>
          <p:cNvSpPr/>
          <p:nvPr/>
        </p:nvSpPr>
        <p:spPr>
          <a:xfrm>
            <a:off x="762000" y="1778000"/>
            <a:ext cx="406400" cy="406400"/>
          </a:xfrm>
          <a:prstGeom prst="ellipse">
            <a:avLst/>
          </a:prstGeom>
          <a:solidFill>
            <a:srgbClr val="4A90E2">
              <a:alpha val="100000"/>
            </a:srgbClr>
          </a:solidFill>
          <a:ln w="25400" cap="flat" cmpd="sng">
            <a:noFill/>
            <a:prstDash val="solid"/>
            <a:round/>
          </a:ln>
        </p:spPr>
        <p:txBody>
          <a:bodyPr vert="horz" wrap="square" lIns="0" tIns="0" rIns="0" bIns="0" rtlCol="0" anchor="ctr" anchorCtr="0"/>
          <a:lstStyle/>
          <a:p>
            <a:pPr indent="0" algn="ctr">
              <a:lnSpc>
                <a:spcPct val="125000"/>
              </a:lnSpc>
              <a:defRPr/>
            </a:pPr>
            <a:r>
              <a:rPr lang="en-US" sz="1600" b="1" i="0" u="none" strike="noStrike">
                <a:solidFill>
                  <a:srgbClr val="FFFFFF"/>
                </a:solidFill>
                <a:latin typeface="Noto Sans SC"/>
                <a:ea typeface="Noto Sans SC"/>
                <a:cs typeface="Noto Sans SC"/>
                <a:sym typeface="Noto Sans SC"/>
              </a:rPr>
              <a:t>1</a:t>
            </a:r>
            <a:endParaRPr lang="en-US" sz="1100"/>
          </a:p>
        </p:txBody>
      </p:sp>
      <p:sp>
        <p:nvSpPr>
          <p:cNvPr id="6" name="AutoShape 6"/>
          <p:cNvSpPr/>
          <p:nvPr/>
        </p:nvSpPr>
        <p:spPr>
          <a:xfrm>
            <a:off x="1422400" y="1778000"/>
            <a:ext cx="5080000" cy="4064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0" i="0" u="none" strike="noStrike">
                <a:solidFill>
                  <a:srgbClr val="003366"/>
                </a:solidFill>
                <a:latin typeface="Noto Sans SC"/>
                <a:ea typeface="Noto Sans SC"/>
                <a:cs typeface="Noto Sans SC"/>
                <a:sym typeface="Noto Sans SC"/>
              </a:rPr>
              <a:t>项目背景与目标</a:t>
            </a:r>
            <a:endParaRPr lang="en-US" sz="1100"/>
          </a:p>
        </p:txBody>
      </p:sp>
      <p:cxnSp>
        <p:nvCxnSpPr>
          <p:cNvPr id="7" name="Connector 7"/>
          <p:cNvCxnSpPr/>
          <p:nvPr/>
        </p:nvCxnSpPr>
        <p:spPr>
          <a:xfrm rot="-4092">
            <a:off x="762004" y="2432050"/>
            <a:ext cx="10668000" cy="12700"/>
          </a:xfrm>
          <a:prstGeom prst="straightConnector1">
            <a:avLst/>
          </a:prstGeom>
          <a:solidFill>
            <a:srgbClr val="DEE0E3">
              <a:alpha val="100000"/>
            </a:srgbClr>
          </a:solidFill>
          <a:ln w="12700" cap="flat" cmpd="sng">
            <a:solidFill>
              <a:srgbClr val="E5E7EB">
                <a:alpha val="100000"/>
              </a:srgbClr>
            </a:solidFill>
            <a:prstDash val="dash"/>
            <a:round/>
            <a:headEnd type="none" w="med" len="med"/>
            <a:tailEnd type="none" w="med" len="med"/>
          </a:ln>
        </p:spPr>
      </p:cxnSp>
      <p:sp>
        <p:nvSpPr>
          <p:cNvPr id="8" name="AutoShape 8"/>
          <p:cNvSpPr/>
          <p:nvPr/>
        </p:nvSpPr>
        <p:spPr>
          <a:xfrm>
            <a:off x="762000" y="2692400"/>
            <a:ext cx="406400" cy="406400"/>
          </a:xfrm>
          <a:prstGeom prst="ellipse">
            <a:avLst/>
          </a:prstGeom>
          <a:solidFill>
            <a:srgbClr val="4A90E2">
              <a:alpha val="100000"/>
            </a:srgbClr>
          </a:solidFill>
          <a:ln w="25400" cap="flat" cmpd="sng">
            <a:noFill/>
            <a:prstDash val="solid"/>
            <a:round/>
          </a:ln>
        </p:spPr>
        <p:txBody>
          <a:bodyPr vert="horz" wrap="square" lIns="0" tIns="0" rIns="0" bIns="0" rtlCol="0" anchor="ctr" anchorCtr="0"/>
          <a:lstStyle/>
          <a:p>
            <a:pPr indent="0" algn="ctr">
              <a:lnSpc>
                <a:spcPct val="125000"/>
              </a:lnSpc>
              <a:defRPr/>
            </a:pPr>
            <a:r>
              <a:rPr lang="en-US" sz="1600" b="1" i="0" u="none" strike="noStrike">
                <a:solidFill>
                  <a:srgbClr val="FFFFFF"/>
                </a:solidFill>
                <a:latin typeface="Noto Sans SC"/>
                <a:ea typeface="Noto Sans SC"/>
                <a:cs typeface="Noto Sans SC"/>
                <a:sym typeface="Noto Sans SC"/>
              </a:rPr>
              <a:t>2</a:t>
            </a:r>
            <a:endParaRPr lang="en-US" sz="1100"/>
          </a:p>
        </p:txBody>
      </p:sp>
      <p:sp>
        <p:nvSpPr>
          <p:cNvPr id="9" name="AutoShape 9"/>
          <p:cNvSpPr/>
          <p:nvPr/>
        </p:nvSpPr>
        <p:spPr>
          <a:xfrm>
            <a:off x="1422400" y="2692400"/>
            <a:ext cx="5080000" cy="4064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0" i="0" u="none" strike="noStrike">
                <a:solidFill>
                  <a:srgbClr val="003366"/>
                </a:solidFill>
                <a:latin typeface="Noto Sans SC"/>
                <a:ea typeface="Noto Sans SC"/>
                <a:cs typeface="Noto Sans SC"/>
                <a:sym typeface="Noto Sans SC"/>
              </a:rPr>
              <a:t>需求分析</a:t>
            </a:r>
            <a:endParaRPr lang="en-US" sz="1100"/>
          </a:p>
        </p:txBody>
      </p:sp>
      <p:cxnSp>
        <p:nvCxnSpPr>
          <p:cNvPr id="10" name="Connector 10"/>
          <p:cNvCxnSpPr/>
          <p:nvPr/>
        </p:nvCxnSpPr>
        <p:spPr>
          <a:xfrm rot="-4092">
            <a:off x="762004" y="3346450"/>
            <a:ext cx="10668000" cy="12700"/>
          </a:xfrm>
          <a:prstGeom prst="straightConnector1">
            <a:avLst/>
          </a:prstGeom>
          <a:solidFill>
            <a:srgbClr val="DEE0E3">
              <a:alpha val="100000"/>
            </a:srgbClr>
          </a:solidFill>
          <a:ln w="12700" cap="flat" cmpd="sng">
            <a:solidFill>
              <a:srgbClr val="E5E7EB">
                <a:alpha val="100000"/>
              </a:srgbClr>
            </a:solidFill>
            <a:prstDash val="dash"/>
            <a:round/>
            <a:headEnd type="none" w="med" len="med"/>
            <a:tailEnd type="none" w="med" len="med"/>
          </a:ln>
        </p:spPr>
      </p:cxnSp>
      <p:sp>
        <p:nvSpPr>
          <p:cNvPr id="11" name="AutoShape 11"/>
          <p:cNvSpPr/>
          <p:nvPr/>
        </p:nvSpPr>
        <p:spPr>
          <a:xfrm>
            <a:off x="762000" y="3606800"/>
            <a:ext cx="406400" cy="406400"/>
          </a:xfrm>
          <a:prstGeom prst="ellipse">
            <a:avLst/>
          </a:prstGeom>
          <a:solidFill>
            <a:srgbClr val="4A90E2">
              <a:alpha val="100000"/>
            </a:srgbClr>
          </a:solidFill>
          <a:ln w="25400" cap="flat" cmpd="sng">
            <a:noFill/>
            <a:prstDash val="solid"/>
            <a:round/>
          </a:ln>
        </p:spPr>
        <p:txBody>
          <a:bodyPr vert="horz" wrap="square" lIns="0" tIns="0" rIns="0" bIns="0" rtlCol="0" anchor="ctr" anchorCtr="0"/>
          <a:lstStyle/>
          <a:p>
            <a:pPr indent="0" algn="ctr">
              <a:lnSpc>
                <a:spcPct val="125000"/>
              </a:lnSpc>
              <a:defRPr/>
            </a:pPr>
            <a:r>
              <a:rPr lang="en-US" sz="1600" b="1" i="0" u="none" strike="noStrike">
                <a:solidFill>
                  <a:srgbClr val="FFFFFF"/>
                </a:solidFill>
                <a:latin typeface="Noto Sans SC"/>
                <a:ea typeface="Noto Sans SC"/>
                <a:cs typeface="Noto Sans SC"/>
                <a:sym typeface="Noto Sans SC"/>
              </a:rPr>
              <a:t>3</a:t>
            </a:r>
            <a:endParaRPr lang="en-US" sz="1100"/>
          </a:p>
        </p:txBody>
      </p:sp>
      <p:sp>
        <p:nvSpPr>
          <p:cNvPr id="12" name="AutoShape 12"/>
          <p:cNvSpPr/>
          <p:nvPr/>
        </p:nvSpPr>
        <p:spPr>
          <a:xfrm>
            <a:off x="1422400" y="3606800"/>
            <a:ext cx="5080000" cy="4064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0" i="0" u="none" strike="noStrike">
                <a:solidFill>
                  <a:srgbClr val="003366"/>
                </a:solidFill>
                <a:latin typeface="Noto Sans SC"/>
                <a:ea typeface="Noto Sans SC"/>
                <a:cs typeface="Noto Sans SC"/>
                <a:sym typeface="Noto Sans SC"/>
              </a:rPr>
              <a:t>数据库设计</a:t>
            </a:r>
            <a:endParaRPr lang="en-US" sz="1100"/>
          </a:p>
        </p:txBody>
      </p:sp>
      <p:cxnSp>
        <p:nvCxnSpPr>
          <p:cNvPr id="13" name="Connector 13"/>
          <p:cNvCxnSpPr/>
          <p:nvPr/>
        </p:nvCxnSpPr>
        <p:spPr>
          <a:xfrm rot="-4092">
            <a:off x="762004" y="4260850"/>
            <a:ext cx="10668000" cy="12700"/>
          </a:xfrm>
          <a:prstGeom prst="straightConnector1">
            <a:avLst/>
          </a:prstGeom>
          <a:solidFill>
            <a:srgbClr val="DEE0E3">
              <a:alpha val="100000"/>
            </a:srgbClr>
          </a:solidFill>
          <a:ln w="12700" cap="flat" cmpd="sng">
            <a:solidFill>
              <a:srgbClr val="E5E7EB">
                <a:alpha val="100000"/>
              </a:srgbClr>
            </a:solidFill>
            <a:prstDash val="dash"/>
            <a:round/>
            <a:headEnd type="none" w="med" len="med"/>
            <a:tailEnd type="none" w="med" len="med"/>
          </a:ln>
        </p:spPr>
      </p:cxnSp>
      <p:sp>
        <p:nvSpPr>
          <p:cNvPr id="14" name="AutoShape 14"/>
          <p:cNvSpPr/>
          <p:nvPr/>
        </p:nvSpPr>
        <p:spPr>
          <a:xfrm>
            <a:off x="762000" y="4521200"/>
            <a:ext cx="406400" cy="406400"/>
          </a:xfrm>
          <a:prstGeom prst="ellipse">
            <a:avLst/>
          </a:prstGeom>
          <a:solidFill>
            <a:srgbClr val="4A90E2">
              <a:alpha val="100000"/>
            </a:srgbClr>
          </a:solidFill>
          <a:ln w="25400" cap="flat" cmpd="sng">
            <a:noFill/>
            <a:prstDash val="solid"/>
            <a:round/>
          </a:ln>
        </p:spPr>
        <p:txBody>
          <a:bodyPr vert="horz" wrap="square" lIns="0" tIns="0" rIns="0" bIns="0" rtlCol="0" anchor="ctr" anchorCtr="0"/>
          <a:lstStyle/>
          <a:p>
            <a:pPr indent="0" algn="ctr">
              <a:lnSpc>
                <a:spcPct val="125000"/>
              </a:lnSpc>
              <a:defRPr/>
            </a:pPr>
            <a:r>
              <a:rPr lang="en-US" sz="1600" b="1" i="0" u="none" strike="noStrike">
                <a:solidFill>
                  <a:srgbClr val="FFFFFF"/>
                </a:solidFill>
                <a:latin typeface="Noto Sans SC"/>
                <a:ea typeface="Noto Sans SC"/>
                <a:cs typeface="Noto Sans SC"/>
                <a:sym typeface="Noto Sans SC"/>
              </a:rPr>
              <a:t>4</a:t>
            </a:r>
            <a:endParaRPr lang="en-US" sz="1100"/>
          </a:p>
        </p:txBody>
      </p:sp>
      <p:sp>
        <p:nvSpPr>
          <p:cNvPr id="15" name="AutoShape 15"/>
          <p:cNvSpPr/>
          <p:nvPr/>
        </p:nvSpPr>
        <p:spPr>
          <a:xfrm>
            <a:off x="1422400" y="4521200"/>
            <a:ext cx="5080000" cy="4064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0" i="0" u="none" strike="noStrike">
                <a:solidFill>
                  <a:srgbClr val="003366"/>
                </a:solidFill>
                <a:latin typeface="Noto Sans SC"/>
                <a:ea typeface="Noto Sans SC"/>
                <a:cs typeface="Noto Sans SC"/>
                <a:sym typeface="Noto Sans SC"/>
              </a:rPr>
              <a:t>功能实现</a:t>
            </a:r>
            <a:endParaRPr lang="en-US" sz="1100"/>
          </a:p>
        </p:txBody>
      </p:sp>
      <p:cxnSp>
        <p:nvCxnSpPr>
          <p:cNvPr id="16" name="Connector 16"/>
          <p:cNvCxnSpPr/>
          <p:nvPr/>
        </p:nvCxnSpPr>
        <p:spPr>
          <a:xfrm rot="-4092">
            <a:off x="762004" y="5175250"/>
            <a:ext cx="10668000" cy="12700"/>
          </a:xfrm>
          <a:prstGeom prst="straightConnector1">
            <a:avLst/>
          </a:prstGeom>
          <a:solidFill>
            <a:srgbClr val="DEE0E3">
              <a:alpha val="100000"/>
            </a:srgbClr>
          </a:solidFill>
          <a:ln w="12700" cap="flat" cmpd="sng">
            <a:solidFill>
              <a:srgbClr val="E5E7EB">
                <a:alpha val="100000"/>
              </a:srgbClr>
            </a:solidFill>
            <a:prstDash val="dash"/>
            <a:round/>
            <a:headEnd type="none" w="med" len="med"/>
            <a:tailEnd type="none" w="med" len="med"/>
          </a:ln>
        </p:spPr>
      </p:cxnSp>
      <p:sp>
        <p:nvSpPr>
          <p:cNvPr id="17" name="AutoShape 17"/>
          <p:cNvSpPr/>
          <p:nvPr/>
        </p:nvSpPr>
        <p:spPr>
          <a:xfrm>
            <a:off x="762000" y="5435600"/>
            <a:ext cx="406400" cy="406400"/>
          </a:xfrm>
          <a:prstGeom prst="ellipse">
            <a:avLst/>
          </a:prstGeom>
          <a:solidFill>
            <a:srgbClr val="4A90E2">
              <a:alpha val="100000"/>
            </a:srgbClr>
          </a:solidFill>
          <a:ln w="25400" cap="flat" cmpd="sng">
            <a:noFill/>
            <a:prstDash val="solid"/>
            <a:round/>
          </a:ln>
        </p:spPr>
        <p:txBody>
          <a:bodyPr vert="horz" wrap="square" lIns="0" tIns="0" rIns="0" bIns="0" rtlCol="0" anchor="ctr" anchorCtr="0"/>
          <a:lstStyle/>
          <a:p>
            <a:pPr indent="0" algn="ctr">
              <a:lnSpc>
                <a:spcPct val="125000"/>
              </a:lnSpc>
              <a:defRPr/>
            </a:pPr>
            <a:r>
              <a:rPr lang="en-US" sz="1600" b="1" i="0" u="none" strike="noStrike">
                <a:solidFill>
                  <a:srgbClr val="FFFFFF"/>
                </a:solidFill>
                <a:latin typeface="Noto Sans SC"/>
                <a:ea typeface="Noto Sans SC"/>
                <a:cs typeface="Noto Sans SC"/>
                <a:sym typeface="Noto Sans SC"/>
              </a:rPr>
              <a:t>5</a:t>
            </a:r>
            <a:endParaRPr lang="en-US" sz="1100"/>
          </a:p>
        </p:txBody>
      </p:sp>
      <p:sp>
        <p:nvSpPr>
          <p:cNvPr id="18" name="AutoShape 18"/>
          <p:cNvSpPr/>
          <p:nvPr/>
        </p:nvSpPr>
        <p:spPr>
          <a:xfrm>
            <a:off x="1422400" y="5435600"/>
            <a:ext cx="5080000" cy="4064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0" i="0" u="none" strike="noStrike">
                <a:solidFill>
                  <a:srgbClr val="003366"/>
                </a:solidFill>
                <a:latin typeface="Noto Sans SC"/>
                <a:ea typeface="Noto Sans SC"/>
                <a:cs typeface="Noto Sans SC"/>
                <a:sym typeface="Noto Sans SC"/>
              </a:rPr>
              <a:t>创新与亮点</a:t>
            </a:r>
            <a:endParaRPr lang="en-US" sz="1100"/>
          </a:p>
        </p:txBody>
      </p:sp>
      <p:sp>
        <p:nvSpPr>
          <p:cNvPr id="19" name="AutoShape 19"/>
          <p:cNvSpPr/>
          <p:nvPr/>
        </p:nvSpPr>
        <p:spPr>
          <a:xfrm>
            <a:off x="6604000" y="5435600"/>
            <a:ext cx="406400" cy="406400"/>
          </a:xfrm>
          <a:prstGeom prst="ellipse">
            <a:avLst/>
          </a:prstGeom>
          <a:solidFill>
            <a:srgbClr val="4A90E2">
              <a:alpha val="100000"/>
            </a:srgbClr>
          </a:solidFill>
          <a:ln w="25400" cap="flat" cmpd="sng">
            <a:noFill/>
            <a:prstDash val="solid"/>
            <a:round/>
          </a:ln>
        </p:spPr>
        <p:txBody>
          <a:bodyPr vert="horz" wrap="square" lIns="0" tIns="0" rIns="0" bIns="0" rtlCol="0" anchor="ctr" anchorCtr="0"/>
          <a:lstStyle/>
          <a:p>
            <a:pPr indent="0" algn="ctr">
              <a:lnSpc>
                <a:spcPct val="125000"/>
              </a:lnSpc>
              <a:defRPr/>
            </a:pPr>
            <a:r>
              <a:rPr lang="en-US" sz="1600" b="1" i="0" u="none" strike="noStrike">
                <a:solidFill>
                  <a:srgbClr val="FFFFFF"/>
                </a:solidFill>
                <a:latin typeface="Noto Sans SC"/>
                <a:ea typeface="Noto Sans SC"/>
                <a:cs typeface="Noto Sans SC"/>
                <a:sym typeface="Noto Sans SC"/>
              </a:rPr>
              <a:t>6</a:t>
            </a:r>
            <a:endParaRPr lang="en-US" sz="1100"/>
          </a:p>
        </p:txBody>
      </p:sp>
      <p:sp>
        <p:nvSpPr>
          <p:cNvPr id="20" name="AutoShape 20"/>
          <p:cNvSpPr/>
          <p:nvPr/>
        </p:nvSpPr>
        <p:spPr>
          <a:xfrm>
            <a:off x="7264400" y="5435600"/>
            <a:ext cx="5080000" cy="4064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0" i="0" u="none" strike="noStrike">
                <a:solidFill>
                  <a:srgbClr val="003366"/>
                </a:solidFill>
                <a:latin typeface="Noto Sans SC"/>
                <a:ea typeface="Noto Sans SC"/>
                <a:cs typeface="Noto Sans SC"/>
                <a:sym typeface="Noto Sans SC"/>
              </a:rPr>
              <a:t>总结与展望</a:t>
            </a:r>
            <a:endParaRPr lang="en-US" sz="11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5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508000"/>
            <a:ext cx="7620000" cy="558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600" b="1" i="0" u="none" strike="noStrike">
                <a:solidFill>
                  <a:srgbClr val="003366"/>
                </a:solidFill>
                <a:latin typeface="Noto Sans SC"/>
                <a:ea typeface="Noto Sans SC"/>
                <a:cs typeface="Noto Sans SC"/>
                <a:sym typeface="Noto Sans SC"/>
              </a:rPr>
              <a:t>项目背景与目标</a:t>
            </a:r>
            <a:endParaRPr lang="en-US" sz="1100"/>
          </a:p>
        </p:txBody>
      </p:sp>
      <p:cxnSp>
        <p:nvCxnSpPr>
          <p:cNvPr id="3" name="Connector 3"/>
          <p:cNvCxnSpPr/>
          <p:nvPr/>
        </p:nvCxnSpPr>
        <p:spPr>
          <a:xfrm rot="-4092">
            <a:off x="762004" y="1263650"/>
            <a:ext cx="10668000" cy="12700"/>
          </a:xfrm>
          <a:prstGeom prst="straightConnector1">
            <a:avLst/>
          </a:prstGeom>
          <a:solidFill>
            <a:srgbClr val="DEE0E3">
              <a:alpha val="100000"/>
            </a:srgbClr>
          </a:solidFill>
          <a:ln w="12700" cap="flat" cmpd="sng">
            <a:solidFill>
              <a:srgbClr val="E5E7EB">
                <a:alpha val="100000"/>
              </a:srgbClr>
            </a:solidFill>
            <a:prstDash val="solid"/>
            <a:round/>
            <a:headEnd type="none" w="med" len="med"/>
            <a:tailEnd type="none" w="med" len="med"/>
          </a:ln>
        </p:spPr>
      </p:cxnSp>
      <p:pic>
        <p:nvPicPr>
          <p:cNvPr id="4" name="Picture 4"/>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62000" y="1651000"/>
            <a:ext cx="304800" cy="304800"/>
          </a:xfrm>
          <a:prstGeom prst="rect">
            <a:avLst/>
          </a:prstGeom>
        </p:spPr>
      </p:pic>
      <p:sp>
        <p:nvSpPr>
          <p:cNvPr id="5" name="AutoShape 5"/>
          <p:cNvSpPr/>
          <p:nvPr/>
        </p:nvSpPr>
        <p:spPr>
          <a:xfrm>
            <a:off x="1219200" y="1651000"/>
            <a:ext cx="4826000" cy="355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03366"/>
                </a:solidFill>
                <a:latin typeface="Noto Sans SC"/>
                <a:ea typeface="Noto Sans SC"/>
                <a:cs typeface="Noto Sans SC"/>
                <a:sym typeface="Noto Sans SC"/>
              </a:rPr>
              <a:t>项目背景</a:t>
            </a:r>
            <a:endParaRPr lang="en-US" sz="1100"/>
          </a:p>
        </p:txBody>
      </p:sp>
      <p:sp>
        <p:nvSpPr>
          <p:cNvPr id="6" name="AutoShape 6"/>
          <p:cNvSpPr/>
          <p:nvPr/>
        </p:nvSpPr>
        <p:spPr>
          <a:xfrm>
            <a:off x="1219200" y="2159000"/>
            <a:ext cx="4826000" cy="1143000"/>
          </a:xfrm>
          <a:prstGeom prst="rect">
            <a:avLst/>
          </a:prstGeom>
          <a:noFill/>
          <a:ln w="12700" cap="flat" cmpd="sng">
            <a:noFill/>
            <a:prstDash val="solid"/>
            <a:round/>
          </a:ln>
        </p:spPr>
        <p:txBody>
          <a:bodyPr vert="horz" wrap="square" lIns="0" tIns="0" rIns="0" bIns="0" rtlCol="0" anchor="t" anchorCtr="0"/>
          <a:lstStyle/>
          <a:p>
            <a:pPr indent="0" algn="l">
              <a:lnSpc>
                <a:spcPct val="133333"/>
              </a:lnSpc>
              <a:defRPr/>
            </a:pPr>
            <a:r>
              <a:rPr lang="en-US" sz="1400" b="0" i="0" u="none" strike="noStrike">
                <a:solidFill>
                  <a:srgbClr val="374151"/>
                </a:solidFill>
                <a:latin typeface="Noto Sans SC"/>
                <a:ea typeface="Noto Sans SC"/>
                <a:cs typeface="Noto Sans SC"/>
                <a:sym typeface="Noto Sans SC"/>
              </a:rPr>
              <a:t>随着医疗信息化深入，社区医院亟需高效门诊管理系统。传统人工管理效率低、易出错，已无法满足现代医疗服务需求。</a:t>
            </a:r>
            <a:endParaRPr lang="en-US" sz="1100"/>
          </a:p>
        </p:txBody>
      </p:sp>
      <p:pic>
        <p:nvPicPr>
          <p:cNvPr id="7" name="Picture 7"/>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762000" y="3556000"/>
            <a:ext cx="304800" cy="304800"/>
          </a:xfrm>
          <a:prstGeom prst="rect">
            <a:avLst/>
          </a:prstGeom>
        </p:spPr>
      </p:pic>
      <p:sp>
        <p:nvSpPr>
          <p:cNvPr id="8" name="AutoShape 8"/>
          <p:cNvSpPr/>
          <p:nvPr/>
        </p:nvSpPr>
        <p:spPr>
          <a:xfrm>
            <a:off x="1219200" y="3556000"/>
            <a:ext cx="4826000" cy="355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03366"/>
                </a:solidFill>
                <a:latin typeface="Noto Sans SC"/>
                <a:ea typeface="Noto Sans SC"/>
                <a:cs typeface="Noto Sans SC"/>
                <a:sym typeface="Noto Sans SC"/>
              </a:rPr>
              <a:t>项目目标</a:t>
            </a:r>
            <a:endParaRPr lang="en-US" sz="1100"/>
          </a:p>
        </p:txBody>
      </p:sp>
      <p:sp>
        <p:nvSpPr>
          <p:cNvPr id="9" name="AutoShape 9"/>
          <p:cNvSpPr/>
          <p:nvPr/>
        </p:nvSpPr>
        <p:spPr>
          <a:xfrm>
            <a:off x="1219200" y="4064000"/>
            <a:ext cx="4826000" cy="1524000"/>
          </a:xfrm>
          <a:prstGeom prst="rect">
            <a:avLst/>
          </a:prstGeom>
          <a:noFill/>
          <a:ln w="12700" cap="flat" cmpd="sng">
            <a:noFill/>
            <a:prstDash val="solid"/>
            <a:round/>
          </a:ln>
        </p:spPr>
        <p:txBody>
          <a:bodyPr vert="horz" wrap="square" lIns="0" tIns="0" rIns="0" bIns="0" rtlCol="0" anchor="t" anchorCtr="0"/>
          <a:lstStyle/>
          <a:p>
            <a:pPr indent="0" algn="l">
              <a:lnSpc>
                <a:spcPct val="133333"/>
              </a:lnSpc>
              <a:defRPr/>
            </a:pPr>
            <a:r>
              <a:rPr lang="en-US" sz="1400" b="0" i="0" u="none" strike="noStrike">
                <a:solidFill>
                  <a:srgbClr val="374151"/>
                </a:solidFill>
                <a:latin typeface="Noto Sans SC"/>
                <a:ea typeface="Noto Sans SC"/>
                <a:cs typeface="Noto Sans SC"/>
                <a:sym typeface="Noto Sans SC"/>
              </a:rPr>
              <a:t>开发全流程数字化门诊系统，实现预约、就诊、缴费、病历管理一体化。通过数据分析为医生排班、药品储备及运营决策提供科学支持。</a:t>
            </a:r>
            <a:endParaRPr lang="en-US" sz="1100"/>
          </a:p>
        </p:txBody>
      </p:sp>
      <p:cxnSp>
        <p:nvCxnSpPr>
          <p:cNvPr id="10" name="Connector 10"/>
          <p:cNvCxnSpPr/>
          <p:nvPr/>
        </p:nvCxnSpPr>
        <p:spPr>
          <a:xfrm rot="5389257">
            <a:off x="4064000" y="3676660"/>
            <a:ext cx="4064000" cy="12700"/>
          </a:xfrm>
          <a:prstGeom prst="straightConnector1">
            <a:avLst/>
          </a:prstGeom>
          <a:solidFill>
            <a:srgbClr val="DEE0E3">
              <a:alpha val="100000"/>
            </a:srgbClr>
          </a:solidFill>
          <a:ln w="12700" cap="flat" cmpd="sng">
            <a:solidFill>
              <a:srgbClr val="E5E7EB">
                <a:alpha val="100000"/>
              </a:srgbClr>
            </a:solidFill>
            <a:prstDash val="dash"/>
            <a:round/>
            <a:headEnd type="none" w="med" len="med"/>
            <a:tailEnd type="none" w="med" len="med"/>
          </a:ln>
        </p:spPr>
      </p:cxnSp>
      <p:pic>
        <p:nvPicPr>
          <p:cNvPr id="11" name="Picture 11"/>
          <p:cNvPicPr>
            <a:picLocks noChangeAspect="1"/>
          </p:cNvPicPr>
          <p:nvPr/>
        </p:nvPicPr>
        <p:blipFill>
          <a:blip r:embed="rId7"/>
          <a:srcRect l="12157" r="12157"/>
          <a:stretch>
            <a:fillRect/>
          </a:stretch>
        </p:blipFill>
        <p:spPr>
          <a:xfrm>
            <a:off x="6604000" y="1651000"/>
            <a:ext cx="4826000" cy="3213100"/>
          </a:xfrm>
          <a:prstGeom prst="roundRect">
            <a:avLst>
              <a:gd name="adj" fmla="val 4743"/>
            </a:avLst>
          </a:prstGeom>
          <a:noFill/>
          <a:ln w="25400" cap="flat" cmpd="sng">
            <a:noFill/>
            <a:prstDash val="solid"/>
            <a:round/>
          </a:ln>
          <a:effectLst>
            <a:outerShdw blurRad="254000" dist="63500" dir="2700000" algn="tl" rotWithShape="0">
              <a:srgbClr val="000000">
                <a:alpha val="10000"/>
              </a:srgbClr>
            </a:outerShdw>
          </a:effectLst>
        </p:spPr>
      </p:pic>
      <p:sp>
        <p:nvSpPr>
          <p:cNvPr id="12" name="AutoShape 12"/>
          <p:cNvSpPr/>
          <p:nvPr/>
        </p:nvSpPr>
        <p:spPr>
          <a:xfrm>
            <a:off x="6604000" y="5016500"/>
            <a:ext cx="4826000" cy="3048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400" b="0" i="0" u="none" strike="noStrike">
                <a:solidFill>
                  <a:srgbClr val="6B7280"/>
                </a:solidFill>
                <a:latin typeface="Noto Sans SC"/>
                <a:ea typeface="Noto Sans SC"/>
                <a:cs typeface="Noto Sans SC"/>
                <a:sym typeface="Noto Sans SC"/>
              </a:rPr>
              <a:t>数字化医院门诊大厅</a:t>
            </a:r>
            <a:endParaRPr lang="en-US" sz="11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5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508000"/>
            <a:ext cx="7620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600" b="1" i="0" u="none" strike="noStrike">
                <a:solidFill>
                  <a:srgbClr val="003366"/>
                </a:solidFill>
                <a:latin typeface="Noto Sans SC"/>
                <a:ea typeface="Noto Sans SC"/>
                <a:cs typeface="Noto Sans SC"/>
                <a:sym typeface="Noto Sans SC"/>
              </a:rPr>
              <a:t>需求分析 - 需求方</a:t>
            </a:r>
            <a:endParaRPr lang="en-US" sz="1100"/>
          </a:p>
        </p:txBody>
      </p:sp>
      <p:cxnSp>
        <p:nvCxnSpPr>
          <p:cNvPr id="3" name="Connector 3"/>
          <p:cNvCxnSpPr/>
          <p:nvPr/>
        </p:nvCxnSpPr>
        <p:spPr>
          <a:xfrm rot="-4092">
            <a:off x="762004" y="1212850"/>
            <a:ext cx="10668000" cy="12700"/>
          </a:xfrm>
          <a:prstGeom prst="straightConnector1">
            <a:avLst/>
          </a:prstGeom>
          <a:solidFill>
            <a:srgbClr val="DEE0E3">
              <a:alpha val="100000"/>
            </a:srgbClr>
          </a:solidFill>
          <a:ln w="12700" cap="flat" cmpd="sng">
            <a:solidFill>
              <a:srgbClr val="E5E7EB">
                <a:alpha val="100000"/>
              </a:srgbClr>
            </a:solidFill>
            <a:prstDash val="solid"/>
            <a:round/>
            <a:headEnd type="none" w="med" len="med"/>
            <a:tailEnd type="none" w="med" len="med"/>
          </a:ln>
        </p:spPr>
      </p:cxnSp>
      <p:sp>
        <p:nvSpPr>
          <p:cNvPr id="4" name="AutoShape 4"/>
          <p:cNvSpPr/>
          <p:nvPr/>
        </p:nvSpPr>
        <p:spPr>
          <a:xfrm>
            <a:off x="762000" y="1524000"/>
            <a:ext cx="3302000" cy="3556000"/>
          </a:xfrm>
          <a:prstGeom prst="roundRect">
            <a:avLst>
              <a:gd name="adj" fmla="val 3076"/>
            </a:avLst>
          </a:prstGeom>
          <a:solidFill>
            <a:srgbClr val="FFFFFF">
              <a:alpha val="100000"/>
            </a:srgbClr>
          </a:solidFill>
          <a:ln w="12700" cap="flat" cmpd="sng">
            <a:solidFill>
              <a:srgbClr val="E5E7EB">
                <a:alpha val="100000"/>
              </a:srgbClr>
            </a:solidFill>
            <a:prstDash val="solid"/>
            <a:round/>
          </a:ln>
          <a:effectLst>
            <a:outerShdw blurRad="127000" dist="63500" dir="5400000" algn="tl" rotWithShape="0">
              <a:srgbClr val="000000">
                <a:alpha val="5000"/>
              </a:srgbClr>
            </a:outerShdw>
          </a:effectLst>
        </p:spPr>
        <p:txBody>
          <a:bodyPr vert="horz" wrap="square" lIns="63500" tIns="63500" rIns="63500" bIns="63500" rtlCol="0" anchor="ctr"/>
          <a:lstStyle/>
          <a:p>
            <a:pPr algn="ctr">
              <a:defRPr/>
            </a:pPr>
            <a:endParaRPr/>
          </a:p>
        </p:txBody>
      </p:sp>
      <p:pic>
        <p:nvPicPr>
          <p:cNvPr id="5" name="Picture 5"/>
          <p:cNvPicPr>
            <a:picLocks noChangeAspect="1"/>
          </p:cNvPicPr>
          <p:nvPr/>
        </p:nvPicPr>
        <p:blipFill>
          <a:blip r:embed="rId3"/>
          <a:srcRect t="10452" b="10452"/>
          <a:stretch>
            <a:fillRect/>
          </a:stretch>
        </p:blipFill>
        <p:spPr>
          <a:xfrm>
            <a:off x="762000" y="1524000"/>
            <a:ext cx="3302000" cy="1778000"/>
          </a:xfrm>
          <a:prstGeom prst="roundRect">
            <a:avLst>
              <a:gd name="adj" fmla="val 5714"/>
            </a:avLst>
          </a:prstGeom>
          <a:noFill/>
          <a:ln w="25400" cap="flat" cmpd="sng">
            <a:noFill/>
            <a:prstDash val="solid"/>
            <a:round/>
          </a:ln>
        </p:spPr>
      </p:pic>
      <p:pic>
        <p:nvPicPr>
          <p:cNvPr id="6" name="Picture 6"/>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965200" y="3505200"/>
            <a:ext cx="304800" cy="304800"/>
          </a:xfrm>
          <a:prstGeom prst="rect">
            <a:avLst/>
          </a:prstGeom>
        </p:spPr>
      </p:pic>
      <p:sp>
        <p:nvSpPr>
          <p:cNvPr id="7" name="AutoShape 7"/>
          <p:cNvSpPr/>
          <p:nvPr/>
        </p:nvSpPr>
        <p:spPr>
          <a:xfrm>
            <a:off x="1397000" y="3505200"/>
            <a:ext cx="2540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03366"/>
                </a:solidFill>
                <a:latin typeface="Noto Sans SC"/>
                <a:ea typeface="Noto Sans SC"/>
                <a:cs typeface="Noto Sans SC"/>
                <a:sym typeface="Noto Sans SC"/>
              </a:rPr>
              <a:t>患者</a:t>
            </a:r>
            <a:endParaRPr lang="en-US" sz="1100"/>
          </a:p>
        </p:txBody>
      </p:sp>
      <p:sp>
        <p:nvSpPr>
          <p:cNvPr id="8" name="AutoShape 8"/>
          <p:cNvSpPr/>
          <p:nvPr/>
        </p:nvSpPr>
        <p:spPr>
          <a:xfrm>
            <a:off x="965200" y="3962400"/>
            <a:ext cx="2895600" cy="7620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1400" b="0" i="0" u="none" strike="noStrike">
                <a:solidFill>
                  <a:srgbClr val="374151"/>
                </a:solidFill>
                <a:latin typeface="Noto Sans SC"/>
                <a:ea typeface="Noto Sans SC"/>
                <a:cs typeface="Noto Sans SC"/>
                <a:sym typeface="Noto Sans SC"/>
              </a:rPr>
              <a:t>便捷预约挂号，减少排队，随时查询就诊信息和进度。</a:t>
            </a:r>
            <a:endParaRPr lang="en-US" sz="1100"/>
          </a:p>
        </p:txBody>
      </p:sp>
      <p:sp>
        <p:nvSpPr>
          <p:cNvPr id="9" name="AutoShape 9"/>
          <p:cNvSpPr/>
          <p:nvPr/>
        </p:nvSpPr>
        <p:spPr>
          <a:xfrm>
            <a:off x="4445000" y="1524000"/>
            <a:ext cx="3302000" cy="3556000"/>
          </a:xfrm>
          <a:prstGeom prst="roundRect">
            <a:avLst>
              <a:gd name="adj" fmla="val 3076"/>
            </a:avLst>
          </a:prstGeom>
          <a:solidFill>
            <a:srgbClr val="FFFFFF">
              <a:alpha val="100000"/>
            </a:srgbClr>
          </a:solidFill>
          <a:ln w="12700" cap="flat" cmpd="sng">
            <a:solidFill>
              <a:srgbClr val="E5E7EB">
                <a:alpha val="100000"/>
              </a:srgbClr>
            </a:solidFill>
            <a:prstDash val="solid"/>
            <a:round/>
          </a:ln>
          <a:effectLst>
            <a:outerShdw blurRad="127000" dist="63500" dir="5400000" algn="tl" rotWithShape="0">
              <a:srgbClr val="000000">
                <a:alpha val="5000"/>
              </a:srgbClr>
            </a:outerShdw>
          </a:effectLst>
        </p:spPr>
        <p:txBody>
          <a:bodyPr vert="horz" wrap="square" lIns="63500" tIns="63500" rIns="63500" bIns="63500" rtlCol="0" anchor="ctr"/>
          <a:lstStyle/>
          <a:p>
            <a:pPr algn="ctr">
              <a:defRPr/>
            </a:pPr>
            <a:endParaRPr/>
          </a:p>
        </p:txBody>
      </p:sp>
      <p:pic>
        <p:nvPicPr>
          <p:cNvPr id="10" name="Picture 10"/>
          <p:cNvPicPr>
            <a:picLocks noChangeAspect="1"/>
          </p:cNvPicPr>
          <p:nvPr/>
        </p:nvPicPr>
        <p:blipFill>
          <a:blip r:embed="rId6"/>
          <a:srcRect t="8037" b="8037"/>
          <a:stretch>
            <a:fillRect/>
          </a:stretch>
        </p:blipFill>
        <p:spPr>
          <a:xfrm>
            <a:off x="4445000" y="1524000"/>
            <a:ext cx="3302000" cy="1778000"/>
          </a:xfrm>
          <a:prstGeom prst="roundRect">
            <a:avLst>
              <a:gd name="adj" fmla="val 5714"/>
            </a:avLst>
          </a:prstGeom>
          <a:noFill/>
          <a:ln w="25400" cap="flat" cmpd="sng">
            <a:noFill/>
            <a:prstDash val="solid"/>
            <a:round/>
          </a:ln>
        </p:spPr>
      </p:pic>
      <p:pic>
        <p:nvPicPr>
          <p:cNvPr id="11" name="Picture 11"/>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4648200" y="3505200"/>
            <a:ext cx="304800" cy="304800"/>
          </a:xfrm>
          <a:prstGeom prst="rect">
            <a:avLst/>
          </a:prstGeom>
        </p:spPr>
      </p:pic>
      <p:sp>
        <p:nvSpPr>
          <p:cNvPr id="12" name="AutoShape 12"/>
          <p:cNvSpPr/>
          <p:nvPr/>
        </p:nvSpPr>
        <p:spPr>
          <a:xfrm>
            <a:off x="5080000" y="3505200"/>
            <a:ext cx="2540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03366"/>
                </a:solidFill>
                <a:latin typeface="Noto Sans SC"/>
                <a:ea typeface="Noto Sans SC"/>
                <a:cs typeface="Noto Sans SC"/>
                <a:sym typeface="Noto Sans SC"/>
              </a:rPr>
              <a:t>前台工作人员</a:t>
            </a:r>
            <a:endParaRPr lang="en-US" sz="1100"/>
          </a:p>
        </p:txBody>
      </p:sp>
      <p:sp>
        <p:nvSpPr>
          <p:cNvPr id="13" name="AutoShape 13"/>
          <p:cNvSpPr/>
          <p:nvPr/>
        </p:nvSpPr>
        <p:spPr>
          <a:xfrm>
            <a:off x="4648200" y="3962400"/>
            <a:ext cx="2895600" cy="7620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1400" b="0" i="0" u="none" strike="noStrike">
                <a:solidFill>
                  <a:srgbClr val="374151"/>
                </a:solidFill>
                <a:latin typeface="Noto Sans SC"/>
                <a:ea typeface="Noto Sans SC"/>
                <a:cs typeface="Noto Sans SC"/>
                <a:sym typeface="Noto Sans SC"/>
              </a:rPr>
              <a:t>高效处理登记、核验、结算等工作，提升效率，减少错误。</a:t>
            </a:r>
            <a:endParaRPr lang="en-US" sz="1100"/>
          </a:p>
        </p:txBody>
      </p:sp>
      <p:sp>
        <p:nvSpPr>
          <p:cNvPr id="14" name="AutoShape 14"/>
          <p:cNvSpPr/>
          <p:nvPr/>
        </p:nvSpPr>
        <p:spPr>
          <a:xfrm>
            <a:off x="8128000" y="1524000"/>
            <a:ext cx="3302000" cy="3556000"/>
          </a:xfrm>
          <a:prstGeom prst="roundRect">
            <a:avLst>
              <a:gd name="adj" fmla="val 3076"/>
            </a:avLst>
          </a:prstGeom>
          <a:solidFill>
            <a:srgbClr val="FFFFFF">
              <a:alpha val="100000"/>
            </a:srgbClr>
          </a:solidFill>
          <a:ln w="12700" cap="flat" cmpd="sng">
            <a:solidFill>
              <a:srgbClr val="E5E7EB">
                <a:alpha val="100000"/>
              </a:srgbClr>
            </a:solidFill>
            <a:prstDash val="solid"/>
            <a:round/>
          </a:ln>
          <a:effectLst>
            <a:outerShdw blurRad="127000" dist="63500" dir="5400000" algn="tl" rotWithShape="0">
              <a:srgbClr val="000000">
                <a:alpha val="5000"/>
              </a:srgbClr>
            </a:outerShdw>
          </a:effectLst>
        </p:spPr>
        <p:txBody>
          <a:bodyPr vert="horz" wrap="square" lIns="63500" tIns="63500" rIns="63500" bIns="63500" rtlCol="0" anchor="ctr"/>
          <a:lstStyle/>
          <a:p>
            <a:pPr algn="ctr">
              <a:defRPr/>
            </a:pPr>
            <a:endParaRPr/>
          </a:p>
        </p:txBody>
      </p:sp>
      <p:pic>
        <p:nvPicPr>
          <p:cNvPr id="15" name="Picture 15"/>
          <p:cNvPicPr>
            <a:picLocks noChangeAspect="1"/>
          </p:cNvPicPr>
          <p:nvPr/>
        </p:nvPicPr>
        <p:blipFill>
          <a:blip r:embed="rId9"/>
          <a:srcRect t="9590" b="9590"/>
          <a:stretch>
            <a:fillRect/>
          </a:stretch>
        </p:blipFill>
        <p:spPr>
          <a:xfrm>
            <a:off x="8128000" y="1524000"/>
            <a:ext cx="3302000" cy="1778000"/>
          </a:xfrm>
          <a:prstGeom prst="roundRect">
            <a:avLst>
              <a:gd name="adj" fmla="val 5714"/>
            </a:avLst>
          </a:prstGeom>
          <a:noFill/>
          <a:ln w="25400" cap="flat" cmpd="sng">
            <a:noFill/>
            <a:prstDash val="solid"/>
            <a:round/>
          </a:ln>
        </p:spPr>
      </p:pic>
      <p:pic>
        <p:nvPicPr>
          <p:cNvPr id="16" name="Picture 16"/>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8331200" y="3505200"/>
            <a:ext cx="304800" cy="304800"/>
          </a:xfrm>
          <a:prstGeom prst="rect">
            <a:avLst/>
          </a:prstGeom>
        </p:spPr>
      </p:pic>
      <p:sp>
        <p:nvSpPr>
          <p:cNvPr id="17" name="AutoShape 17"/>
          <p:cNvSpPr/>
          <p:nvPr/>
        </p:nvSpPr>
        <p:spPr>
          <a:xfrm>
            <a:off x="8763000" y="3505200"/>
            <a:ext cx="2540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03366"/>
                </a:solidFill>
                <a:latin typeface="Noto Sans SC"/>
                <a:ea typeface="Noto Sans SC"/>
                <a:cs typeface="Noto Sans SC"/>
                <a:sym typeface="Noto Sans SC"/>
              </a:rPr>
              <a:t>管理人员</a:t>
            </a:r>
            <a:endParaRPr lang="en-US" sz="1100"/>
          </a:p>
        </p:txBody>
      </p:sp>
      <p:sp>
        <p:nvSpPr>
          <p:cNvPr id="18" name="AutoShape 18"/>
          <p:cNvSpPr/>
          <p:nvPr/>
        </p:nvSpPr>
        <p:spPr>
          <a:xfrm>
            <a:off x="8331200" y="3962400"/>
            <a:ext cx="2895600" cy="7620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1400" b="0" i="0" u="none" strike="noStrike">
                <a:solidFill>
                  <a:srgbClr val="374151"/>
                </a:solidFill>
                <a:latin typeface="Noto Sans SC"/>
                <a:ea typeface="Noto Sans SC"/>
                <a:cs typeface="Noto Sans SC"/>
                <a:sym typeface="Noto Sans SC"/>
              </a:rPr>
              <a:t>掌握实时运营数据，支持科学排班、资源调配与决策。</a:t>
            </a:r>
            <a:endParaRPr lang="en-US" sz="1100"/>
          </a:p>
        </p:txBody>
      </p:sp>
      <p:sp>
        <p:nvSpPr>
          <p:cNvPr id="19" name="AutoShape 19"/>
          <p:cNvSpPr/>
          <p:nvPr/>
        </p:nvSpPr>
        <p:spPr>
          <a:xfrm>
            <a:off x="762000" y="5384800"/>
            <a:ext cx="10668000" cy="3048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400" b="0" i="0" u="none" strike="noStrike">
                <a:solidFill>
                  <a:srgbClr val="6B7280"/>
                </a:solidFill>
                <a:latin typeface="Noto Sans SC"/>
                <a:ea typeface="Noto Sans SC"/>
                <a:cs typeface="Noto Sans SC"/>
                <a:sym typeface="Noto Sans SC"/>
              </a:rPr>
              <a:t>我们的设计将围绕这三类用户的核心需求展开，提供全面的解决方案。</a:t>
            </a:r>
            <a:endParaRPr lang="en-US" sz="11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508000"/>
            <a:ext cx="7620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600" b="1" i="0" u="none" strike="noStrike">
                <a:solidFill>
                  <a:srgbClr val="003366"/>
                </a:solidFill>
                <a:latin typeface="Noto Sans SC"/>
                <a:ea typeface="Noto Sans SC"/>
                <a:cs typeface="Noto Sans SC"/>
                <a:sym typeface="Noto Sans SC"/>
              </a:rPr>
              <a:t>需求分析 - 功能需求</a:t>
            </a:r>
            <a:endParaRPr lang="en-US" sz="1100"/>
          </a:p>
        </p:txBody>
      </p:sp>
      <p:cxnSp>
        <p:nvCxnSpPr>
          <p:cNvPr id="3" name="Connector 3"/>
          <p:cNvCxnSpPr/>
          <p:nvPr/>
        </p:nvCxnSpPr>
        <p:spPr>
          <a:xfrm rot="-4092">
            <a:off x="762004" y="1212850"/>
            <a:ext cx="10668000" cy="12700"/>
          </a:xfrm>
          <a:prstGeom prst="straightConnector1">
            <a:avLst/>
          </a:prstGeom>
          <a:solidFill>
            <a:srgbClr val="DEE0E3">
              <a:alpha val="100000"/>
            </a:srgbClr>
          </a:solidFill>
          <a:ln w="12700" cap="flat" cmpd="sng">
            <a:solidFill>
              <a:srgbClr val="E5E7EB">
                <a:alpha val="100000"/>
              </a:srgbClr>
            </a:solidFill>
            <a:prstDash val="solid"/>
            <a:round/>
            <a:headEnd type="none" w="med" len="med"/>
            <a:tailEnd type="none" w="med" len="med"/>
          </a:ln>
        </p:spPr>
      </p:cxnSp>
      <p:sp>
        <p:nvSpPr>
          <p:cNvPr id="4" name="AutoShape 4"/>
          <p:cNvSpPr/>
          <p:nvPr/>
        </p:nvSpPr>
        <p:spPr>
          <a:xfrm>
            <a:off x="762000" y="1524000"/>
            <a:ext cx="3302000" cy="355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03366"/>
                </a:solidFill>
                <a:latin typeface="Noto Sans SC"/>
                <a:ea typeface="Noto Sans SC"/>
                <a:cs typeface="Noto Sans SC"/>
                <a:sym typeface="Noto Sans SC"/>
              </a:rPr>
              <a:t>患者端</a:t>
            </a:r>
            <a:endParaRPr lang="en-US" sz="1100"/>
          </a:p>
        </p:txBody>
      </p:sp>
      <p:pic>
        <p:nvPicPr>
          <p:cNvPr id="5" name="Picture 5"/>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62000" y="2082800"/>
            <a:ext cx="304800" cy="304800"/>
          </a:xfrm>
          <a:prstGeom prst="rect">
            <a:avLst/>
          </a:prstGeom>
        </p:spPr>
      </p:pic>
      <p:sp>
        <p:nvSpPr>
          <p:cNvPr id="6" name="AutoShape 6"/>
          <p:cNvSpPr/>
          <p:nvPr/>
        </p:nvSpPr>
        <p:spPr>
          <a:xfrm>
            <a:off x="1219200" y="2095500"/>
            <a:ext cx="2794000" cy="2794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374151"/>
                </a:solidFill>
                <a:latin typeface="Noto Sans SC"/>
                <a:ea typeface="Noto Sans SC"/>
                <a:cs typeface="Noto Sans SC"/>
                <a:sym typeface="Noto Sans SC"/>
              </a:rPr>
              <a:t>预约挂号</a:t>
            </a:r>
            <a:endParaRPr lang="en-US" sz="1100"/>
          </a:p>
        </p:txBody>
      </p:sp>
      <p:sp>
        <p:nvSpPr>
          <p:cNvPr id="7" name="AutoShape 7"/>
          <p:cNvSpPr/>
          <p:nvPr/>
        </p:nvSpPr>
        <p:spPr>
          <a:xfrm>
            <a:off x="1219200" y="2438400"/>
            <a:ext cx="2794000" cy="508000"/>
          </a:xfrm>
          <a:prstGeom prst="rect">
            <a:avLst/>
          </a:prstGeom>
          <a:noFill/>
          <a:ln w="12700" cap="flat" cmpd="sng">
            <a:noFill/>
            <a:prstDash val="solid"/>
            <a:round/>
          </a:ln>
        </p:spPr>
        <p:txBody>
          <a:bodyPr vert="horz" wrap="square" lIns="0" tIns="0" rIns="0" bIns="0" rtlCol="0" anchor="t" anchorCtr="0"/>
          <a:lstStyle/>
          <a:p>
            <a:pPr indent="0" algn="l">
              <a:lnSpc>
                <a:spcPct val="116666"/>
              </a:lnSpc>
              <a:defRPr/>
            </a:pPr>
            <a:r>
              <a:rPr lang="en-US" sz="1400" b="0" i="0" u="none" strike="noStrike">
                <a:solidFill>
                  <a:srgbClr val="6B7280"/>
                </a:solidFill>
                <a:latin typeface="Noto Sans SC"/>
                <a:ea typeface="Noto Sans SC"/>
                <a:cs typeface="Noto Sans SC"/>
                <a:sym typeface="Noto Sans SC"/>
              </a:rPr>
              <a:t>选择科室、医生、就诊时间进行预约。</a:t>
            </a:r>
            <a:endParaRPr lang="en-US" sz="1100"/>
          </a:p>
        </p:txBody>
      </p:sp>
      <p:pic>
        <p:nvPicPr>
          <p:cNvPr id="8" name="Picture 8"/>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762000" y="3200400"/>
            <a:ext cx="304800" cy="304800"/>
          </a:xfrm>
          <a:prstGeom prst="rect">
            <a:avLst/>
          </a:prstGeom>
        </p:spPr>
      </p:pic>
      <p:sp>
        <p:nvSpPr>
          <p:cNvPr id="9" name="AutoShape 9"/>
          <p:cNvSpPr/>
          <p:nvPr/>
        </p:nvSpPr>
        <p:spPr>
          <a:xfrm>
            <a:off x="1219200" y="3213100"/>
            <a:ext cx="2794000" cy="2794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374151"/>
                </a:solidFill>
                <a:latin typeface="Noto Sans SC"/>
                <a:ea typeface="Noto Sans SC"/>
                <a:cs typeface="Noto Sans SC"/>
                <a:sym typeface="Noto Sans SC"/>
              </a:rPr>
              <a:t>状态查询</a:t>
            </a:r>
            <a:endParaRPr lang="en-US" sz="1100"/>
          </a:p>
        </p:txBody>
      </p:sp>
      <p:sp>
        <p:nvSpPr>
          <p:cNvPr id="10" name="AutoShape 10"/>
          <p:cNvSpPr/>
          <p:nvPr/>
        </p:nvSpPr>
        <p:spPr>
          <a:xfrm>
            <a:off x="1219200" y="3556000"/>
            <a:ext cx="2794000" cy="508000"/>
          </a:xfrm>
          <a:prstGeom prst="rect">
            <a:avLst/>
          </a:prstGeom>
          <a:noFill/>
          <a:ln w="12700" cap="flat" cmpd="sng">
            <a:noFill/>
            <a:prstDash val="solid"/>
            <a:round/>
          </a:ln>
        </p:spPr>
        <p:txBody>
          <a:bodyPr vert="horz" wrap="square" lIns="0" tIns="0" rIns="0" bIns="0" rtlCol="0" anchor="t" anchorCtr="0"/>
          <a:lstStyle/>
          <a:p>
            <a:pPr indent="0" algn="l">
              <a:lnSpc>
                <a:spcPct val="116666"/>
              </a:lnSpc>
              <a:defRPr/>
            </a:pPr>
            <a:r>
              <a:rPr lang="en-US" sz="1400" b="0" i="0" u="none" strike="noStrike">
                <a:solidFill>
                  <a:srgbClr val="6B7280"/>
                </a:solidFill>
                <a:latin typeface="Noto Sans SC"/>
                <a:ea typeface="Noto Sans SC"/>
                <a:cs typeface="Noto Sans SC"/>
                <a:sym typeface="Noto Sans SC"/>
              </a:rPr>
              <a:t>通过手机号查询预约或就诊状态。</a:t>
            </a:r>
            <a:endParaRPr lang="en-US" sz="1100"/>
          </a:p>
        </p:txBody>
      </p:sp>
      <p:cxnSp>
        <p:nvCxnSpPr>
          <p:cNvPr id="11" name="Connector 11"/>
          <p:cNvCxnSpPr/>
          <p:nvPr/>
        </p:nvCxnSpPr>
        <p:spPr>
          <a:xfrm rot="5382811">
            <a:off x="3048000" y="2787666"/>
            <a:ext cx="2540000" cy="12700"/>
          </a:xfrm>
          <a:prstGeom prst="straightConnector1">
            <a:avLst/>
          </a:prstGeom>
          <a:solidFill>
            <a:srgbClr val="DEE0E3">
              <a:alpha val="100000"/>
            </a:srgbClr>
          </a:solidFill>
          <a:ln w="12700" cap="flat" cmpd="sng">
            <a:solidFill>
              <a:srgbClr val="E5E7EB">
                <a:alpha val="100000"/>
              </a:srgbClr>
            </a:solidFill>
            <a:prstDash val="dash"/>
            <a:round/>
            <a:headEnd type="none" w="med" len="med"/>
            <a:tailEnd type="none" w="med" len="med"/>
          </a:ln>
        </p:spPr>
      </p:cxnSp>
      <p:sp>
        <p:nvSpPr>
          <p:cNvPr id="12" name="AutoShape 12"/>
          <p:cNvSpPr/>
          <p:nvPr/>
        </p:nvSpPr>
        <p:spPr>
          <a:xfrm>
            <a:off x="4699000" y="1524000"/>
            <a:ext cx="3302000" cy="355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03366"/>
                </a:solidFill>
                <a:latin typeface="Noto Sans SC"/>
                <a:ea typeface="Noto Sans SC"/>
                <a:cs typeface="Noto Sans SC"/>
                <a:sym typeface="Noto Sans SC"/>
              </a:rPr>
              <a:t>前台端</a:t>
            </a:r>
            <a:endParaRPr lang="en-US" sz="1100"/>
          </a:p>
        </p:txBody>
      </p:sp>
      <p:pic>
        <p:nvPicPr>
          <p:cNvPr id="13" name="Picture 13"/>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4699000" y="2082800"/>
            <a:ext cx="304800" cy="304800"/>
          </a:xfrm>
          <a:prstGeom prst="rect">
            <a:avLst/>
          </a:prstGeom>
        </p:spPr>
      </p:pic>
      <p:sp>
        <p:nvSpPr>
          <p:cNvPr id="14" name="AutoShape 14"/>
          <p:cNvSpPr/>
          <p:nvPr/>
        </p:nvSpPr>
        <p:spPr>
          <a:xfrm>
            <a:off x="5156200" y="2095500"/>
            <a:ext cx="2794000" cy="2794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374151"/>
                </a:solidFill>
                <a:latin typeface="Noto Sans SC"/>
                <a:ea typeface="Noto Sans SC"/>
                <a:cs typeface="Noto Sans SC"/>
                <a:sym typeface="Noto Sans SC"/>
              </a:rPr>
              <a:t>预约核验</a:t>
            </a:r>
            <a:endParaRPr lang="en-US" sz="1100"/>
          </a:p>
        </p:txBody>
      </p:sp>
      <p:sp>
        <p:nvSpPr>
          <p:cNvPr id="15" name="AutoShape 15"/>
          <p:cNvSpPr/>
          <p:nvPr/>
        </p:nvSpPr>
        <p:spPr>
          <a:xfrm>
            <a:off x="5156200" y="2438400"/>
            <a:ext cx="2794000" cy="508000"/>
          </a:xfrm>
          <a:prstGeom prst="rect">
            <a:avLst/>
          </a:prstGeom>
          <a:noFill/>
          <a:ln w="12700" cap="flat" cmpd="sng">
            <a:noFill/>
            <a:prstDash val="solid"/>
            <a:round/>
          </a:ln>
        </p:spPr>
        <p:txBody>
          <a:bodyPr vert="horz" wrap="square" lIns="0" tIns="0" rIns="0" bIns="0" rtlCol="0" anchor="t" anchorCtr="0"/>
          <a:lstStyle/>
          <a:p>
            <a:pPr indent="0" algn="l">
              <a:lnSpc>
                <a:spcPct val="116666"/>
              </a:lnSpc>
              <a:defRPr/>
            </a:pPr>
            <a:r>
              <a:rPr lang="en-US" sz="1400" b="0" i="0" u="none" strike="noStrike">
                <a:solidFill>
                  <a:srgbClr val="6B7280"/>
                </a:solidFill>
                <a:latin typeface="Noto Sans SC"/>
                <a:ea typeface="Noto Sans SC"/>
                <a:cs typeface="Noto Sans SC"/>
                <a:sym typeface="Noto Sans SC"/>
              </a:rPr>
              <a:t>验证患者预约信息，办理就诊登记。</a:t>
            </a:r>
            <a:endParaRPr lang="en-US" sz="1100"/>
          </a:p>
        </p:txBody>
      </p:sp>
      <p:pic>
        <p:nvPicPr>
          <p:cNvPr id="16" name="Picture 16"/>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4699000" y="3200400"/>
            <a:ext cx="304800" cy="304800"/>
          </a:xfrm>
          <a:prstGeom prst="rect">
            <a:avLst/>
          </a:prstGeom>
        </p:spPr>
      </p:pic>
      <p:sp>
        <p:nvSpPr>
          <p:cNvPr id="17" name="AutoShape 17"/>
          <p:cNvSpPr/>
          <p:nvPr/>
        </p:nvSpPr>
        <p:spPr>
          <a:xfrm>
            <a:off x="5156200" y="3213100"/>
            <a:ext cx="2794000" cy="2794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374151"/>
                </a:solidFill>
                <a:latin typeface="Noto Sans SC"/>
                <a:ea typeface="Noto Sans SC"/>
                <a:cs typeface="Noto Sans SC"/>
                <a:sym typeface="Noto Sans SC"/>
              </a:rPr>
              <a:t>收费结算</a:t>
            </a:r>
            <a:endParaRPr lang="en-US" sz="1100"/>
          </a:p>
        </p:txBody>
      </p:sp>
      <p:sp>
        <p:nvSpPr>
          <p:cNvPr id="18" name="AutoShape 18"/>
          <p:cNvSpPr/>
          <p:nvPr/>
        </p:nvSpPr>
        <p:spPr>
          <a:xfrm>
            <a:off x="5156200" y="3556000"/>
            <a:ext cx="2794000" cy="508000"/>
          </a:xfrm>
          <a:prstGeom prst="rect">
            <a:avLst/>
          </a:prstGeom>
          <a:noFill/>
          <a:ln w="12700" cap="flat" cmpd="sng">
            <a:noFill/>
            <a:prstDash val="solid"/>
            <a:round/>
          </a:ln>
        </p:spPr>
        <p:txBody>
          <a:bodyPr vert="horz" wrap="square" lIns="0" tIns="0" rIns="0" bIns="0" rtlCol="0" anchor="t" anchorCtr="0"/>
          <a:lstStyle/>
          <a:p>
            <a:pPr indent="0" algn="l">
              <a:lnSpc>
                <a:spcPct val="116666"/>
              </a:lnSpc>
              <a:defRPr/>
            </a:pPr>
            <a:r>
              <a:rPr lang="en-US" sz="1400" b="0" i="0" u="none" strike="noStrike">
                <a:solidFill>
                  <a:srgbClr val="6B7280"/>
                </a:solidFill>
                <a:latin typeface="Noto Sans SC"/>
                <a:ea typeface="Noto Sans SC"/>
                <a:cs typeface="Noto Sans SC"/>
                <a:sym typeface="Noto Sans SC"/>
              </a:rPr>
              <a:t>计算并收取医疗费用，支持医保自费。</a:t>
            </a:r>
            <a:endParaRPr lang="en-US" sz="1100"/>
          </a:p>
        </p:txBody>
      </p:sp>
      <p:cxnSp>
        <p:nvCxnSpPr>
          <p:cNvPr id="19" name="Connector 19"/>
          <p:cNvCxnSpPr/>
          <p:nvPr/>
        </p:nvCxnSpPr>
        <p:spPr>
          <a:xfrm rot="5382811">
            <a:off x="6985000" y="2787666"/>
            <a:ext cx="2540000" cy="12700"/>
          </a:xfrm>
          <a:prstGeom prst="straightConnector1">
            <a:avLst/>
          </a:prstGeom>
          <a:solidFill>
            <a:srgbClr val="DEE0E3">
              <a:alpha val="100000"/>
            </a:srgbClr>
          </a:solidFill>
          <a:ln w="12700" cap="flat" cmpd="sng">
            <a:solidFill>
              <a:srgbClr val="E5E7EB">
                <a:alpha val="100000"/>
              </a:srgbClr>
            </a:solidFill>
            <a:prstDash val="dash"/>
            <a:round/>
            <a:headEnd type="none" w="med" len="med"/>
            <a:tailEnd type="none" w="med" len="med"/>
          </a:ln>
        </p:spPr>
      </p:cxnSp>
      <p:sp>
        <p:nvSpPr>
          <p:cNvPr id="20" name="AutoShape 20"/>
          <p:cNvSpPr/>
          <p:nvPr/>
        </p:nvSpPr>
        <p:spPr>
          <a:xfrm>
            <a:off x="8636000" y="1524000"/>
            <a:ext cx="3302000" cy="355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03366"/>
                </a:solidFill>
                <a:latin typeface="Noto Sans SC"/>
                <a:ea typeface="Noto Sans SC"/>
                <a:cs typeface="Noto Sans SC"/>
                <a:sym typeface="Noto Sans SC"/>
              </a:rPr>
              <a:t>管理员端</a:t>
            </a:r>
            <a:endParaRPr lang="en-US" sz="1100"/>
          </a:p>
        </p:txBody>
      </p:sp>
      <p:pic>
        <p:nvPicPr>
          <p:cNvPr id="21" name="Picture 21"/>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8636000" y="2082800"/>
            <a:ext cx="304800" cy="304800"/>
          </a:xfrm>
          <a:prstGeom prst="rect">
            <a:avLst/>
          </a:prstGeom>
        </p:spPr>
      </p:pic>
      <p:sp>
        <p:nvSpPr>
          <p:cNvPr id="22" name="AutoShape 22"/>
          <p:cNvSpPr/>
          <p:nvPr/>
        </p:nvSpPr>
        <p:spPr>
          <a:xfrm>
            <a:off x="9093200" y="2095500"/>
            <a:ext cx="2794000" cy="2794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374151"/>
                </a:solidFill>
                <a:latin typeface="Noto Sans SC"/>
                <a:ea typeface="Noto Sans SC"/>
                <a:cs typeface="Noto Sans SC"/>
                <a:sym typeface="Noto Sans SC"/>
              </a:rPr>
              <a:t>数据看板</a:t>
            </a:r>
            <a:endParaRPr lang="en-US" sz="1100"/>
          </a:p>
        </p:txBody>
      </p:sp>
      <p:sp>
        <p:nvSpPr>
          <p:cNvPr id="23" name="AutoShape 23"/>
          <p:cNvSpPr/>
          <p:nvPr/>
        </p:nvSpPr>
        <p:spPr>
          <a:xfrm>
            <a:off x="9093200" y="2438400"/>
            <a:ext cx="2794000" cy="508000"/>
          </a:xfrm>
          <a:prstGeom prst="rect">
            <a:avLst/>
          </a:prstGeom>
          <a:noFill/>
          <a:ln w="12700" cap="flat" cmpd="sng">
            <a:noFill/>
            <a:prstDash val="solid"/>
            <a:round/>
          </a:ln>
        </p:spPr>
        <p:txBody>
          <a:bodyPr vert="horz" wrap="square" lIns="0" tIns="0" rIns="0" bIns="0" rtlCol="0" anchor="t" anchorCtr="0"/>
          <a:lstStyle/>
          <a:p>
            <a:pPr indent="0" algn="l">
              <a:lnSpc>
                <a:spcPct val="116666"/>
              </a:lnSpc>
              <a:defRPr/>
            </a:pPr>
            <a:r>
              <a:rPr lang="en-US" sz="1400" b="0" i="0" u="none" strike="noStrike">
                <a:solidFill>
                  <a:srgbClr val="6B7280"/>
                </a:solidFill>
                <a:latin typeface="Noto Sans SC"/>
                <a:ea typeface="Noto Sans SC"/>
                <a:cs typeface="Noto Sans SC"/>
                <a:sym typeface="Noto Sans SC"/>
              </a:rPr>
              <a:t>可视化展示医院运营核心数据。</a:t>
            </a:r>
            <a:endParaRPr lang="en-US" sz="1100"/>
          </a:p>
        </p:txBody>
      </p:sp>
      <p:pic>
        <p:nvPicPr>
          <p:cNvPr id="24" name="Picture 24"/>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8636000" y="3200400"/>
            <a:ext cx="304800" cy="304800"/>
          </a:xfrm>
          <a:prstGeom prst="rect">
            <a:avLst/>
          </a:prstGeom>
        </p:spPr>
      </p:pic>
      <p:sp>
        <p:nvSpPr>
          <p:cNvPr id="25" name="AutoShape 25"/>
          <p:cNvSpPr/>
          <p:nvPr/>
        </p:nvSpPr>
        <p:spPr>
          <a:xfrm>
            <a:off x="9093200" y="3213100"/>
            <a:ext cx="2794000" cy="2794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374151"/>
                </a:solidFill>
                <a:latin typeface="Noto Sans SC"/>
                <a:ea typeface="Noto Sans SC"/>
                <a:cs typeface="Noto Sans SC"/>
                <a:sym typeface="Noto Sans SC"/>
              </a:rPr>
              <a:t>员工管理</a:t>
            </a:r>
            <a:endParaRPr lang="en-US" sz="1100"/>
          </a:p>
        </p:txBody>
      </p:sp>
      <p:sp>
        <p:nvSpPr>
          <p:cNvPr id="26" name="AutoShape 26"/>
          <p:cNvSpPr/>
          <p:nvPr/>
        </p:nvSpPr>
        <p:spPr>
          <a:xfrm>
            <a:off x="9093200" y="3556000"/>
            <a:ext cx="2794000" cy="508000"/>
          </a:xfrm>
          <a:prstGeom prst="rect">
            <a:avLst/>
          </a:prstGeom>
          <a:noFill/>
          <a:ln w="12700" cap="flat" cmpd="sng">
            <a:noFill/>
            <a:prstDash val="solid"/>
            <a:round/>
          </a:ln>
        </p:spPr>
        <p:txBody>
          <a:bodyPr vert="horz" wrap="square" lIns="0" tIns="0" rIns="0" bIns="0" rtlCol="0" anchor="t" anchorCtr="0"/>
          <a:lstStyle/>
          <a:p>
            <a:pPr indent="0" algn="l">
              <a:lnSpc>
                <a:spcPct val="116666"/>
              </a:lnSpc>
              <a:defRPr/>
            </a:pPr>
            <a:r>
              <a:rPr lang="en-US" sz="1400" b="0" i="0" u="none" strike="noStrike">
                <a:solidFill>
                  <a:srgbClr val="6B7280"/>
                </a:solidFill>
                <a:latin typeface="Noto Sans SC"/>
                <a:ea typeface="Noto Sans SC"/>
                <a:cs typeface="Noto Sans SC"/>
                <a:sym typeface="Noto Sans SC"/>
              </a:rPr>
              <a:t>管理医生、护士等员工信息。</a:t>
            </a:r>
            <a:endParaRPr lang="en-US" sz="1100"/>
          </a:p>
        </p:txBody>
      </p:sp>
      <p:cxnSp>
        <p:nvCxnSpPr>
          <p:cNvPr id="27" name="Connector 27"/>
          <p:cNvCxnSpPr/>
          <p:nvPr/>
        </p:nvCxnSpPr>
        <p:spPr>
          <a:xfrm rot="-4092">
            <a:off x="762004" y="4438650"/>
            <a:ext cx="10668000" cy="12700"/>
          </a:xfrm>
          <a:prstGeom prst="straightConnector1">
            <a:avLst/>
          </a:prstGeom>
          <a:solidFill>
            <a:srgbClr val="DEE0E3">
              <a:alpha val="100000"/>
            </a:srgbClr>
          </a:solidFill>
          <a:ln w="12700" cap="flat" cmpd="sng">
            <a:solidFill>
              <a:srgbClr val="E5E7EB">
                <a:alpha val="100000"/>
              </a:srgbClr>
            </a:solidFill>
            <a:prstDash val="solid"/>
            <a:round/>
            <a:headEnd type="none" w="med" len="med"/>
            <a:tailEnd type="none" w="med" len="med"/>
          </a:ln>
        </p:spPr>
      </p:cxnSp>
      <p:pic>
        <p:nvPicPr>
          <p:cNvPr id="28" name="Picture 28"/>
          <p:cNvPicPr>
            <a:picLocks noChangeAspect="1"/>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a:off x="762000" y="4826000"/>
            <a:ext cx="304800" cy="304800"/>
          </a:xfrm>
          <a:prstGeom prst="rect">
            <a:avLst/>
          </a:prstGeom>
        </p:spPr>
      </p:pic>
      <p:sp>
        <p:nvSpPr>
          <p:cNvPr id="29" name="AutoShape 29"/>
          <p:cNvSpPr/>
          <p:nvPr/>
        </p:nvSpPr>
        <p:spPr>
          <a:xfrm>
            <a:off x="1219200" y="4838700"/>
            <a:ext cx="4826000" cy="2794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374151"/>
                </a:solidFill>
                <a:latin typeface="Noto Sans SC"/>
                <a:ea typeface="Noto Sans SC"/>
                <a:cs typeface="Noto Sans SC"/>
                <a:sym typeface="Noto Sans SC"/>
              </a:rPr>
              <a:t>患者信息查询 (前台端)</a:t>
            </a:r>
            <a:endParaRPr lang="en-US" sz="1100"/>
          </a:p>
        </p:txBody>
      </p:sp>
      <p:sp>
        <p:nvSpPr>
          <p:cNvPr id="30" name="AutoShape 30"/>
          <p:cNvSpPr/>
          <p:nvPr/>
        </p:nvSpPr>
        <p:spPr>
          <a:xfrm>
            <a:off x="1219200" y="5181600"/>
            <a:ext cx="4826000" cy="508000"/>
          </a:xfrm>
          <a:prstGeom prst="rect">
            <a:avLst/>
          </a:prstGeom>
          <a:noFill/>
          <a:ln w="12700" cap="flat" cmpd="sng">
            <a:noFill/>
            <a:prstDash val="solid"/>
            <a:round/>
          </a:ln>
        </p:spPr>
        <p:txBody>
          <a:bodyPr vert="horz" wrap="square" lIns="0" tIns="0" rIns="0" bIns="0" rtlCol="0" anchor="t" anchorCtr="0"/>
          <a:lstStyle/>
          <a:p>
            <a:pPr indent="0" algn="l">
              <a:lnSpc>
                <a:spcPct val="116666"/>
              </a:lnSpc>
              <a:defRPr/>
            </a:pPr>
            <a:r>
              <a:rPr lang="en-US" sz="1400" b="0" i="0" u="none" strike="noStrike">
                <a:solidFill>
                  <a:srgbClr val="6B7280"/>
                </a:solidFill>
                <a:latin typeface="Noto Sans SC"/>
                <a:ea typeface="Noto Sans SC"/>
                <a:cs typeface="Noto Sans SC"/>
                <a:sym typeface="Noto Sans SC"/>
              </a:rPr>
              <a:t>查询患者的基本信息和就诊历史。</a:t>
            </a:r>
            <a:endParaRPr lang="en-US" sz="1100"/>
          </a:p>
        </p:txBody>
      </p:sp>
      <p:pic>
        <p:nvPicPr>
          <p:cNvPr id="31" name="Picture 31"/>
          <p:cNvPicPr>
            <a:picLocks noChangeAspect="1"/>
          </p:cNvPicPr>
          <p:nvPr/>
        </p:nvPicPr>
        <p:blipFill>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a:off x="6350000" y="4826000"/>
            <a:ext cx="304800" cy="304800"/>
          </a:xfrm>
          <a:prstGeom prst="rect">
            <a:avLst/>
          </a:prstGeom>
        </p:spPr>
      </p:pic>
      <p:sp>
        <p:nvSpPr>
          <p:cNvPr id="32" name="AutoShape 32"/>
          <p:cNvSpPr/>
          <p:nvPr/>
        </p:nvSpPr>
        <p:spPr>
          <a:xfrm>
            <a:off x="6807200" y="4838700"/>
            <a:ext cx="4826000" cy="2794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374151"/>
                </a:solidFill>
                <a:latin typeface="Noto Sans SC"/>
                <a:ea typeface="Noto Sans SC"/>
                <a:cs typeface="Noto Sans SC"/>
                <a:sym typeface="Noto Sans SC"/>
              </a:rPr>
              <a:t>科室管理 (管理员端)</a:t>
            </a:r>
            <a:endParaRPr lang="en-US" sz="1100"/>
          </a:p>
        </p:txBody>
      </p:sp>
      <p:sp>
        <p:nvSpPr>
          <p:cNvPr id="33" name="AutoShape 33"/>
          <p:cNvSpPr/>
          <p:nvPr/>
        </p:nvSpPr>
        <p:spPr>
          <a:xfrm>
            <a:off x="6807200" y="5181600"/>
            <a:ext cx="4826000" cy="508000"/>
          </a:xfrm>
          <a:prstGeom prst="rect">
            <a:avLst/>
          </a:prstGeom>
          <a:noFill/>
          <a:ln w="12700" cap="flat" cmpd="sng">
            <a:noFill/>
            <a:prstDash val="solid"/>
            <a:round/>
          </a:ln>
        </p:spPr>
        <p:txBody>
          <a:bodyPr vert="horz" wrap="square" lIns="0" tIns="0" rIns="0" bIns="0" rtlCol="0" anchor="t" anchorCtr="0"/>
          <a:lstStyle/>
          <a:p>
            <a:pPr indent="0" algn="l">
              <a:lnSpc>
                <a:spcPct val="116666"/>
              </a:lnSpc>
              <a:defRPr/>
            </a:pPr>
            <a:r>
              <a:rPr lang="en-US" sz="1400" b="0" i="0" u="none" strike="noStrike">
                <a:solidFill>
                  <a:srgbClr val="6B7280"/>
                </a:solidFill>
                <a:latin typeface="Noto Sans SC"/>
                <a:ea typeface="Noto Sans SC"/>
                <a:cs typeface="Noto Sans SC"/>
                <a:sym typeface="Noto Sans SC"/>
              </a:rPr>
              <a:t>维护科室和诊室信息。</a:t>
            </a:r>
            <a:endParaRPr lang="en-US" sz="11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5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508000"/>
            <a:ext cx="7620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003366"/>
                </a:solidFill>
                <a:latin typeface="Noto Sans SC"/>
                <a:ea typeface="Noto Sans SC"/>
                <a:cs typeface="Noto Sans SC"/>
                <a:sym typeface="Noto Sans SC"/>
              </a:rPr>
              <a:t>数据库设计 - 概念设计 (E-R图)</a:t>
            </a:r>
            <a:endParaRPr lang="en-US" sz="1100"/>
          </a:p>
        </p:txBody>
      </p:sp>
      <p:cxnSp>
        <p:nvCxnSpPr>
          <p:cNvPr id="3" name="Connector 3"/>
          <p:cNvCxnSpPr/>
          <p:nvPr/>
        </p:nvCxnSpPr>
        <p:spPr>
          <a:xfrm rot="-4092">
            <a:off x="762004" y="1212850"/>
            <a:ext cx="10668000" cy="12700"/>
          </a:xfrm>
          <a:prstGeom prst="straightConnector1">
            <a:avLst/>
          </a:prstGeom>
          <a:solidFill>
            <a:srgbClr val="DEE0E3">
              <a:alpha val="100000"/>
            </a:srgbClr>
          </a:solidFill>
          <a:ln w="12700" cap="flat" cmpd="sng">
            <a:solidFill>
              <a:srgbClr val="E5E7EB">
                <a:alpha val="100000"/>
              </a:srgbClr>
            </a:solidFill>
            <a:prstDash val="solid"/>
            <a:round/>
            <a:headEnd type="none" w="med" len="med"/>
            <a:tailEnd type="none" w="med" len="med"/>
          </a:ln>
        </p:spPr>
      </p:cxnSp>
      <p:cxnSp>
        <p:nvCxnSpPr>
          <p:cNvPr id="5" name="Connector 5"/>
          <p:cNvCxnSpPr/>
          <p:nvPr/>
        </p:nvCxnSpPr>
        <p:spPr>
          <a:xfrm rot="-4092">
            <a:off x="762004" y="4629150"/>
            <a:ext cx="10668000" cy="12700"/>
          </a:xfrm>
          <a:prstGeom prst="straightConnector1">
            <a:avLst/>
          </a:prstGeom>
          <a:solidFill>
            <a:srgbClr val="DEE0E3">
              <a:alpha val="100000"/>
            </a:srgbClr>
          </a:solidFill>
          <a:ln w="12700" cap="flat" cmpd="sng">
            <a:solidFill>
              <a:srgbClr val="E5E7EB">
                <a:alpha val="100000"/>
              </a:srgbClr>
            </a:solidFill>
            <a:prstDash val="dash"/>
            <a:round/>
            <a:headEnd type="none" w="med" len="med"/>
            <a:tailEnd type="none" w="med" len="med"/>
          </a:ln>
        </p:spPr>
      </p:cxnSp>
      <p:sp>
        <p:nvSpPr>
          <p:cNvPr id="6" name="AutoShape 6"/>
          <p:cNvSpPr/>
          <p:nvPr/>
        </p:nvSpPr>
        <p:spPr>
          <a:xfrm>
            <a:off x="762000" y="4889500"/>
            <a:ext cx="5080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003366"/>
                </a:solidFill>
                <a:latin typeface="Noto Sans SC"/>
                <a:ea typeface="Noto Sans SC"/>
                <a:cs typeface="Noto Sans SC"/>
                <a:sym typeface="Noto Sans SC"/>
              </a:rPr>
              <a:t>核心实体</a:t>
            </a:r>
            <a:endParaRPr lang="en-US" sz="1100"/>
          </a:p>
        </p:txBody>
      </p:sp>
      <p:pic>
        <p:nvPicPr>
          <p:cNvPr id="7" name="Picture 7"/>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62000" y="5334000"/>
            <a:ext cx="203200" cy="203200"/>
          </a:xfrm>
          <a:prstGeom prst="rect">
            <a:avLst/>
          </a:prstGeom>
        </p:spPr>
      </p:pic>
      <p:sp>
        <p:nvSpPr>
          <p:cNvPr id="8" name="AutoShape 8"/>
          <p:cNvSpPr/>
          <p:nvPr/>
        </p:nvSpPr>
        <p:spPr>
          <a:xfrm>
            <a:off x="1117600" y="5334000"/>
            <a:ext cx="4572000" cy="254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374151"/>
                </a:solidFill>
                <a:latin typeface="Noto Sans SC"/>
                <a:ea typeface="Noto Sans SC"/>
                <a:cs typeface="Noto Sans SC"/>
                <a:sym typeface="Noto Sans SC"/>
              </a:rPr>
              <a:t>员工 (Staff)、预约 (Appointments)</a:t>
            </a:r>
            <a:endParaRPr lang="en-US" sz="1100"/>
          </a:p>
        </p:txBody>
      </p:sp>
      <p:pic>
        <p:nvPicPr>
          <p:cNvPr id="9" name="Picture 9"/>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762000" y="5778500"/>
            <a:ext cx="203200" cy="203200"/>
          </a:xfrm>
          <a:prstGeom prst="rect">
            <a:avLst/>
          </a:prstGeom>
        </p:spPr>
      </p:pic>
      <p:sp>
        <p:nvSpPr>
          <p:cNvPr id="10" name="AutoShape 10"/>
          <p:cNvSpPr/>
          <p:nvPr/>
        </p:nvSpPr>
        <p:spPr>
          <a:xfrm>
            <a:off x="1117600" y="5778500"/>
            <a:ext cx="4572000" cy="254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374151"/>
                </a:solidFill>
                <a:latin typeface="Noto Sans SC"/>
                <a:ea typeface="Noto Sans SC"/>
                <a:cs typeface="Noto Sans SC"/>
                <a:sym typeface="Noto Sans SC"/>
              </a:rPr>
              <a:t>就诊 (Consultations)、支付 (Payments)</a:t>
            </a:r>
            <a:endParaRPr lang="en-US" sz="1100"/>
          </a:p>
        </p:txBody>
      </p:sp>
      <p:cxnSp>
        <p:nvCxnSpPr>
          <p:cNvPr id="11" name="Connector 11"/>
          <p:cNvCxnSpPr/>
          <p:nvPr/>
        </p:nvCxnSpPr>
        <p:spPr>
          <a:xfrm rot="5363814">
            <a:off x="5492750" y="5486433"/>
            <a:ext cx="1206500" cy="12700"/>
          </a:xfrm>
          <a:prstGeom prst="straightConnector1">
            <a:avLst/>
          </a:prstGeom>
          <a:solidFill>
            <a:srgbClr val="DEE0E3">
              <a:alpha val="100000"/>
            </a:srgbClr>
          </a:solidFill>
          <a:ln w="12700" cap="flat" cmpd="sng">
            <a:solidFill>
              <a:srgbClr val="E5E7EB">
                <a:alpha val="100000"/>
              </a:srgbClr>
            </a:solidFill>
            <a:prstDash val="solid"/>
            <a:round/>
            <a:headEnd type="none" w="med" len="med"/>
            <a:tailEnd type="none" w="med" len="med"/>
          </a:ln>
        </p:spPr>
      </p:cxnSp>
      <p:sp>
        <p:nvSpPr>
          <p:cNvPr id="12" name="AutoShape 12"/>
          <p:cNvSpPr/>
          <p:nvPr/>
        </p:nvSpPr>
        <p:spPr>
          <a:xfrm>
            <a:off x="6477000" y="4889500"/>
            <a:ext cx="5080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003366"/>
                </a:solidFill>
                <a:latin typeface="Noto Sans SC"/>
                <a:ea typeface="Noto Sans SC"/>
                <a:cs typeface="Noto Sans SC"/>
                <a:sym typeface="Noto Sans SC"/>
              </a:rPr>
              <a:t>实体关系</a:t>
            </a:r>
            <a:endParaRPr lang="en-US" sz="1100"/>
          </a:p>
        </p:txBody>
      </p:sp>
      <p:pic>
        <p:nvPicPr>
          <p:cNvPr id="13" name="Picture 13"/>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477000" y="5334000"/>
            <a:ext cx="203200" cy="203200"/>
          </a:xfrm>
          <a:prstGeom prst="rect">
            <a:avLst/>
          </a:prstGeom>
        </p:spPr>
      </p:pic>
      <p:sp>
        <p:nvSpPr>
          <p:cNvPr id="14" name="AutoShape 14"/>
          <p:cNvSpPr/>
          <p:nvPr/>
        </p:nvSpPr>
        <p:spPr>
          <a:xfrm>
            <a:off x="6832600" y="5334000"/>
            <a:ext cx="4826000" cy="254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374151"/>
                </a:solidFill>
                <a:latin typeface="Noto Sans SC"/>
                <a:ea typeface="Noto Sans SC"/>
                <a:cs typeface="Noto Sans SC"/>
                <a:sym typeface="Noto Sans SC"/>
              </a:rPr>
              <a:t>员工与就诊 (1:N)，预约与就诊 (1:1)</a:t>
            </a:r>
            <a:endParaRPr lang="en-US" sz="1100"/>
          </a:p>
        </p:txBody>
      </p:sp>
      <p:pic>
        <p:nvPicPr>
          <p:cNvPr id="15" name="Picture 15"/>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477000" y="5778500"/>
            <a:ext cx="203200" cy="203200"/>
          </a:xfrm>
          <a:prstGeom prst="rect">
            <a:avLst/>
          </a:prstGeom>
        </p:spPr>
      </p:pic>
      <p:sp>
        <p:nvSpPr>
          <p:cNvPr id="16" name="AutoShape 16"/>
          <p:cNvSpPr/>
          <p:nvPr/>
        </p:nvSpPr>
        <p:spPr>
          <a:xfrm>
            <a:off x="6832600" y="5778500"/>
            <a:ext cx="4826000" cy="254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374151"/>
                </a:solidFill>
                <a:latin typeface="Noto Sans SC"/>
                <a:ea typeface="Noto Sans SC"/>
                <a:cs typeface="Noto Sans SC"/>
                <a:sym typeface="Noto Sans SC"/>
              </a:rPr>
              <a:t>就诊与支付 (1:N)</a:t>
            </a:r>
            <a:endParaRPr lang="en-US" sz="1100"/>
          </a:p>
        </p:txBody>
      </p:sp>
      <p:pic>
        <p:nvPicPr>
          <p:cNvPr id="1028" name="Picture 4">
            <a:extLst>
              <a:ext uri="{FF2B5EF4-FFF2-40B4-BE49-F238E27FC236}">
                <a16:creationId xmlns:a16="http://schemas.microsoft.com/office/drawing/2014/main" id="{0C399B72-FF4E-E1D1-9796-D8E483EE7BDC}"/>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148973" y="1270000"/>
            <a:ext cx="7919454" cy="3232746"/>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5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508000"/>
            <a:ext cx="7620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600" b="1" i="0" u="none" strike="noStrike">
                <a:solidFill>
                  <a:srgbClr val="003366"/>
                </a:solidFill>
                <a:latin typeface="Noto Sans SC"/>
                <a:ea typeface="Noto Sans SC"/>
                <a:cs typeface="Noto Sans SC"/>
                <a:sym typeface="Noto Sans SC"/>
              </a:rPr>
              <a:t>数据库设计 - 逻辑设计</a:t>
            </a:r>
            <a:endParaRPr lang="en-US" sz="1100"/>
          </a:p>
        </p:txBody>
      </p:sp>
      <p:cxnSp>
        <p:nvCxnSpPr>
          <p:cNvPr id="3" name="Connector 3"/>
          <p:cNvCxnSpPr/>
          <p:nvPr/>
        </p:nvCxnSpPr>
        <p:spPr>
          <a:xfrm rot="-4092">
            <a:off x="762004" y="1212850"/>
            <a:ext cx="10668000" cy="12700"/>
          </a:xfrm>
          <a:prstGeom prst="straightConnector1">
            <a:avLst/>
          </a:prstGeom>
          <a:solidFill>
            <a:srgbClr val="DEE0E3">
              <a:alpha val="100000"/>
            </a:srgbClr>
          </a:solidFill>
          <a:ln w="12700" cap="flat" cmpd="sng">
            <a:solidFill>
              <a:srgbClr val="E5E7EB">
                <a:alpha val="100000"/>
              </a:srgbClr>
            </a:solidFill>
            <a:prstDash val="solid"/>
            <a:round/>
            <a:headEnd type="none" w="med" len="med"/>
            <a:tailEnd type="none" w="med" len="med"/>
          </a:ln>
        </p:spPr>
      </p:cxnSp>
      <p:sp>
        <p:nvSpPr>
          <p:cNvPr id="4" name="AutoShape 4"/>
          <p:cNvSpPr/>
          <p:nvPr/>
        </p:nvSpPr>
        <p:spPr>
          <a:xfrm>
            <a:off x="762000" y="1651000"/>
            <a:ext cx="2476500" cy="2286000"/>
          </a:xfrm>
          <a:prstGeom prst="roundRect">
            <a:avLst>
              <a:gd name="adj" fmla="val 4444"/>
            </a:avLst>
          </a:prstGeom>
          <a:solidFill>
            <a:srgbClr val="FFFFFF">
              <a:alpha val="100000"/>
            </a:srgbClr>
          </a:solidFill>
          <a:ln w="12700" cap="flat" cmpd="sng">
            <a:solidFill>
              <a:srgbClr val="E5E7EB">
                <a:alpha val="100000"/>
              </a:srgbClr>
            </a:solidFill>
            <a:prstDash val="solid"/>
            <a:round/>
          </a:ln>
          <a:effectLst>
            <a:outerShdw blurRad="127000" dir="5400000" algn="tl" rotWithShape="0">
              <a:srgbClr val="000000">
                <a:alpha val="5000"/>
              </a:srgbClr>
            </a:outerShdw>
          </a:effectLst>
        </p:spPr>
        <p:txBody>
          <a:bodyPr vert="horz" wrap="square" lIns="63500" tIns="63500" rIns="63500" bIns="63500" rtlCol="0" anchor="ctr"/>
          <a:lstStyle/>
          <a:p>
            <a:pPr algn="ctr">
              <a:defRPr/>
            </a:pPr>
            <a:endParaRPr/>
          </a:p>
        </p:txBody>
      </p:sp>
      <p:pic>
        <p:nvPicPr>
          <p:cNvPr id="5" name="Picture 5"/>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16000" y="1905000"/>
            <a:ext cx="406400" cy="406400"/>
          </a:xfrm>
          <a:prstGeom prst="rect">
            <a:avLst/>
          </a:prstGeom>
        </p:spPr>
      </p:pic>
      <p:sp>
        <p:nvSpPr>
          <p:cNvPr id="6" name="AutoShape 6"/>
          <p:cNvSpPr/>
          <p:nvPr/>
        </p:nvSpPr>
        <p:spPr>
          <a:xfrm>
            <a:off x="1016000" y="2463800"/>
            <a:ext cx="19685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003366"/>
                </a:solidFill>
                <a:latin typeface="Noto Sans SC"/>
                <a:ea typeface="Noto Sans SC"/>
                <a:cs typeface="Noto Sans SC"/>
                <a:sym typeface="Noto Sans SC"/>
              </a:rPr>
              <a:t>STAFF (员工表)</a:t>
            </a:r>
            <a:endParaRPr lang="en-US" sz="1100"/>
          </a:p>
        </p:txBody>
      </p:sp>
      <p:sp>
        <p:nvSpPr>
          <p:cNvPr id="7" name="AutoShape 7"/>
          <p:cNvSpPr/>
          <p:nvPr/>
        </p:nvSpPr>
        <p:spPr>
          <a:xfrm>
            <a:off x="1016000" y="2870200"/>
            <a:ext cx="1968500" cy="558800"/>
          </a:xfrm>
          <a:prstGeom prst="rect">
            <a:avLst/>
          </a:prstGeom>
          <a:noFill/>
          <a:ln w="12700" cap="flat" cmpd="sng">
            <a:noFill/>
            <a:prstDash val="solid"/>
            <a:round/>
          </a:ln>
        </p:spPr>
        <p:txBody>
          <a:bodyPr vert="horz" wrap="square" lIns="0" tIns="0" rIns="0" bIns="0" rtlCol="0" anchor="t" anchorCtr="0"/>
          <a:lstStyle/>
          <a:p>
            <a:pPr indent="0" algn="l">
              <a:lnSpc>
                <a:spcPct val="116666"/>
              </a:lnSpc>
              <a:defRPr/>
            </a:pPr>
            <a:r>
              <a:rPr lang="en-US" sz="1400" b="0" i="0" u="none" strike="noStrike">
                <a:solidFill>
                  <a:srgbClr val="6B7280"/>
                </a:solidFill>
                <a:latin typeface="Noto Sans SC"/>
                <a:ea typeface="Noto Sans SC"/>
                <a:cs typeface="Noto Sans SC"/>
                <a:sym typeface="Noto Sans SC"/>
              </a:rPr>
              <a:t>存储医院员工的基本信息。</a:t>
            </a:r>
            <a:endParaRPr lang="en-US" sz="1100"/>
          </a:p>
        </p:txBody>
      </p:sp>
      <p:sp>
        <p:nvSpPr>
          <p:cNvPr id="8" name="AutoShape 8"/>
          <p:cNvSpPr/>
          <p:nvPr/>
        </p:nvSpPr>
        <p:spPr>
          <a:xfrm>
            <a:off x="3492500" y="1651000"/>
            <a:ext cx="2476500" cy="2286000"/>
          </a:xfrm>
          <a:prstGeom prst="roundRect">
            <a:avLst>
              <a:gd name="adj" fmla="val 4444"/>
            </a:avLst>
          </a:prstGeom>
          <a:solidFill>
            <a:srgbClr val="FFFFFF">
              <a:alpha val="100000"/>
            </a:srgbClr>
          </a:solidFill>
          <a:ln w="12700" cap="flat" cmpd="sng">
            <a:solidFill>
              <a:srgbClr val="E5E7EB">
                <a:alpha val="100000"/>
              </a:srgbClr>
            </a:solidFill>
            <a:prstDash val="solid"/>
            <a:round/>
          </a:ln>
          <a:effectLst>
            <a:outerShdw blurRad="127000" dir="5400000" algn="tl" rotWithShape="0">
              <a:srgbClr val="000000">
                <a:alpha val="5000"/>
              </a:srgbClr>
            </a:outerShdw>
          </a:effectLst>
        </p:spPr>
        <p:txBody>
          <a:bodyPr vert="horz" wrap="square" lIns="63500" tIns="63500" rIns="63500" bIns="63500" rtlCol="0" anchor="ctr"/>
          <a:lstStyle/>
          <a:p>
            <a:pPr algn="ctr">
              <a:defRPr/>
            </a:pPr>
            <a:endParaRPr/>
          </a:p>
        </p:txBody>
      </p:sp>
      <p:pic>
        <p:nvPicPr>
          <p:cNvPr id="9" name="Picture 9"/>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3746500" y="1905000"/>
            <a:ext cx="406400" cy="406400"/>
          </a:xfrm>
          <a:prstGeom prst="rect">
            <a:avLst/>
          </a:prstGeom>
        </p:spPr>
      </p:pic>
      <p:sp>
        <p:nvSpPr>
          <p:cNvPr id="10" name="AutoShape 10"/>
          <p:cNvSpPr/>
          <p:nvPr/>
        </p:nvSpPr>
        <p:spPr>
          <a:xfrm>
            <a:off x="3746500" y="2463800"/>
            <a:ext cx="19685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003366"/>
                </a:solidFill>
                <a:latin typeface="Noto Sans SC"/>
                <a:ea typeface="Noto Sans SC"/>
                <a:cs typeface="Noto Sans SC"/>
                <a:sym typeface="Noto Sans SC"/>
              </a:rPr>
              <a:t>APPOINTMENTS (预约表)</a:t>
            </a:r>
            <a:endParaRPr lang="en-US" sz="1100"/>
          </a:p>
        </p:txBody>
      </p:sp>
      <p:sp>
        <p:nvSpPr>
          <p:cNvPr id="11" name="AutoShape 11"/>
          <p:cNvSpPr/>
          <p:nvPr/>
        </p:nvSpPr>
        <p:spPr>
          <a:xfrm>
            <a:off x="3746500" y="2870200"/>
            <a:ext cx="1968500" cy="558800"/>
          </a:xfrm>
          <a:prstGeom prst="rect">
            <a:avLst/>
          </a:prstGeom>
          <a:noFill/>
          <a:ln w="12700" cap="flat" cmpd="sng">
            <a:noFill/>
            <a:prstDash val="solid"/>
            <a:round/>
          </a:ln>
        </p:spPr>
        <p:txBody>
          <a:bodyPr vert="horz" wrap="square" lIns="0" tIns="0" rIns="0" bIns="0" rtlCol="0" anchor="t" anchorCtr="0"/>
          <a:lstStyle/>
          <a:p>
            <a:pPr indent="0" algn="l">
              <a:lnSpc>
                <a:spcPct val="116666"/>
              </a:lnSpc>
              <a:defRPr/>
            </a:pPr>
            <a:r>
              <a:rPr lang="en-US" sz="1400" b="0" i="0" u="none" strike="noStrike">
                <a:solidFill>
                  <a:srgbClr val="6B7280"/>
                </a:solidFill>
                <a:latin typeface="Noto Sans SC"/>
                <a:ea typeface="Noto Sans SC"/>
                <a:cs typeface="Noto Sans SC"/>
                <a:sym typeface="Noto Sans SC"/>
              </a:rPr>
              <a:t>存储患者的预约记录。</a:t>
            </a:r>
            <a:endParaRPr lang="en-US" sz="1100"/>
          </a:p>
        </p:txBody>
      </p:sp>
      <p:sp>
        <p:nvSpPr>
          <p:cNvPr id="12" name="AutoShape 12"/>
          <p:cNvSpPr/>
          <p:nvPr/>
        </p:nvSpPr>
        <p:spPr>
          <a:xfrm>
            <a:off x="6223000" y="1651000"/>
            <a:ext cx="2476500" cy="2286000"/>
          </a:xfrm>
          <a:prstGeom prst="roundRect">
            <a:avLst>
              <a:gd name="adj" fmla="val 4444"/>
            </a:avLst>
          </a:prstGeom>
          <a:solidFill>
            <a:srgbClr val="FFFFFF">
              <a:alpha val="100000"/>
            </a:srgbClr>
          </a:solidFill>
          <a:ln w="12700" cap="flat" cmpd="sng">
            <a:solidFill>
              <a:srgbClr val="E5E7EB">
                <a:alpha val="100000"/>
              </a:srgbClr>
            </a:solidFill>
            <a:prstDash val="solid"/>
            <a:round/>
          </a:ln>
          <a:effectLst>
            <a:outerShdw blurRad="127000" dir="5400000" algn="tl" rotWithShape="0">
              <a:srgbClr val="000000">
                <a:alpha val="5000"/>
              </a:srgbClr>
            </a:outerShdw>
          </a:effectLst>
        </p:spPr>
        <p:txBody>
          <a:bodyPr vert="horz" wrap="square" lIns="63500" tIns="63500" rIns="63500" bIns="63500" rtlCol="0" anchor="ctr"/>
          <a:lstStyle/>
          <a:p>
            <a:pPr algn="ctr">
              <a:defRPr/>
            </a:pPr>
            <a:endParaRPr/>
          </a:p>
        </p:txBody>
      </p:sp>
      <p:pic>
        <p:nvPicPr>
          <p:cNvPr id="13" name="Picture 13"/>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477000" y="1905000"/>
            <a:ext cx="406400" cy="406400"/>
          </a:xfrm>
          <a:prstGeom prst="rect">
            <a:avLst/>
          </a:prstGeom>
        </p:spPr>
      </p:pic>
      <p:sp>
        <p:nvSpPr>
          <p:cNvPr id="14" name="AutoShape 14"/>
          <p:cNvSpPr/>
          <p:nvPr/>
        </p:nvSpPr>
        <p:spPr>
          <a:xfrm>
            <a:off x="6477000" y="2463800"/>
            <a:ext cx="19685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003366"/>
                </a:solidFill>
                <a:latin typeface="Noto Sans SC"/>
                <a:ea typeface="Noto Sans SC"/>
                <a:cs typeface="Noto Sans SC"/>
                <a:sym typeface="Noto Sans SC"/>
              </a:rPr>
              <a:t>CONSULTATIONS (就诊记录)</a:t>
            </a:r>
            <a:endParaRPr lang="en-US" sz="1100"/>
          </a:p>
        </p:txBody>
      </p:sp>
      <p:sp>
        <p:nvSpPr>
          <p:cNvPr id="15" name="AutoShape 15"/>
          <p:cNvSpPr/>
          <p:nvPr/>
        </p:nvSpPr>
        <p:spPr>
          <a:xfrm>
            <a:off x="6477000" y="2870200"/>
            <a:ext cx="1968500" cy="558800"/>
          </a:xfrm>
          <a:prstGeom prst="rect">
            <a:avLst/>
          </a:prstGeom>
          <a:noFill/>
          <a:ln w="12700" cap="flat" cmpd="sng">
            <a:noFill/>
            <a:prstDash val="solid"/>
            <a:round/>
          </a:ln>
        </p:spPr>
        <p:txBody>
          <a:bodyPr vert="horz" wrap="square" lIns="0" tIns="0" rIns="0" bIns="0" rtlCol="0" anchor="t" anchorCtr="0"/>
          <a:lstStyle/>
          <a:p>
            <a:pPr indent="0" algn="l">
              <a:lnSpc>
                <a:spcPct val="116666"/>
              </a:lnSpc>
              <a:defRPr/>
            </a:pPr>
            <a:r>
              <a:rPr lang="en-US" sz="1400" b="0" i="0" u="none" strike="noStrike">
                <a:solidFill>
                  <a:srgbClr val="6B7280"/>
                </a:solidFill>
                <a:latin typeface="Noto Sans SC"/>
                <a:ea typeface="Noto Sans SC"/>
                <a:cs typeface="Noto Sans SC"/>
                <a:sym typeface="Noto Sans SC"/>
              </a:rPr>
              <a:t>存储患者的实际就诊信息。</a:t>
            </a:r>
            <a:endParaRPr lang="en-US" sz="1100"/>
          </a:p>
        </p:txBody>
      </p:sp>
      <p:sp>
        <p:nvSpPr>
          <p:cNvPr id="16" name="AutoShape 16"/>
          <p:cNvSpPr/>
          <p:nvPr/>
        </p:nvSpPr>
        <p:spPr>
          <a:xfrm>
            <a:off x="8953500" y="1651000"/>
            <a:ext cx="2476500" cy="2286000"/>
          </a:xfrm>
          <a:prstGeom prst="roundRect">
            <a:avLst>
              <a:gd name="adj" fmla="val 4444"/>
            </a:avLst>
          </a:prstGeom>
          <a:solidFill>
            <a:srgbClr val="FFFFFF">
              <a:alpha val="100000"/>
            </a:srgbClr>
          </a:solidFill>
          <a:ln w="12700" cap="flat" cmpd="sng">
            <a:solidFill>
              <a:srgbClr val="E5E7EB">
                <a:alpha val="100000"/>
              </a:srgbClr>
            </a:solidFill>
            <a:prstDash val="solid"/>
            <a:round/>
          </a:ln>
          <a:effectLst>
            <a:outerShdw blurRad="127000" dir="5400000" algn="tl" rotWithShape="0">
              <a:srgbClr val="000000">
                <a:alpha val="5000"/>
              </a:srgbClr>
            </a:outerShdw>
          </a:effectLst>
        </p:spPr>
        <p:txBody>
          <a:bodyPr vert="horz" wrap="square" lIns="63500" tIns="63500" rIns="63500" bIns="63500" rtlCol="0" anchor="ctr"/>
          <a:lstStyle/>
          <a:p>
            <a:pPr algn="ctr">
              <a:defRPr/>
            </a:pPr>
            <a:endParaRPr/>
          </a:p>
        </p:txBody>
      </p:sp>
      <p:pic>
        <p:nvPicPr>
          <p:cNvPr id="17" name="Picture 17"/>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9207500" y="1905000"/>
            <a:ext cx="406400" cy="406400"/>
          </a:xfrm>
          <a:prstGeom prst="rect">
            <a:avLst/>
          </a:prstGeom>
        </p:spPr>
      </p:pic>
      <p:sp>
        <p:nvSpPr>
          <p:cNvPr id="18" name="AutoShape 18"/>
          <p:cNvSpPr/>
          <p:nvPr/>
        </p:nvSpPr>
        <p:spPr>
          <a:xfrm>
            <a:off x="9207500" y="2463800"/>
            <a:ext cx="19685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003366"/>
                </a:solidFill>
                <a:latin typeface="Noto Sans SC"/>
                <a:ea typeface="Noto Sans SC"/>
                <a:cs typeface="Noto Sans SC"/>
                <a:sym typeface="Noto Sans SC"/>
              </a:rPr>
              <a:t>PAYMENTS (支付表)</a:t>
            </a:r>
            <a:endParaRPr lang="en-US" sz="1100"/>
          </a:p>
        </p:txBody>
      </p:sp>
      <p:sp>
        <p:nvSpPr>
          <p:cNvPr id="19" name="AutoShape 19"/>
          <p:cNvSpPr/>
          <p:nvPr/>
        </p:nvSpPr>
        <p:spPr>
          <a:xfrm>
            <a:off x="9207500" y="2870200"/>
            <a:ext cx="1968500" cy="558800"/>
          </a:xfrm>
          <a:prstGeom prst="rect">
            <a:avLst/>
          </a:prstGeom>
          <a:noFill/>
          <a:ln w="12700" cap="flat" cmpd="sng">
            <a:noFill/>
            <a:prstDash val="solid"/>
            <a:round/>
          </a:ln>
        </p:spPr>
        <p:txBody>
          <a:bodyPr vert="horz" wrap="square" lIns="0" tIns="0" rIns="0" bIns="0" rtlCol="0" anchor="t" anchorCtr="0"/>
          <a:lstStyle/>
          <a:p>
            <a:pPr indent="0" algn="l">
              <a:lnSpc>
                <a:spcPct val="116666"/>
              </a:lnSpc>
              <a:defRPr/>
            </a:pPr>
            <a:r>
              <a:rPr lang="en-US" sz="1400" b="0" i="0" u="none" strike="noStrike">
                <a:solidFill>
                  <a:srgbClr val="6B7280"/>
                </a:solidFill>
                <a:latin typeface="Noto Sans SC"/>
                <a:ea typeface="Noto Sans SC"/>
                <a:cs typeface="Noto Sans SC"/>
                <a:sym typeface="Noto Sans SC"/>
              </a:rPr>
              <a:t>存储患者的缴费记录。</a:t>
            </a:r>
            <a:endParaRPr lang="en-US" sz="1100"/>
          </a:p>
        </p:txBody>
      </p:sp>
      <p:sp>
        <p:nvSpPr>
          <p:cNvPr id="20" name="AutoShape 20"/>
          <p:cNvSpPr/>
          <p:nvPr/>
        </p:nvSpPr>
        <p:spPr>
          <a:xfrm>
            <a:off x="762000" y="4318000"/>
            <a:ext cx="10668000" cy="1016000"/>
          </a:xfrm>
          <a:prstGeom prst="roundRect">
            <a:avLst>
              <a:gd name="adj" fmla="val 10000"/>
            </a:avLst>
          </a:prstGeom>
          <a:solidFill>
            <a:srgbClr val="4A90E2">
              <a:alpha val="10000"/>
            </a:srgbClr>
          </a:solidFill>
          <a:ln w="12700" cap="flat" cmpd="sng">
            <a:solidFill>
              <a:srgbClr val="4A90E2">
                <a:alpha val="100000"/>
              </a:srgbClr>
            </a:solidFill>
            <a:prstDash val="dash"/>
            <a:round/>
          </a:ln>
        </p:spPr>
        <p:txBody>
          <a:bodyPr vert="horz" wrap="square" lIns="63500" tIns="63500" rIns="63500" bIns="63500" rtlCol="0" anchor="ctr"/>
          <a:lstStyle/>
          <a:p>
            <a:pPr algn="ctr">
              <a:defRPr/>
            </a:pPr>
            <a:endParaRPr/>
          </a:p>
        </p:txBody>
      </p:sp>
      <p:pic>
        <p:nvPicPr>
          <p:cNvPr id="21" name="Picture 21"/>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1066800" y="4673600"/>
            <a:ext cx="304800" cy="304800"/>
          </a:xfrm>
          <a:prstGeom prst="rect">
            <a:avLst/>
          </a:prstGeom>
        </p:spPr>
      </p:pic>
      <p:sp>
        <p:nvSpPr>
          <p:cNvPr id="22" name="AutoShape 22"/>
          <p:cNvSpPr/>
          <p:nvPr/>
        </p:nvSpPr>
        <p:spPr>
          <a:xfrm>
            <a:off x="1574800" y="4546600"/>
            <a:ext cx="9144000" cy="558800"/>
          </a:xfrm>
          <a:prstGeom prst="rect">
            <a:avLst/>
          </a:prstGeom>
          <a:noFill/>
          <a:ln w="12700" cap="flat" cmpd="sng">
            <a:noFill/>
            <a:prstDash val="solid"/>
            <a:round/>
          </a:ln>
        </p:spPr>
        <p:txBody>
          <a:bodyPr vert="horz" wrap="square" lIns="0" tIns="0" rIns="0" bIns="0" rtlCol="0" anchor="ctr" anchorCtr="0"/>
          <a:lstStyle/>
          <a:p>
            <a:pPr indent="0" algn="l">
              <a:lnSpc>
                <a:spcPct val="116666"/>
              </a:lnSpc>
              <a:defRPr/>
            </a:pPr>
            <a:r>
              <a:rPr lang="en-US" sz="1400" b="0" i="0" u="none" strike="noStrike">
                <a:solidFill>
                  <a:srgbClr val="003366"/>
                </a:solidFill>
                <a:latin typeface="Noto Sans SC"/>
                <a:ea typeface="Noto Sans SC"/>
                <a:cs typeface="Noto Sans SC"/>
                <a:sym typeface="Noto Sans SC"/>
              </a:rPr>
              <a:t>这四个核心表构成了医院信息系统的基础，通过外键关联，实现了数据的完整性和业务流程的闭环管理。</a:t>
            </a:r>
            <a:endParaRPr lang="en-US" sz="110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5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508000"/>
            <a:ext cx="10668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003366"/>
                </a:solidFill>
                <a:latin typeface="Noto Sans SC"/>
                <a:ea typeface="Noto Sans SC"/>
                <a:cs typeface="Noto Sans SC"/>
                <a:sym typeface="Noto Sans SC"/>
              </a:rPr>
              <a:t>数据库设计 - 物理设计 - STAFF表</a:t>
            </a:r>
            <a:endParaRPr lang="en-US" sz="1100"/>
          </a:p>
        </p:txBody>
      </p:sp>
      <p:cxnSp>
        <p:nvCxnSpPr>
          <p:cNvPr id="3" name="Connector 3"/>
          <p:cNvCxnSpPr/>
          <p:nvPr/>
        </p:nvCxnSpPr>
        <p:spPr>
          <a:xfrm rot="-4092">
            <a:off x="762004" y="1212850"/>
            <a:ext cx="10668000" cy="12700"/>
          </a:xfrm>
          <a:prstGeom prst="straightConnector1">
            <a:avLst/>
          </a:prstGeom>
          <a:solidFill>
            <a:srgbClr val="DEE0E3">
              <a:alpha val="100000"/>
            </a:srgbClr>
          </a:solidFill>
          <a:ln w="12700" cap="flat" cmpd="sng">
            <a:solidFill>
              <a:srgbClr val="E5E7EB">
                <a:alpha val="100000"/>
              </a:srgbClr>
            </a:solidFill>
            <a:prstDash val="solid"/>
            <a:round/>
            <a:headEnd type="none" w="med" len="med"/>
            <a:tailEnd type="none" w="med" len="med"/>
          </a:ln>
        </p:spPr>
      </p:cxnSp>
      <p:graphicFrame>
        <p:nvGraphicFramePr>
          <p:cNvPr id="4" name="Table 4"/>
          <p:cNvGraphicFramePr>
            <a:graphicFrameLocks noGrp="1"/>
          </p:cNvGraphicFramePr>
          <p:nvPr/>
        </p:nvGraphicFramePr>
        <p:xfrm>
          <a:off x="762000" y="1524000"/>
          <a:ext cx="10668000" cy="4267200"/>
        </p:xfrm>
        <a:graphic>
          <a:graphicData uri="http://schemas.openxmlformats.org/drawingml/2006/table">
            <a:tbl>
              <a:tblPr>
                <a:effectLst/>
              </a:tblPr>
              <a:tblGrid>
                <a:gridCol w="2032000">
                  <a:extLst>
                    <a:ext uri="{9D8B030D-6E8A-4147-A177-3AD203B41FA5}">
                      <a16:colId xmlns:a16="http://schemas.microsoft.com/office/drawing/2014/main" val="20000"/>
                    </a:ext>
                  </a:extLst>
                </a:gridCol>
                <a:gridCol w="2032000">
                  <a:extLst>
                    <a:ext uri="{9D8B030D-6E8A-4147-A177-3AD203B41FA5}">
                      <a16:colId xmlns:a16="http://schemas.microsoft.com/office/drawing/2014/main" val="20001"/>
                    </a:ext>
                  </a:extLst>
                </a:gridCol>
                <a:gridCol w="2032000">
                  <a:extLst>
                    <a:ext uri="{9D8B030D-6E8A-4147-A177-3AD203B41FA5}">
                      <a16:colId xmlns:a16="http://schemas.microsoft.com/office/drawing/2014/main" val="20002"/>
                    </a:ext>
                  </a:extLst>
                </a:gridCol>
                <a:gridCol w="2540000">
                  <a:extLst>
                    <a:ext uri="{9D8B030D-6E8A-4147-A177-3AD203B41FA5}">
                      <a16:colId xmlns:a16="http://schemas.microsoft.com/office/drawing/2014/main" val="20003"/>
                    </a:ext>
                  </a:extLst>
                </a:gridCol>
                <a:gridCol w="2032000">
                  <a:extLst>
                    <a:ext uri="{9D8B030D-6E8A-4147-A177-3AD203B41FA5}">
                      <a16:colId xmlns:a16="http://schemas.microsoft.com/office/drawing/2014/main" val="20004"/>
                    </a:ext>
                  </a:extLst>
                </a:gridCol>
              </a:tblGrid>
              <a:tr h="609600">
                <a:tc>
                  <a:txBody>
                    <a:bodyPr/>
                    <a:lstStyle/>
                    <a:p>
                      <a:pPr indent="0" algn="ctr">
                        <a:lnSpc>
                          <a:spcPct val="100000"/>
                        </a:lnSpc>
                        <a:defRPr/>
                      </a:pPr>
                      <a:r>
                        <a:rPr lang="en-US" sz="1600" b="1" i="0" u="none" strike="noStrike">
                          <a:solidFill>
                            <a:srgbClr val="FFFFFF"/>
                          </a:solidFill>
                          <a:latin typeface="Noto Sans SC"/>
                          <a:ea typeface="Noto Sans SC"/>
                          <a:cs typeface="Noto Sans SC"/>
                          <a:sym typeface="Noto Sans SC"/>
                        </a:rPr>
                        <a:t>字段名</a:t>
                      </a:r>
                      <a:endParaRPr lang="en-US" sz="1100"/>
                    </a:p>
                  </a:txBody>
                  <a:tcPr marL="101600" marR="101600" marT="101600" marB="101600" anchor="ctr">
                    <a:lnL w="12700" cap="flat" cmpd="sng" algn="ctr">
                      <a:solidFill>
                        <a:srgbClr val="003366"/>
                      </a:solidFill>
                      <a:prstDash val="solid"/>
                      <a:round/>
                      <a:headEnd type="none" w="med" len="med"/>
                      <a:tailEnd type="none" w="med" len="med"/>
                    </a:lnL>
                    <a:lnR>
                      <a:noFill/>
                    </a:lnR>
                    <a:lnT w="12700" cap="flat" cmpd="sng" algn="ctr">
                      <a:solidFill>
                        <a:srgbClr val="003366"/>
                      </a:solidFill>
                      <a:prstDash val="solid"/>
                      <a:round/>
                      <a:headEnd type="none" w="med" len="med"/>
                      <a:tailEnd type="none" w="med" len="med"/>
                    </a:lnT>
                    <a:lnB w="12700" cap="flat" cmpd="sng" algn="ctr">
                      <a:solidFill>
                        <a:srgbClr val="003366"/>
                      </a:solidFill>
                      <a:prstDash val="solid"/>
                      <a:round/>
                      <a:headEnd type="none" w="med" len="med"/>
                      <a:tailEnd type="none" w="med" len="med"/>
                    </a:lnB>
                    <a:solidFill>
                      <a:srgbClr val="003366">
                        <a:alpha val="100000"/>
                      </a:srgbClr>
                    </a:solidFill>
                  </a:tcPr>
                </a:tc>
                <a:tc>
                  <a:txBody>
                    <a:bodyPr/>
                    <a:lstStyle/>
                    <a:p>
                      <a:pPr indent="0" algn="ctr">
                        <a:lnSpc>
                          <a:spcPct val="100000"/>
                        </a:lnSpc>
                        <a:defRPr/>
                      </a:pPr>
                      <a:r>
                        <a:rPr lang="en-US" sz="1600" b="1" i="0" u="none" strike="noStrike">
                          <a:solidFill>
                            <a:srgbClr val="FFFFFF"/>
                          </a:solidFill>
                          <a:latin typeface="Noto Sans SC"/>
                          <a:ea typeface="Noto Sans SC"/>
                          <a:cs typeface="Noto Sans SC"/>
                          <a:sym typeface="Noto Sans SC"/>
                        </a:rPr>
                        <a:t>数据类型</a:t>
                      </a:r>
                      <a:endParaRPr lang="en-US" sz="1100"/>
                    </a:p>
                  </a:txBody>
                  <a:tcPr marL="101600" marR="101600" marT="101600" marB="101600" anchor="ctr">
                    <a:lnL>
                      <a:noFill/>
                    </a:lnL>
                    <a:lnR>
                      <a:noFill/>
                    </a:lnR>
                    <a:lnT w="12700" cap="flat" cmpd="sng" algn="ctr">
                      <a:solidFill>
                        <a:srgbClr val="003366"/>
                      </a:solidFill>
                      <a:prstDash val="solid"/>
                      <a:round/>
                      <a:headEnd type="none" w="med" len="med"/>
                      <a:tailEnd type="none" w="med" len="med"/>
                    </a:lnT>
                    <a:lnB w="12700" cap="flat" cmpd="sng" algn="ctr">
                      <a:solidFill>
                        <a:srgbClr val="003366"/>
                      </a:solidFill>
                      <a:prstDash val="solid"/>
                      <a:round/>
                      <a:headEnd type="none" w="med" len="med"/>
                      <a:tailEnd type="none" w="med" len="med"/>
                    </a:lnB>
                    <a:solidFill>
                      <a:srgbClr val="003366">
                        <a:alpha val="100000"/>
                      </a:srgbClr>
                    </a:solidFill>
                  </a:tcPr>
                </a:tc>
                <a:tc>
                  <a:txBody>
                    <a:bodyPr/>
                    <a:lstStyle/>
                    <a:p>
                      <a:pPr indent="0" algn="ctr">
                        <a:lnSpc>
                          <a:spcPct val="100000"/>
                        </a:lnSpc>
                        <a:defRPr/>
                      </a:pPr>
                      <a:r>
                        <a:rPr lang="en-US" sz="1600" b="1" i="0" u="none" strike="noStrike">
                          <a:solidFill>
                            <a:srgbClr val="FFFFFF"/>
                          </a:solidFill>
                          <a:latin typeface="Noto Sans SC"/>
                          <a:ea typeface="Noto Sans SC"/>
                          <a:cs typeface="Noto Sans SC"/>
                          <a:sym typeface="Noto Sans SC"/>
                        </a:rPr>
                        <a:t>主键/外键</a:t>
                      </a:r>
                      <a:endParaRPr lang="en-US" sz="1100"/>
                    </a:p>
                  </a:txBody>
                  <a:tcPr marL="101600" marR="101600" marT="101600" marB="101600" anchor="ctr">
                    <a:lnL>
                      <a:noFill/>
                    </a:lnL>
                    <a:lnR>
                      <a:noFill/>
                    </a:lnR>
                    <a:lnT w="12700" cap="flat" cmpd="sng" algn="ctr">
                      <a:solidFill>
                        <a:srgbClr val="003366"/>
                      </a:solidFill>
                      <a:prstDash val="solid"/>
                      <a:round/>
                      <a:headEnd type="none" w="med" len="med"/>
                      <a:tailEnd type="none" w="med" len="med"/>
                    </a:lnT>
                    <a:lnB w="12700" cap="flat" cmpd="sng" algn="ctr">
                      <a:solidFill>
                        <a:srgbClr val="003366"/>
                      </a:solidFill>
                      <a:prstDash val="solid"/>
                      <a:round/>
                      <a:headEnd type="none" w="med" len="med"/>
                      <a:tailEnd type="none" w="med" len="med"/>
                    </a:lnB>
                    <a:solidFill>
                      <a:srgbClr val="003366">
                        <a:alpha val="100000"/>
                      </a:srgbClr>
                    </a:solidFill>
                  </a:tcPr>
                </a:tc>
                <a:tc>
                  <a:txBody>
                    <a:bodyPr/>
                    <a:lstStyle/>
                    <a:p>
                      <a:pPr indent="0" algn="ctr">
                        <a:lnSpc>
                          <a:spcPct val="100000"/>
                        </a:lnSpc>
                        <a:defRPr/>
                      </a:pPr>
                      <a:r>
                        <a:rPr lang="en-US" sz="1600" b="1" i="0" u="none" strike="noStrike">
                          <a:solidFill>
                            <a:srgbClr val="FFFFFF"/>
                          </a:solidFill>
                          <a:latin typeface="Noto Sans SC"/>
                          <a:ea typeface="Noto Sans SC"/>
                          <a:cs typeface="Noto Sans SC"/>
                          <a:sym typeface="Noto Sans SC"/>
                        </a:rPr>
                        <a:t>约束条件</a:t>
                      </a:r>
                      <a:endParaRPr lang="en-US" sz="1100"/>
                    </a:p>
                  </a:txBody>
                  <a:tcPr marL="101600" marR="101600" marT="101600" marB="101600" anchor="ctr">
                    <a:lnL w="12700" cap="flat" cmpd="sng" algn="ctr">
                      <a:noFill/>
                      <a:prstDash val="solid"/>
                      <a:round/>
                      <a:headEnd type="none" w="med" len="med"/>
                      <a:tailEnd type="none" w="med" len="med"/>
                    </a:lnL>
                    <a:lnR>
                      <a:noFill/>
                    </a:lnR>
                    <a:lnT w="12700" cap="flat" cmpd="sng" algn="ctr">
                      <a:solidFill>
                        <a:srgbClr val="003366"/>
                      </a:solidFill>
                      <a:prstDash val="solid"/>
                      <a:round/>
                      <a:headEnd type="none" w="med" len="med"/>
                      <a:tailEnd type="none" w="med" len="med"/>
                    </a:lnT>
                    <a:lnB w="12700" cap="flat" cmpd="sng" algn="ctr">
                      <a:solidFill>
                        <a:srgbClr val="003366"/>
                      </a:solidFill>
                      <a:prstDash val="solid"/>
                      <a:round/>
                      <a:headEnd type="none" w="med" len="med"/>
                      <a:tailEnd type="none" w="med" len="med"/>
                    </a:lnB>
                    <a:solidFill>
                      <a:srgbClr val="003366">
                        <a:alpha val="100000"/>
                      </a:srgbClr>
                    </a:solidFill>
                  </a:tcPr>
                </a:tc>
                <a:tc>
                  <a:txBody>
                    <a:bodyPr/>
                    <a:lstStyle/>
                    <a:p>
                      <a:pPr indent="0" algn="ctr">
                        <a:lnSpc>
                          <a:spcPct val="100000"/>
                        </a:lnSpc>
                        <a:defRPr/>
                      </a:pPr>
                      <a:r>
                        <a:rPr lang="en-US" sz="1600" b="1" i="0" u="none" strike="noStrike">
                          <a:solidFill>
                            <a:srgbClr val="FFFFFF"/>
                          </a:solidFill>
                          <a:latin typeface="Noto Sans SC"/>
                          <a:ea typeface="Noto Sans SC"/>
                          <a:cs typeface="Noto Sans SC"/>
                          <a:sym typeface="Noto Sans SC"/>
                        </a:rPr>
                        <a:t>说明</a:t>
                      </a:r>
                      <a:endParaRPr lang="en-US" sz="1100"/>
                    </a:p>
                  </a:txBody>
                  <a:tcPr marL="101600" marR="101600" marT="101600" marB="101600" anchor="ctr">
                    <a:lnL>
                      <a:noFill/>
                    </a:lnL>
                    <a:lnR w="12700" cap="flat" cmpd="sng" algn="ctr">
                      <a:solidFill>
                        <a:srgbClr val="003366"/>
                      </a:solidFill>
                      <a:prstDash val="solid"/>
                      <a:round/>
                      <a:headEnd type="none" w="med" len="med"/>
                      <a:tailEnd type="none" w="med" len="med"/>
                    </a:lnR>
                    <a:lnT w="12700" cap="flat" cmpd="sng" algn="ctr">
                      <a:solidFill>
                        <a:srgbClr val="003366"/>
                      </a:solidFill>
                      <a:prstDash val="solid"/>
                      <a:round/>
                      <a:headEnd type="none" w="med" len="med"/>
                      <a:tailEnd type="none" w="med" len="med"/>
                    </a:lnT>
                    <a:lnB w="12700" cap="flat" cmpd="sng" algn="ctr">
                      <a:solidFill>
                        <a:srgbClr val="003366"/>
                      </a:solidFill>
                      <a:prstDash val="solid"/>
                      <a:round/>
                      <a:headEnd type="none" w="med" len="med"/>
                      <a:tailEnd type="none" w="med" len="med"/>
                    </a:lnB>
                    <a:solidFill>
                      <a:srgbClr val="003366">
                        <a:alpha val="100000"/>
                      </a:srgbClr>
                    </a:solidFill>
                  </a:tcPr>
                </a:tc>
                <a:extLst>
                  <a:ext uri="{0D108BD9-81ED-4DB2-BD59-A6C34878D82A}">
                    <a16:rowId xmlns:a16="http://schemas.microsoft.com/office/drawing/2014/main" val="10000"/>
                  </a:ext>
                </a:extLst>
              </a:tr>
              <a:tr h="609600">
                <a:tc>
                  <a:txBody>
                    <a:bodyPr/>
                    <a:lstStyle/>
                    <a:p>
                      <a:pPr indent="0" algn="ctr">
                        <a:lnSpc>
                          <a:spcPct val="100000"/>
                        </a:lnSpc>
                        <a:defRPr/>
                      </a:pPr>
                      <a:r>
                        <a:rPr lang="en-US" sz="1400" b="0" i="0" u="none" strike="noStrike">
                          <a:solidFill>
                            <a:srgbClr val="374151"/>
                          </a:solidFill>
                          <a:latin typeface="Noto Sans SC"/>
                          <a:ea typeface="Noto Sans SC"/>
                          <a:cs typeface="Noto Sans SC"/>
                          <a:sym typeface="Noto Sans SC"/>
                        </a:rPr>
                        <a:t>id</a:t>
                      </a:r>
                      <a:endParaRPr lang="en-US" sz="1100"/>
                    </a:p>
                  </a:txBody>
                  <a:tcPr marL="101600" marR="101600" marT="101600" marB="101600" anchor="ctr">
                    <a:lnL w="12700" cap="flat" cmpd="sng" algn="ctr">
                      <a:solidFill>
                        <a:srgbClr val="E5E7EB"/>
                      </a:solidFill>
                      <a:prstDash val="solid"/>
                      <a:round/>
                      <a:headEnd type="none" w="med" len="med"/>
                      <a:tailEnd type="none" w="med" len="med"/>
                    </a:lnL>
                    <a:lnR>
                      <a:noFill/>
                    </a:lnR>
                    <a:lnT w="12700" cap="flat" cmpd="sng" algn="ctr">
                      <a:solidFill>
                        <a:srgbClr val="003366"/>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FFFFF">
                        <a:alpha val="100000"/>
                      </a:srgbClr>
                    </a:solidFill>
                  </a:tcPr>
                </a:tc>
                <a:tc>
                  <a:txBody>
                    <a:bodyPr/>
                    <a:lstStyle/>
                    <a:p>
                      <a:pPr indent="0" algn="ctr">
                        <a:lnSpc>
                          <a:spcPct val="100000"/>
                        </a:lnSpc>
                        <a:defRPr/>
                      </a:pPr>
                      <a:r>
                        <a:rPr lang="en-US" sz="1400" b="0" i="0" u="none" strike="noStrike">
                          <a:solidFill>
                            <a:srgbClr val="374151"/>
                          </a:solidFill>
                          <a:latin typeface="Noto Sans SC"/>
                          <a:ea typeface="Noto Sans SC"/>
                          <a:cs typeface="Noto Sans SC"/>
                          <a:sym typeface="Noto Sans SC"/>
                        </a:rPr>
                        <a:t>INTEGER</a:t>
                      </a:r>
                      <a:endParaRPr lang="en-US" sz="1100"/>
                    </a:p>
                  </a:txBody>
                  <a:tcPr marL="101600" marR="101600" marT="101600" marB="101600" anchor="ctr">
                    <a:lnL>
                      <a:noFill/>
                    </a:lnL>
                    <a:lnR>
                      <a:noFill/>
                    </a:lnR>
                    <a:lnT w="12700" cap="flat" cmpd="sng" algn="ctr">
                      <a:solidFill>
                        <a:srgbClr val="003366"/>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FFFFF">
                        <a:alpha val="100000"/>
                      </a:srgbClr>
                    </a:solidFill>
                  </a:tcPr>
                </a:tc>
                <a:tc>
                  <a:txBody>
                    <a:bodyPr/>
                    <a:lstStyle/>
                    <a:p>
                      <a:pPr indent="0" algn="ctr">
                        <a:lnSpc>
                          <a:spcPct val="100000"/>
                        </a:lnSpc>
                        <a:defRPr/>
                      </a:pPr>
                      <a:r>
                        <a:rPr lang="en-US" sz="1400" b="1" i="0" u="none" strike="noStrike">
                          <a:solidFill>
                            <a:srgbClr val="4A90E2"/>
                          </a:solidFill>
                          <a:latin typeface="Noto Sans SC"/>
                          <a:ea typeface="Noto Sans SC"/>
                          <a:cs typeface="Noto Sans SC"/>
                          <a:sym typeface="Noto Sans SC"/>
                        </a:rPr>
                        <a:t>PK</a:t>
                      </a:r>
                      <a:endParaRPr lang="en-US" sz="1100"/>
                    </a:p>
                  </a:txBody>
                  <a:tcPr marL="101600" marR="101600" marT="101600" marB="101600" anchor="ctr">
                    <a:lnL>
                      <a:noFill/>
                    </a:lnL>
                    <a:lnR>
                      <a:noFill/>
                    </a:lnR>
                    <a:lnT w="12700" cap="flat" cmpd="sng" algn="ctr">
                      <a:solidFill>
                        <a:srgbClr val="003366"/>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FFFFF">
                        <a:alpha val="100000"/>
                      </a:srgbClr>
                    </a:solidFill>
                  </a:tcPr>
                </a:tc>
                <a:tc>
                  <a:txBody>
                    <a:bodyPr/>
                    <a:lstStyle/>
                    <a:p>
                      <a:pPr indent="0" algn="ctr">
                        <a:lnSpc>
                          <a:spcPct val="100000"/>
                        </a:lnSpc>
                        <a:defRPr/>
                      </a:pPr>
                      <a:r>
                        <a:rPr lang="en-US" sz="1400" b="0" i="0" u="none" strike="noStrike">
                          <a:solidFill>
                            <a:srgbClr val="374151"/>
                          </a:solidFill>
                          <a:latin typeface="Noto Sans SC"/>
                          <a:ea typeface="Noto Sans SC"/>
                          <a:cs typeface="Noto Sans SC"/>
                          <a:sym typeface="Noto Sans SC"/>
                        </a:rPr>
                        <a:t>AUTOINCREMENT</a:t>
                      </a:r>
                      <a:endParaRPr lang="en-US" sz="1100"/>
                    </a:p>
                  </a:txBody>
                  <a:tcPr marL="101600" marR="101600" marT="101600" marB="101600" anchor="ctr">
                    <a:lnL w="12700" cap="flat" cmpd="sng" algn="ctr">
                      <a:noFill/>
                      <a:prstDash val="solid"/>
                      <a:round/>
                      <a:headEnd type="none" w="med" len="med"/>
                      <a:tailEnd type="none" w="med" len="med"/>
                    </a:lnL>
                    <a:lnR>
                      <a:noFill/>
                    </a:lnR>
                    <a:lnT w="12700" cap="flat" cmpd="sng" algn="ctr">
                      <a:solidFill>
                        <a:srgbClr val="003366"/>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FFFFF">
                        <a:alpha val="100000"/>
                      </a:srgbClr>
                    </a:solidFill>
                  </a:tcPr>
                </a:tc>
                <a:tc>
                  <a:txBody>
                    <a:bodyPr/>
                    <a:lstStyle/>
                    <a:p>
                      <a:pPr indent="0" algn="ctr">
                        <a:lnSpc>
                          <a:spcPct val="100000"/>
                        </a:lnSpc>
                        <a:defRPr/>
                      </a:pPr>
                      <a:r>
                        <a:rPr lang="en-US" sz="1400" b="0" i="0" u="none" strike="noStrike">
                          <a:solidFill>
                            <a:srgbClr val="374151"/>
                          </a:solidFill>
                          <a:latin typeface="Noto Sans SC"/>
                          <a:ea typeface="Noto Sans SC"/>
                          <a:cs typeface="Noto Sans SC"/>
                          <a:sym typeface="Noto Sans SC"/>
                        </a:rPr>
                        <a:t>员工工号</a:t>
                      </a:r>
                      <a:endParaRPr lang="en-US" sz="1100"/>
                    </a:p>
                  </a:txBody>
                  <a:tcPr marL="101600" marR="101600" marT="101600" marB="101600" anchor="ctr">
                    <a:lnL>
                      <a:noFill/>
                    </a:lnL>
                    <a:lnR w="12700" cap="flat" cmpd="sng" algn="ctr">
                      <a:solidFill>
                        <a:srgbClr val="E5E7EB"/>
                      </a:solidFill>
                      <a:prstDash val="solid"/>
                      <a:round/>
                      <a:headEnd type="none" w="med" len="med"/>
                      <a:tailEnd type="none" w="med" len="med"/>
                    </a:lnR>
                    <a:lnT w="12700" cap="flat" cmpd="sng" algn="ctr">
                      <a:solidFill>
                        <a:srgbClr val="003366"/>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FFFFF">
                        <a:alpha val="100000"/>
                      </a:srgbClr>
                    </a:solidFill>
                  </a:tcPr>
                </a:tc>
                <a:extLst>
                  <a:ext uri="{0D108BD9-81ED-4DB2-BD59-A6C34878D82A}">
                    <a16:rowId xmlns:a16="http://schemas.microsoft.com/office/drawing/2014/main" val="10001"/>
                  </a:ext>
                </a:extLst>
              </a:tr>
              <a:tr h="609600">
                <a:tc>
                  <a:txBody>
                    <a:bodyPr/>
                    <a:lstStyle/>
                    <a:p>
                      <a:pPr indent="0" algn="ctr">
                        <a:lnSpc>
                          <a:spcPct val="100000"/>
                        </a:lnSpc>
                        <a:defRPr/>
                      </a:pPr>
                      <a:r>
                        <a:rPr lang="en-US" sz="1400" b="0" i="0" u="none" strike="noStrike">
                          <a:solidFill>
                            <a:srgbClr val="374151"/>
                          </a:solidFill>
                          <a:latin typeface="Noto Sans SC"/>
                          <a:ea typeface="Noto Sans SC"/>
                          <a:cs typeface="Noto Sans SC"/>
                          <a:sym typeface="Noto Sans SC"/>
                        </a:rPr>
                        <a:t>name</a:t>
                      </a:r>
                      <a:endParaRPr lang="en-US" sz="1100"/>
                    </a:p>
                  </a:txBody>
                  <a:tcPr marL="101600" marR="101600" marT="101600" marB="101600" anchor="ctr">
                    <a:lnL w="12700" cap="flat" cmpd="sng" algn="ctr">
                      <a:solidFill>
                        <a:srgbClr val="E5E7EB"/>
                      </a:solidFill>
                      <a:prstDash val="solid"/>
                      <a:round/>
                      <a:headEnd type="none" w="med" len="med"/>
                      <a:tailEnd type="none" w="med" len="med"/>
                    </a:lnL>
                    <a:lnR>
                      <a:noFill/>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FFFFF">
                        <a:alpha val="100000"/>
                      </a:srgbClr>
                    </a:solidFill>
                  </a:tcPr>
                </a:tc>
                <a:tc>
                  <a:txBody>
                    <a:bodyPr/>
                    <a:lstStyle/>
                    <a:p>
                      <a:pPr indent="0" algn="ctr">
                        <a:lnSpc>
                          <a:spcPct val="100000"/>
                        </a:lnSpc>
                        <a:defRPr/>
                      </a:pPr>
                      <a:r>
                        <a:rPr lang="en-US" sz="1400" b="0" i="0" u="none" strike="noStrike">
                          <a:solidFill>
                            <a:srgbClr val="374151"/>
                          </a:solidFill>
                          <a:latin typeface="Noto Sans SC"/>
                          <a:ea typeface="Noto Sans SC"/>
                          <a:cs typeface="Noto Sans SC"/>
                          <a:sym typeface="Noto Sans SC"/>
                        </a:rPr>
                        <a:t>TEXT</a:t>
                      </a:r>
                      <a:endParaRPr lang="en-US" sz="1100"/>
                    </a:p>
                  </a:txBody>
                  <a:tcPr marL="101600" marR="101600" marT="101600" marB="101600" anchor="ctr">
                    <a:lnL>
                      <a:noFill/>
                    </a:lnL>
                    <a:lnR>
                      <a:noFill/>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FFFFF">
                        <a:alpha val="100000"/>
                      </a:srgbClr>
                    </a:solidFill>
                  </a:tcPr>
                </a:tc>
                <a:tc>
                  <a:txBody>
                    <a:bodyPr/>
                    <a:lstStyle/>
                    <a:p>
                      <a:pPr indent="0" algn="ctr">
                        <a:lnSpc>
                          <a:spcPct val="100000"/>
                        </a:lnSpc>
                        <a:defRPr/>
                      </a:pPr>
                      <a:r>
                        <a:rPr lang="en-US" sz="1400" b="0" i="0" u="none" strike="noStrike">
                          <a:solidFill>
                            <a:srgbClr val="6B7280"/>
                          </a:solidFill>
                          <a:latin typeface="Noto Sans SC"/>
                          <a:ea typeface="Noto Sans SC"/>
                          <a:cs typeface="Noto Sans SC"/>
                          <a:sym typeface="Noto Sans SC"/>
                        </a:rPr>
                        <a:t>-</a:t>
                      </a:r>
                      <a:endParaRPr lang="en-US" sz="1100"/>
                    </a:p>
                  </a:txBody>
                  <a:tcPr marL="101600" marR="101600" marT="101600" marB="101600" anchor="ctr">
                    <a:lnL>
                      <a:noFill/>
                    </a:lnL>
                    <a:lnR>
                      <a:noFill/>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FFFFF">
                        <a:alpha val="100000"/>
                      </a:srgbClr>
                    </a:solidFill>
                  </a:tcPr>
                </a:tc>
                <a:tc>
                  <a:txBody>
                    <a:bodyPr/>
                    <a:lstStyle/>
                    <a:p>
                      <a:pPr indent="0" algn="ctr">
                        <a:lnSpc>
                          <a:spcPct val="100000"/>
                        </a:lnSpc>
                        <a:defRPr/>
                      </a:pPr>
                      <a:r>
                        <a:rPr lang="en-US" sz="1400" b="1" i="0" u="none" strike="noStrike">
                          <a:solidFill>
                            <a:srgbClr val="4A90E2"/>
                          </a:solidFill>
                          <a:latin typeface="Noto Sans SC"/>
                          <a:ea typeface="Noto Sans SC"/>
                          <a:cs typeface="Noto Sans SC"/>
                          <a:sym typeface="Noto Sans SC"/>
                        </a:rPr>
                        <a:t>NOT NULL</a:t>
                      </a:r>
                      <a:endParaRPr lang="en-US" sz="1100"/>
                    </a:p>
                  </a:txBody>
                  <a:tcPr marL="101600" marR="101600" marT="101600" marB="101600" anchor="ctr">
                    <a:lnL w="12700" cap="flat" cmpd="sng" algn="ctr">
                      <a:noFill/>
                      <a:prstDash val="solid"/>
                      <a:round/>
                      <a:headEnd type="none" w="med" len="med"/>
                      <a:tailEnd type="none" w="med" len="med"/>
                    </a:lnL>
                    <a:lnR>
                      <a:noFill/>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FFFFF">
                        <a:alpha val="100000"/>
                      </a:srgbClr>
                    </a:solidFill>
                  </a:tcPr>
                </a:tc>
                <a:tc>
                  <a:txBody>
                    <a:bodyPr/>
                    <a:lstStyle/>
                    <a:p>
                      <a:pPr indent="0" algn="ctr">
                        <a:lnSpc>
                          <a:spcPct val="100000"/>
                        </a:lnSpc>
                        <a:defRPr/>
                      </a:pPr>
                      <a:r>
                        <a:rPr lang="en-US" sz="1400" b="0" i="0" u="none" strike="noStrike">
                          <a:solidFill>
                            <a:srgbClr val="374151"/>
                          </a:solidFill>
                          <a:latin typeface="Noto Sans SC"/>
                          <a:ea typeface="Noto Sans SC"/>
                          <a:cs typeface="Noto Sans SC"/>
                          <a:sym typeface="Noto Sans SC"/>
                        </a:rPr>
                        <a:t>员工姓名</a:t>
                      </a:r>
                      <a:endParaRPr lang="en-US" sz="1100"/>
                    </a:p>
                  </a:txBody>
                  <a:tcPr marL="101600" marR="101600" marT="101600" marB="101600" anchor="ctr">
                    <a:lnL>
                      <a:noFill/>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FFFFF">
                        <a:alpha val="100000"/>
                      </a:srgbClr>
                    </a:solidFill>
                  </a:tcPr>
                </a:tc>
                <a:extLst>
                  <a:ext uri="{0D108BD9-81ED-4DB2-BD59-A6C34878D82A}">
                    <a16:rowId xmlns:a16="http://schemas.microsoft.com/office/drawing/2014/main" val="10002"/>
                  </a:ext>
                </a:extLst>
              </a:tr>
              <a:tr h="609600">
                <a:tc>
                  <a:txBody>
                    <a:bodyPr/>
                    <a:lstStyle/>
                    <a:p>
                      <a:pPr indent="0" algn="ctr">
                        <a:lnSpc>
                          <a:spcPct val="100000"/>
                        </a:lnSpc>
                        <a:defRPr/>
                      </a:pPr>
                      <a:r>
                        <a:rPr lang="en-US" sz="1400" b="0" i="0" u="none" strike="noStrike">
                          <a:solidFill>
                            <a:srgbClr val="374151"/>
                          </a:solidFill>
                          <a:latin typeface="Noto Sans SC"/>
                          <a:ea typeface="Noto Sans SC"/>
                          <a:cs typeface="Noto Sans SC"/>
                          <a:sym typeface="Noto Sans SC"/>
                        </a:rPr>
                        <a:t>title</a:t>
                      </a:r>
                      <a:endParaRPr lang="en-US" sz="1100"/>
                    </a:p>
                  </a:txBody>
                  <a:tcPr marL="101600" marR="101600" marT="101600" marB="101600" anchor="ctr">
                    <a:lnL w="12700" cap="flat" cmpd="sng" algn="ctr">
                      <a:solidFill>
                        <a:srgbClr val="E5E7EB"/>
                      </a:solidFill>
                      <a:prstDash val="solid"/>
                      <a:round/>
                      <a:headEnd type="none" w="med" len="med"/>
                      <a:tailEnd type="none" w="med" len="med"/>
                    </a:lnL>
                    <a:lnR>
                      <a:noFill/>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FFFFF">
                        <a:alpha val="100000"/>
                      </a:srgbClr>
                    </a:solidFill>
                  </a:tcPr>
                </a:tc>
                <a:tc>
                  <a:txBody>
                    <a:bodyPr/>
                    <a:lstStyle/>
                    <a:p>
                      <a:pPr indent="0" algn="ctr">
                        <a:lnSpc>
                          <a:spcPct val="100000"/>
                        </a:lnSpc>
                        <a:defRPr/>
                      </a:pPr>
                      <a:r>
                        <a:rPr lang="en-US" sz="1400" b="0" i="0" u="none" strike="noStrike">
                          <a:solidFill>
                            <a:srgbClr val="374151"/>
                          </a:solidFill>
                          <a:latin typeface="Noto Sans SC"/>
                          <a:ea typeface="Noto Sans SC"/>
                          <a:cs typeface="Noto Sans SC"/>
                          <a:sym typeface="Noto Sans SC"/>
                        </a:rPr>
                        <a:t>TEXT</a:t>
                      </a:r>
                      <a:endParaRPr lang="en-US" sz="1100"/>
                    </a:p>
                  </a:txBody>
                  <a:tcPr marL="101600" marR="101600" marT="101600" marB="101600" anchor="ctr">
                    <a:lnL>
                      <a:noFill/>
                    </a:lnL>
                    <a:lnR>
                      <a:noFill/>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FFFFF">
                        <a:alpha val="100000"/>
                      </a:srgbClr>
                    </a:solidFill>
                  </a:tcPr>
                </a:tc>
                <a:tc>
                  <a:txBody>
                    <a:bodyPr/>
                    <a:lstStyle/>
                    <a:p>
                      <a:pPr indent="0" algn="ctr">
                        <a:lnSpc>
                          <a:spcPct val="100000"/>
                        </a:lnSpc>
                        <a:defRPr/>
                      </a:pPr>
                      <a:r>
                        <a:rPr lang="en-US" sz="1400" b="0" i="0" u="none" strike="noStrike">
                          <a:solidFill>
                            <a:srgbClr val="6B7280"/>
                          </a:solidFill>
                          <a:latin typeface="Noto Sans SC"/>
                          <a:ea typeface="Noto Sans SC"/>
                          <a:cs typeface="Noto Sans SC"/>
                          <a:sym typeface="Noto Sans SC"/>
                        </a:rPr>
                        <a:t>-</a:t>
                      </a:r>
                      <a:endParaRPr lang="en-US" sz="1100"/>
                    </a:p>
                  </a:txBody>
                  <a:tcPr marL="101600" marR="101600" marT="101600" marB="101600" anchor="ctr">
                    <a:lnL>
                      <a:noFill/>
                    </a:lnL>
                    <a:lnR>
                      <a:noFill/>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FFFFF">
                        <a:alpha val="100000"/>
                      </a:srgbClr>
                    </a:solidFill>
                  </a:tcPr>
                </a:tc>
                <a:tc>
                  <a:txBody>
                    <a:bodyPr/>
                    <a:lstStyle/>
                    <a:p>
                      <a:pPr indent="0" algn="ctr">
                        <a:lnSpc>
                          <a:spcPct val="100000"/>
                        </a:lnSpc>
                        <a:defRPr/>
                      </a:pPr>
                      <a:r>
                        <a:rPr lang="en-US" sz="1400" b="0" i="0" u="none" strike="noStrike">
                          <a:solidFill>
                            <a:srgbClr val="6B7280"/>
                          </a:solidFill>
                          <a:latin typeface="Noto Sans SC"/>
                          <a:ea typeface="Noto Sans SC"/>
                          <a:cs typeface="Noto Sans SC"/>
                          <a:sym typeface="Noto Sans SC"/>
                        </a:rPr>
                        <a:t>-</a:t>
                      </a:r>
                      <a:endParaRPr lang="en-US" sz="1100"/>
                    </a:p>
                  </a:txBody>
                  <a:tcPr marL="101600" marR="101600" marT="101600" marB="101600" anchor="ctr">
                    <a:lnL w="12700" cap="flat" cmpd="sng" algn="ctr">
                      <a:noFill/>
                      <a:prstDash val="solid"/>
                      <a:round/>
                      <a:headEnd type="none" w="med" len="med"/>
                      <a:tailEnd type="none" w="med" len="med"/>
                    </a:lnL>
                    <a:lnR>
                      <a:noFill/>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FFFFF">
                        <a:alpha val="100000"/>
                      </a:srgbClr>
                    </a:solidFill>
                  </a:tcPr>
                </a:tc>
                <a:tc>
                  <a:txBody>
                    <a:bodyPr/>
                    <a:lstStyle/>
                    <a:p>
                      <a:pPr indent="0" algn="ctr">
                        <a:lnSpc>
                          <a:spcPct val="100000"/>
                        </a:lnSpc>
                        <a:defRPr/>
                      </a:pPr>
                      <a:r>
                        <a:rPr lang="en-US" sz="1400" b="0" i="0" u="none" strike="noStrike">
                          <a:solidFill>
                            <a:srgbClr val="374151"/>
                          </a:solidFill>
                          <a:latin typeface="Noto Sans SC"/>
                          <a:ea typeface="Noto Sans SC"/>
                          <a:cs typeface="Noto Sans SC"/>
                          <a:sym typeface="Noto Sans SC"/>
                        </a:rPr>
                        <a:t>职称</a:t>
                      </a:r>
                      <a:endParaRPr lang="en-US" sz="1100"/>
                    </a:p>
                  </a:txBody>
                  <a:tcPr marL="101600" marR="101600" marT="101600" marB="101600" anchor="ctr">
                    <a:lnL>
                      <a:noFill/>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FFFFF">
                        <a:alpha val="100000"/>
                      </a:srgbClr>
                    </a:solidFill>
                  </a:tcPr>
                </a:tc>
                <a:extLst>
                  <a:ext uri="{0D108BD9-81ED-4DB2-BD59-A6C34878D82A}">
                    <a16:rowId xmlns:a16="http://schemas.microsoft.com/office/drawing/2014/main" val="10003"/>
                  </a:ext>
                </a:extLst>
              </a:tr>
              <a:tr h="609600">
                <a:tc>
                  <a:txBody>
                    <a:bodyPr/>
                    <a:lstStyle/>
                    <a:p>
                      <a:pPr indent="0" algn="ctr">
                        <a:lnSpc>
                          <a:spcPct val="100000"/>
                        </a:lnSpc>
                        <a:defRPr/>
                      </a:pPr>
                      <a:r>
                        <a:rPr lang="en-US" sz="1400" b="0" i="0" u="none" strike="noStrike">
                          <a:solidFill>
                            <a:srgbClr val="374151"/>
                          </a:solidFill>
                          <a:latin typeface="Noto Sans SC"/>
                          <a:ea typeface="Noto Sans SC"/>
                          <a:cs typeface="Noto Sans SC"/>
                          <a:sym typeface="Noto Sans SC"/>
                        </a:rPr>
                        <a:t>dept_name</a:t>
                      </a:r>
                      <a:endParaRPr lang="en-US" sz="1100"/>
                    </a:p>
                  </a:txBody>
                  <a:tcPr marL="101600" marR="101600" marT="101600" marB="101600" anchor="ctr">
                    <a:lnL w="12700" cap="flat" cmpd="sng" algn="ctr">
                      <a:solidFill>
                        <a:srgbClr val="E5E7EB"/>
                      </a:solidFill>
                      <a:prstDash val="solid"/>
                      <a:round/>
                      <a:headEnd type="none" w="med" len="med"/>
                      <a:tailEnd type="none" w="med" len="med"/>
                    </a:lnL>
                    <a:lnR>
                      <a:noFill/>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FFFFF">
                        <a:alpha val="100000"/>
                      </a:srgbClr>
                    </a:solidFill>
                  </a:tcPr>
                </a:tc>
                <a:tc>
                  <a:txBody>
                    <a:bodyPr/>
                    <a:lstStyle/>
                    <a:p>
                      <a:pPr indent="0" algn="ctr">
                        <a:lnSpc>
                          <a:spcPct val="100000"/>
                        </a:lnSpc>
                        <a:defRPr/>
                      </a:pPr>
                      <a:r>
                        <a:rPr lang="en-US" sz="1400" b="0" i="0" u="none" strike="noStrike">
                          <a:solidFill>
                            <a:srgbClr val="374151"/>
                          </a:solidFill>
                          <a:latin typeface="Noto Sans SC"/>
                          <a:ea typeface="Noto Sans SC"/>
                          <a:cs typeface="Noto Sans SC"/>
                          <a:sym typeface="Noto Sans SC"/>
                        </a:rPr>
                        <a:t>TEXT</a:t>
                      </a:r>
                      <a:endParaRPr lang="en-US" sz="1100"/>
                    </a:p>
                  </a:txBody>
                  <a:tcPr marL="101600" marR="101600" marT="101600" marB="101600" anchor="ctr">
                    <a:lnL>
                      <a:noFill/>
                    </a:lnL>
                    <a:lnR>
                      <a:noFill/>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FFFFF">
                        <a:alpha val="100000"/>
                      </a:srgbClr>
                    </a:solidFill>
                  </a:tcPr>
                </a:tc>
                <a:tc>
                  <a:txBody>
                    <a:bodyPr/>
                    <a:lstStyle/>
                    <a:p>
                      <a:pPr indent="0" algn="ctr">
                        <a:lnSpc>
                          <a:spcPct val="100000"/>
                        </a:lnSpc>
                        <a:defRPr/>
                      </a:pPr>
                      <a:r>
                        <a:rPr lang="en-US" sz="1400" b="0" i="0" u="none" strike="noStrike">
                          <a:solidFill>
                            <a:srgbClr val="6B7280"/>
                          </a:solidFill>
                          <a:latin typeface="Noto Sans SC"/>
                          <a:ea typeface="Noto Sans SC"/>
                          <a:cs typeface="Noto Sans SC"/>
                          <a:sym typeface="Noto Sans SC"/>
                        </a:rPr>
                        <a:t>-</a:t>
                      </a:r>
                      <a:endParaRPr lang="en-US" sz="1100"/>
                    </a:p>
                  </a:txBody>
                  <a:tcPr marL="101600" marR="101600" marT="101600" marB="101600" anchor="ctr">
                    <a:lnL>
                      <a:noFill/>
                    </a:lnL>
                    <a:lnR>
                      <a:noFill/>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FFFFF">
                        <a:alpha val="100000"/>
                      </a:srgbClr>
                    </a:solidFill>
                  </a:tcPr>
                </a:tc>
                <a:tc>
                  <a:txBody>
                    <a:bodyPr/>
                    <a:lstStyle/>
                    <a:p>
                      <a:pPr indent="0" algn="ctr">
                        <a:lnSpc>
                          <a:spcPct val="100000"/>
                        </a:lnSpc>
                        <a:defRPr/>
                      </a:pPr>
                      <a:r>
                        <a:rPr lang="en-US" sz="1400" b="0" i="0" u="none" strike="noStrike">
                          <a:solidFill>
                            <a:srgbClr val="6B7280"/>
                          </a:solidFill>
                          <a:latin typeface="Noto Sans SC"/>
                          <a:ea typeface="Noto Sans SC"/>
                          <a:cs typeface="Noto Sans SC"/>
                          <a:sym typeface="Noto Sans SC"/>
                        </a:rPr>
                        <a:t>-</a:t>
                      </a:r>
                      <a:endParaRPr lang="en-US" sz="1100"/>
                    </a:p>
                  </a:txBody>
                  <a:tcPr marL="101600" marR="101600" marT="101600" marB="101600" anchor="ctr">
                    <a:lnL w="12700" cap="flat" cmpd="sng" algn="ctr">
                      <a:noFill/>
                      <a:prstDash val="solid"/>
                      <a:round/>
                      <a:headEnd type="none" w="med" len="med"/>
                      <a:tailEnd type="none" w="med" len="med"/>
                    </a:lnL>
                    <a:lnR>
                      <a:noFill/>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FFFFF">
                        <a:alpha val="100000"/>
                      </a:srgbClr>
                    </a:solidFill>
                  </a:tcPr>
                </a:tc>
                <a:tc>
                  <a:txBody>
                    <a:bodyPr/>
                    <a:lstStyle/>
                    <a:p>
                      <a:pPr indent="0" algn="ctr">
                        <a:lnSpc>
                          <a:spcPct val="100000"/>
                        </a:lnSpc>
                        <a:defRPr/>
                      </a:pPr>
                      <a:r>
                        <a:rPr lang="en-US" sz="1400" b="0" i="0" u="none" strike="noStrike">
                          <a:solidFill>
                            <a:srgbClr val="374151"/>
                          </a:solidFill>
                          <a:latin typeface="Noto Sans SC"/>
                          <a:ea typeface="Noto Sans SC"/>
                          <a:cs typeface="Noto Sans SC"/>
                          <a:sym typeface="Noto Sans SC"/>
                        </a:rPr>
                        <a:t>所属科室</a:t>
                      </a:r>
                      <a:endParaRPr lang="en-US" sz="1100"/>
                    </a:p>
                  </a:txBody>
                  <a:tcPr marL="101600" marR="101600" marT="101600" marB="101600" anchor="ctr">
                    <a:lnL>
                      <a:noFill/>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FFFFF">
                        <a:alpha val="100000"/>
                      </a:srgbClr>
                    </a:solidFill>
                  </a:tcPr>
                </a:tc>
                <a:extLst>
                  <a:ext uri="{0D108BD9-81ED-4DB2-BD59-A6C34878D82A}">
                    <a16:rowId xmlns:a16="http://schemas.microsoft.com/office/drawing/2014/main" val="10004"/>
                  </a:ext>
                </a:extLst>
              </a:tr>
              <a:tr h="609600">
                <a:tc>
                  <a:txBody>
                    <a:bodyPr/>
                    <a:lstStyle/>
                    <a:p>
                      <a:pPr indent="0" algn="ctr">
                        <a:lnSpc>
                          <a:spcPct val="100000"/>
                        </a:lnSpc>
                        <a:defRPr/>
                      </a:pPr>
                      <a:r>
                        <a:rPr lang="en-US" sz="1400" b="0" i="0" u="none" strike="noStrike">
                          <a:solidFill>
                            <a:srgbClr val="374151"/>
                          </a:solidFill>
                          <a:latin typeface="Noto Sans SC"/>
                          <a:ea typeface="Noto Sans SC"/>
                          <a:cs typeface="Noto Sans SC"/>
                          <a:sym typeface="Noto Sans SC"/>
                        </a:rPr>
                        <a:t>room_number</a:t>
                      </a:r>
                      <a:endParaRPr lang="en-US" sz="1100"/>
                    </a:p>
                  </a:txBody>
                  <a:tcPr marL="101600" marR="101600" marT="101600" marB="101600" anchor="ctr">
                    <a:lnL w="12700" cap="flat" cmpd="sng" algn="ctr">
                      <a:solidFill>
                        <a:srgbClr val="E5E7EB"/>
                      </a:solidFill>
                      <a:prstDash val="solid"/>
                      <a:round/>
                      <a:headEnd type="none" w="med" len="med"/>
                      <a:tailEnd type="none" w="med" len="med"/>
                    </a:lnL>
                    <a:lnR>
                      <a:noFill/>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FFFFF">
                        <a:alpha val="100000"/>
                      </a:srgbClr>
                    </a:solidFill>
                  </a:tcPr>
                </a:tc>
                <a:tc>
                  <a:txBody>
                    <a:bodyPr/>
                    <a:lstStyle/>
                    <a:p>
                      <a:pPr indent="0" algn="ctr">
                        <a:lnSpc>
                          <a:spcPct val="100000"/>
                        </a:lnSpc>
                        <a:defRPr/>
                      </a:pPr>
                      <a:r>
                        <a:rPr lang="en-US" sz="1400" b="0" i="0" u="none" strike="noStrike">
                          <a:solidFill>
                            <a:srgbClr val="374151"/>
                          </a:solidFill>
                          <a:latin typeface="Noto Sans SC"/>
                          <a:ea typeface="Noto Sans SC"/>
                          <a:cs typeface="Noto Sans SC"/>
                          <a:sym typeface="Noto Sans SC"/>
                        </a:rPr>
                        <a:t>TEXT</a:t>
                      </a:r>
                      <a:endParaRPr lang="en-US" sz="1100"/>
                    </a:p>
                  </a:txBody>
                  <a:tcPr marL="101600" marR="101600" marT="101600" marB="101600" anchor="ctr">
                    <a:lnL>
                      <a:noFill/>
                    </a:lnL>
                    <a:lnR>
                      <a:noFill/>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FFFFF">
                        <a:alpha val="100000"/>
                      </a:srgbClr>
                    </a:solidFill>
                  </a:tcPr>
                </a:tc>
                <a:tc>
                  <a:txBody>
                    <a:bodyPr/>
                    <a:lstStyle/>
                    <a:p>
                      <a:pPr indent="0" algn="ctr">
                        <a:lnSpc>
                          <a:spcPct val="100000"/>
                        </a:lnSpc>
                        <a:defRPr/>
                      </a:pPr>
                      <a:r>
                        <a:rPr lang="en-US" sz="1400" b="0" i="0" u="none" strike="noStrike">
                          <a:solidFill>
                            <a:srgbClr val="6B7280"/>
                          </a:solidFill>
                          <a:latin typeface="Noto Sans SC"/>
                          <a:ea typeface="Noto Sans SC"/>
                          <a:cs typeface="Noto Sans SC"/>
                          <a:sym typeface="Noto Sans SC"/>
                        </a:rPr>
                        <a:t>-</a:t>
                      </a:r>
                      <a:endParaRPr lang="en-US" sz="1100"/>
                    </a:p>
                  </a:txBody>
                  <a:tcPr marL="101600" marR="101600" marT="101600" marB="101600" anchor="ctr">
                    <a:lnL>
                      <a:noFill/>
                    </a:lnL>
                    <a:lnR>
                      <a:noFill/>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FFFFF">
                        <a:alpha val="100000"/>
                      </a:srgbClr>
                    </a:solidFill>
                  </a:tcPr>
                </a:tc>
                <a:tc>
                  <a:txBody>
                    <a:bodyPr/>
                    <a:lstStyle/>
                    <a:p>
                      <a:pPr indent="0" algn="ctr">
                        <a:lnSpc>
                          <a:spcPct val="100000"/>
                        </a:lnSpc>
                        <a:defRPr/>
                      </a:pPr>
                      <a:r>
                        <a:rPr lang="en-US" sz="1400" b="0" i="0" u="none" strike="noStrike">
                          <a:solidFill>
                            <a:srgbClr val="6B7280"/>
                          </a:solidFill>
                          <a:latin typeface="Noto Sans SC"/>
                          <a:ea typeface="Noto Sans SC"/>
                          <a:cs typeface="Noto Sans SC"/>
                          <a:sym typeface="Noto Sans SC"/>
                        </a:rPr>
                        <a:t>-</a:t>
                      </a:r>
                      <a:endParaRPr lang="en-US" sz="1100"/>
                    </a:p>
                  </a:txBody>
                  <a:tcPr marL="101600" marR="101600" marT="101600" marB="101600" anchor="ctr">
                    <a:lnL w="12700" cap="flat" cmpd="sng" algn="ctr">
                      <a:noFill/>
                      <a:prstDash val="solid"/>
                      <a:round/>
                      <a:headEnd type="none" w="med" len="med"/>
                      <a:tailEnd type="none" w="med" len="med"/>
                    </a:lnL>
                    <a:lnR>
                      <a:noFill/>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FFFFF">
                        <a:alpha val="100000"/>
                      </a:srgbClr>
                    </a:solidFill>
                  </a:tcPr>
                </a:tc>
                <a:tc>
                  <a:txBody>
                    <a:bodyPr/>
                    <a:lstStyle/>
                    <a:p>
                      <a:pPr indent="0" algn="ctr">
                        <a:lnSpc>
                          <a:spcPct val="100000"/>
                        </a:lnSpc>
                        <a:defRPr/>
                      </a:pPr>
                      <a:r>
                        <a:rPr lang="en-US" sz="1400" b="0" i="0" u="none" strike="noStrike">
                          <a:solidFill>
                            <a:srgbClr val="374151"/>
                          </a:solidFill>
                          <a:latin typeface="Noto Sans SC"/>
                          <a:ea typeface="Noto Sans SC"/>
                          <a:cs typeface="Noto Sans SC"/>
                          <a:sym typeface="Noto Sans SC"/>
                        </a:rPr>
                        <a:t>诊室号</a:t>
                      </a:r>
                      <a:endParaRPr lang="en-US" sz="1100"/>
                    </a:p>
                  </a:txBody>
                  <a:tcPr marL="101600" marR="101600" marT="101600" marB="101600" anchor="ctr">
                    <a:lnL>
                      <a:noFill/>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FFFFF">
                        <a:alpha val="100000"/>
                      </a:srgbClr>
                    </a:solidFill>
                  </a:tcPr>
                </a:tc>
                <a:extLst>
                  <a:ext uri="{0D108BD9-81ED-4DB2-BD59-A6C34878D82A}">
                    <a16:rowId xmlns:a16="http://schemas.microsoft.com/office/drawing/2014/main" val="10005"/>
                  </a:ext>
                </a:extLst>
              </a:tr>
              <a:tr h="609600">
                <a:tc>
                  <a:txBody>
                    <a:bodyPr/>
                    <a:lstStyle/>
                    <a:p>
                      <a:pPr indent="0" algn="ctr">
                        <a:lnSpc>
                          <a:spcPct val="100000"/>
                        </a:lnSpc>
                        <a:defRPr/>
                      </a:pPr>
                      <a:r>
                        <a:rPr lang="en-US" sz="1400" b="0" i="0" u="none" strike="noStrike">
                          <a:solidFill>
                            <a:srgbClr val="374151"/>
                          </a:solidFill>
                          <a:latin typeface="Noto Sans SC"/>
                          <a:ea typeface="Noto Sans SC"/>
                          <a:cs typeface="Noto Sans SC"/>
                          <a:sym typeface="Noto Sans SC"/>
                        </a:rPr>
                        <a:t>status</a:t>
                      </a:r>
                      <a:endParaRPr lang="en-US" sz="1100"/>
                    </a:p>
                  </a:txBody>
                  <a:tcPr marL="101600" marR="101600" marT="101600" marB="101600" anchor="ctr">
                    <a:lnL w="12700" cap="flat" cmpd="sng" algn="ctr">
                      <a:solidFill>
                        <a:srgbClr val="E5E7EB"/>
                      </a:solidFill>
                      <a:prstDash val="solid"/>
                      <a:round/>
                      <a:headEnd type="none" w="med" len="med"/>
                      <a:tailEnd type="none" w="med" len="med"/>
                    </a:lnL>
                    <a:lnR>
                      <a:noFill/>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FFFFF">
                        <a:alpha val="100000"/>
                      </a:srgbClr>
                    </a:solidFill>
                  </a:tcPr>
                </a:tc>
                <a:tc>
                  <a:txBody>
                    <a:bodyPr/>
                    <a:lstStyle/>
                    <a:p>
                      <a:pPr indent="0" algn="ctr">
                        <a:lnSpc>
                          <a:spcPct val="100000"/>
                        </a:lnSpc>
                        <a:defRPr/>
                      </a:pPr>
                      <a:r>
                        <a:rPr lang="en-US" sz="1400" b="0" i="0" u="none" strike="noStrike">
                          <a:solidFill>
                            <a:srgbClr val="374151"/>
                          </a:solidFill>
                          <a:latin typeface="Noto Sans SC"/>
                          <a:ea typeface="Noto Sans SC"/>
                          <a:cs typeface="Noto Sans SC"/>
                          <a:sym typeface="Noto Sans SC"/>
                        </a:rPr>
                        <a:t>TEXT</a:t>
                      </a:r>
                      <a:endParaRPr lang="en-US" sz="1100"/>
                    </a:p>
                  </a:txBody>
                  <a:tcPr marL="101600" marR="101600" marT="101600" marB="101600" anchor="ctr">
                    <a:lnL>
                      <a:noFill/>
                    </a:lnL>
                    <a:lnR>
                      <a:noFill/>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FFFFF">
                        <a:alpha val="100000"/>
                      </a:srgbClr>
                    </a:solidFill>
                  </a:tcPr>
                </a:tc>
                <a:tc>
                  <a:txBody>
                    <a:bodyPr/>
                    <a:lstStyle/>
                    <a:p>
                      <a:pPr indent="0" algn="ctr">
                        <a:lnSpc>
                          <a:spcPct val="100000"/>
                        </a:lnSpc>
                        <a:defRPr/>
                      </a:pPr>
                      <a:r>
                        <a:rPr lang="en-US" sz="1400" b="0" i="0" u="none" strike="noStrike">
                          <a:solidFill>
                            <a:srgbClr val="6B7280"/>
                          </a:solidFill>
                          <a:latin typeface="Noto Sans SC"/>
                          <a:ea typeface="Noto Sans SC"/>
                          <a:cs typeface="Noto Sans SC"/>
                          <a:sym typeface="Noto Sans SC"/>
                        </a:rPr>
                        <a:t>-</a:t>
                      </a:r>
                      <a:endParaRPr lang="en-US" sz="1100"/>
                    </a:p>
                  </a:txBody>
                  <a:tcPr marL="101600" marR="101600" marT="101600" marB="101600" anchor="ctr">
                    <a:lnL>
                      <a:noFill/>
                    </a:lnL>
                    <a:lnR>
                      <a:noFill/>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FFFFF">
                        <a:alpha val="100000"/>
                      </a:srgbClr>
                    </a:solidFill>
                  </a:tcPr>
                </a:tc>
                <a:tc>
                  <a:txBody>
                    <a:bodyPr/>
                    <a:lstStyle/>
                    <a:p>
                      <a:pPr indent="0" algn="ctr">
                        <a:lnSpc>
                          <a:spcPct val="100000"/>
                        </a:lnSpc>
                        <a:defRPr/>
                      </a:pPr>
                      <a:r>
                        <a:rPr lang="en-US" sz="1400" b="0" i="0" u="none" strike="noStrike">
                          <a:solidFill>
                            <a:srgbClr val="374151"/>
                          </a:solidFill>
                          <a:latin typeface="Noto Sans SC"/>
                          <a:ea typeface="Noto Sans SC"/>
                          <a:cs typeface="Noto Sans SC"/>
                          <a:sym typeface="Noto Sans SC"/>
                        </a:rPr>
                        <a:t>DEFAULT '在职'</a:t>
                      </a:r>
                      <a:endParaRPr lang="en-US" sz="1100"/>
                    </a:p>
                  </a:txBody>
                  <a:tcPr marL="101600" marR="101600" marT="101600" marB="101600" anchor="ctr">
                    <a:lnL w="12700" cap="flat" cmpd="sng" algn="ctr">
                      <a:noFill/>
                      <a:prstDash val="solid"/>
                      <a:round/>
                      <a:headEnd type="none" w="med" len="med"/>
                      <a:tailEnd type="none" w="med" len="med"/>
                    </a:lnL>
                    <a:lnR>
                      <a:noFill/>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FFFFF">
                        <a:alpha val="100000"/>
                      </a:srgbClr>
                    </a:solidFill>
                  </a:tcPr>
                </a:tc>
                <a:tc>
                  <a:txBody>
                    <a:bodyPr/>
                    <a:lstStyle/>
                    <a:p>
                      <a:pPr indent="0" algn="ctr">
                        <a:lnSpc>
                          <a:spcPct val="100000"/>
                        </a:lnSpc>
                        <a:defRPr/>
                      </a:pPr>
                      <a:r>
                        <a:rPr lang="en-US" sz="1400" b="0" i="0" u="none" strike="noStrike">
                          <a:solidFill>
                            <a:srgbClr val="374151"/>
                          </a:solidFill>
                          <a:latin typeface="Noto Sans SC"/>
                          <a:ea typeface="Noto Sans SC"/>
                          <a:cs typeface="Noto Sans SC"/>
                          <a:sym typeface="Noto Sans SC"/>
                        </a:rPr>
                        <a:t>工作状态</a:t>
                      </a:r>
                      <a:endParaRPr lang="en-US" sz="1100"/>
                    </a:p>
                  </a:txBody>
                  <a:tcPr marL="101600" marR="101600" marT="101600" marB="101600" anchor="ctr">
                    <a:lnL>
                      <a:noFill/>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FFFFF">
                        <a:alpha val="100000"/>
                      </a:srgbClr>
                    </a:solid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5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508000"/>
            <a:ext cx="10668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800" b="1" i="0" u="none" strike="noStrike">
                <a:solidFill>
                  <a:srgbClr val="003366"/>
                </a:solidFill>
                <a:latin typeface="Noto Sans SC"/>
                <a:ea typeface="Noto Sans SC"/>
                <a:cs typeface="Noto Sans SC"/>
                <a:sym typeface="Noto Sans SC"/>
              </a:rPr>
              <a:t>数据库设计 - 物理设计 - APPOINTMENTS表</a:t>
            </a:r>
            <a:endParaRPr lang="en-US" sz="1100"/>
          </a:p>
        </p:txBody>
      </p:sp>
      <p:cxnSp>
        <p:nvCxnSpPr>
          <p:cNvPr id="3" name="Connector 3"/>
          <p:cNvCxnSpPr/>
          <p:nvPr/>
        </p:nvCxnSpPr>
        <p:spPr>
          <a:xfrm rot="-4092">
            <a:off x="762004" y="1162050"/>
            <a:ext cx="10668000" cy="12700"/>
          </a:xfrm>
          <a:prstGeom prst="straightConnector1">
            <a:avLst/>
          </a:prstGeom>
          <a:solidFill>
            <a:srgbClr val="DEE0E3">
              <a:alpha val="100000"/>
            </a:srgbClr>
          </a:solidFill>
          <a:ln w="12700" cap="flat" cmpd="sng">
            <a:solidFill>
              <a:srgbClr val="E5E7EB">
                <a:alpha val="100000"/>
              </a:srgbClr>
            </a:solidFill>
            <a:prstDash val="solid"/>
            <a:round/>
            <a:headEnd type="none" w="med" len="med"/>
            <a:tailEnd type="none" w="med" len="med"/>
          </a:ln>
        </p:spPr>
      </p:cxnSp>
      <p:graphicFrame>
        <p:nvGraphicFramePr>
          <p:cNvPr id="4" name="Table 4"/>
          <p:cNvGraphicFramePr>
            <a:graphicFrameLocks noGrp="1"/>
          </p:cNvGraphicFramePr>
          <p:nvPr/>
        </p:nvGraphicFramePr>
        <p:xfrm>
          <a:off x="762000" y="1549400"/>
          <a:ext cx="10668000" cy="4000500"/>
        </p:xfrm>
        <a:graphic>
          <a:graphicData uri="http://schemas.openxmlformats.org/drawingml/2006/table">
            <a:tbl>
              <a:tblPr>
                <a:effectLst/>
              </a:tblPr>
              <a:tblGrid>
                <a:gridCol w="2032000">
                  <a:extLst>
                    <a:ext uri="{9D8B030D-6E8A-4147-A177-3AD203B41FA5}">
                      <a16:colId xmlns:a16="http://schemas.microsoft.com/office/drawing/2014/main" val="20000"/>
                    </a:ext>
                  </a:extLst>
                </a:gridCol>
                <a:gridCol w="2032000">
                  <a:extLst>
                    <a:ext uri="{9D8B030D-6E8A-4147-A177-3AD203B41FA5}">
                      <a16:colId xmlns:a16="http://schemas.microsoft.com/office/drawing/2014/main" val="20001"/>
                    </a:ext>
                  </a:extLst>
                </a:gridCol>
                <a:gridCol w="1778000">
                  <a:extLst>
                    <a:ext uri="{9D8B030D-6E8A-4147-A177-3AD203B41FA5}">
                      <a16:colId xmlns:a16="http://schemas.microsoft.com/office/drawing/2014/main" val="20002"/>
                    </a:ext>
                  </a:extLst>
                </a:gridCol>
                <a:gridCol w="2540000">
                  <a:extLst>
                    <a:ext uri="{9D8B030D-6E8A-4147-A177-3AD203B41FA5}">
                      <a16:colId xmlns:a16="http://schemas.microsoft.com/office/drawing/2014/main" val="20003"/>
                    </a:ext>
                  </a:extLst>
                </a:gridCol>
                <a:gridCol w="2286000">
                  <a:extLst>
                    <a:ext uri="{9D8B030D-6E8A-4147-A177-3AD203B41FA5}">
                      <a16:colId xmlns:a16="http://schemas.microsoft.com/office/drawing/2014/main" val="20004"/>
                    </a:ext>
                  </a:extLst>
                </a:gridCol>
              </a:tblGrid>
              <a:tr h="571500">
                <a:tc>
                  <a:txBody>
                    <a:bodyPr/>
                    <a:lstStyle/>
                    <a:p>
                      <a:pPr indent="0" algn="ctr">
                        <a:lnSpc>
                          <a:spcPct val="100000"/>
                        </a:lnSpc>
                        <a:defRPr/>
                      </a:pPr>
                      <a:r>
                        <a:rPr lang="en-US" sz="1400" b="1" i="0" u="none" strike="noStrike">
                          <a:solidFill>
                            <a:srgbClr val="FFFFFF"/>
                          </a:solidFill>
                          <a:latin typeface="Noto Sans SC"/>
                          <a:ea typeface="Noto Sans SC"/>
                          <a:cs typeface="Noto Sans SC"/>
                          <a:sym typeface="Noto Sans SC"/>
                        </a:rPr>
                        <a:t>字段名</a:t>
                      </a:r>
                      <a:endParaRPr lang="en-US" sz="1100"/>
                    </a:p>
                  </a:txBody>
                  <a:tcPr marL="101600" marR="101600" marT="101600" marB="101600" anchor="ctr">
                    <a:lnL>
                      <a:noFill/>
                    </a:lnL>
                    <a:lnR>
                      <a:noFill/>
                    </a:lnR>
                    <a:lnT>
                      <a:noFill/>
                    </a:lnT>
                    <a:lnB>
                      <a:noFill/>
                    </a:lnB>
                    <a:solidFill>
                      <a:srgbClr val="003366">
                        <a:alpha val="100000"/>
                      </a:srgbClr>
                    </a:solidFill>
                  </a:tcPr>
                </a:tc>
                <a:tc>
                  <a:txBody>
                    <a:bodyPr/>
                    <a:lstStyle/>
                    <a:p>
                      <a:pPr indent="0" algn="ctr">
                        <a:lnSpc>
                          <a:spcPct val="100000"/>
                        </a:lnSpc>
                        <a:defRPr/>
                      </a:pPr>
                      <a:r>
                        <a:rPr lang="en-US" sz="1400" b="1" i="0" u="none" strike="noStrike">
                          <a:solidFill>
                            <a:srgbClr val="FFFFFF"/>
                          </a:solidFill>
                          <a:latin typeface="Noto Sans SC"/>
                          <a:ea typeface="Noto Sans SC"/>
                          <a:cs typeface="Noto Sans SC"/>
                          <a:sym typeface="Noto Sans SC"/>
                        </a:rPr>
                        <a:t>数据类型</a:t>
                      </a:r>
                      <a:endParaRPr lang="en-US" sz="1100"/>
                    </a:p>
                  </a:txBody>
                  <a:tcPr marL="101600" marR="101600" marT="101600" marB="101600" anchor="ctr">
                    <a:lnL>
                      <a:noFill/>
                    </a:lnL>
                    <a:lnR>
                      <a:noFill/>
                    </a:lnR>
                    <a:lnT>
                      <a:noFill/>
                    </a:lnT>
                    <a:lnB>
                      <a:noFill/>
                    </a:lnB>
                    <a:solidFill>
                      <a:srgbClr val="003366">
                        <a:alpha val="100000"/>
                      </a:srgbClr>
                    </a:solidFill>
                  </a:tcPr>
                </a:tc>
                <a:tc>
                  <a:txBody>
                    <a:bodyPr/>
                    <a:lstStyle/>
                    <a:p>
                      <a:pPr indent="0" algn="ctr">
                        <a:lnSpc>
                          <a:spcPct val="100000"/>
                        </a:lnSpc>
                        <a:defRPr/>
                      </a:pPr>
                      <a:r>
                        <a:rPr lang="en-US" sz="1400" b="1" i="0" u="none" strike="noStrike">
                          <a:solidFill>
                            <a:srgbClr val="FFFFFF"/>
                          </a:solidFill>
                          <a:latin typeface="Noto Sans SC"/>
                          <a:ea typeface="Noto Sans SC"/>
                          <a:cs typeface="Noto Sans SC"/>
                          <a:sym typeface="Noto Sans SC"/>
                        </a:rPr>
                        <a:t>主键/外键</a:t>
                      </a:r>
                      <a:endParaRPr lang="en-US" sz="1100"/>
                    </a:p>
                  </a:txBody>
                  <a:tcPr marL="101600" marR="101600" marT="101600" marB="101600" anchor="ctr">
                    <a:lnL>
                      <a:noFill/>
                    </a:lnL>
                    <a:lnR>
                      <a:noFill/>
                    </a:lnR>
                    <a:lnT>
                      <a:noFill/>
                    </a:lnT>
                    <a:lnB>
                      <a:noFill/>
                    </a:lnB>
                    <a:solidFill>
                      <a:srgbClr val="003366">
                        <a:alpha val="100000"/>
                      </a:srgbClr>
                    </a:solidFill>
                  </a:tcPr>
                </a:tc>
                <a:tc>
                  <a:txBody>
                    <a:bodyPr/>
                    <a:lstStyle/>
                    <a:p>
                      <a:pPr indent="0" algn="ctr">
                        <a:lnSpc>
                          <a:spcPct val="100000"/>
                        </a:lnSpc>
                        <a:defRPr/>
                      </a:pPr>
                      <a:r>
                        <a:rPr lang="en-US" sz="1400" b="1" i="0" u="none" strike="noStrike">
                          <a:solidFill>
                            <a:srgbClr val="FFFFFF"/>
                          </a:solidFill>
                          <a:latin typeface="Noto Sans SC"/>
                          <a:ea typeface="Noto Sans SC"/>
                          <a:cs typeface="Noto Sans SC"/>
                          <a:sym typeface="Noto Sans SC"/>
                        </a:rPr>
                        <a:t>约束条件</a:t>
                      </a:r>
                      <a:endParaRPr lang="en-US" sz="1100"/>
                    </a:p>
                  </a:txBody>
                  <a:tcPr marL="101600" marR="101600" marT="101600" marB="101600" anchor="ctr">
                    <a:lnL>
                      <a:noFill/>
                    </a:lnL>
                    <a:lnR>
                      <a:noFill/>
                    </a:lnR>
                    <a:lnT>
                      <a:noFill/>
                    </a:lnT>
                    <a:lnB>
                      <a:noFill/>
                    </a:lnB>
                    <a:solidFill>
                      <a:srgbClr val="003366">
                        <a:alpha val="100000"/>
                      </a:srgbClr>
                    </a:solidFill>
                  </a:tcPr>
                </a:tc>
                <a:tc>
                  <a:txBody>
                    <a:bodyPr/>
                    <a:lstStyle/>
                    <a:p>
                      <a:pPr indent="0" algn="ctr">
                        <a:lnSpc>
                          <a:spcPct val="100000"/>
                        </a:lnSpc>
                        <a:defRPr/>
                      </a:pPr>
                      <a:r>
                        <a:rPr lang="en-US" sz="1400" b="1" i="0" u="none" strike="noStrike">
                          <a:solidFill>
                            <a:srgbClr val="FFFFFF"/>
                          </a:solidFill>
                          <a:latin typeface="Noto Sans SC"/>
                          <a:ea typeface="Noto Sans SC"/>
                          <a:cs typeface="Noto Sans SC"/>
                          <a:sym typeface="Noto Sans SC"/>
                        </a:rPr>
                        <a:t>说明</a:t>
                      </a:r>
                      <a:endParaRPr lang="en-US" sz="1100"/>
                    </a:p>
                  </a:txBody>
                  <a:tcPr marL="101600" marR="101600" marT="101600" marB="101600" anchor="ctr">
                    <a:lnL>
                      <a:noFill/>
                    </a:lnL>
                    <a:lnR>
                      <a:noFill/>
                    </a:lnR>
                    <a:lnT>
                      <a:noFill/>
                    </a:lnT>
                    <a:lnB>
                      <a:noFill/>
                    </a:lnB>
                    <a:solidFill>
                      <a:srgbClr val="003366">
                        <a:alpha val="100000"/>
                      </a:srgbClr>
                    </a:solidFill>
                  </a:tcPr>
                </a:tc>
                <a:extLst>
                  <a:ext uri="{0D108BD9-81ED-4DB2-BD59-A6C34878D82A}">
                    <a16:rowId xmlns:a16="http://schemas.microsoft.com/office/drawing/2014/main" val="10000"/>
                  </a:ext>
                </a:extLst>
              </a:tr>
              <a:tr h="571500">
                <a:tc>
                  <a:txBody>
                    <a:bodyPr/>
                    <a:lstStyle/>
                    <a:p>
                      <a:pPr indent="0" algn="ctr">
                        <a:lnSpc>
                          <a:spcPct val="100000"/>
                        </a:lnSpc>
                        <a:defRPr/>
                      </a:pPr>
                      <a:r>
                        <a:rPr lang="en-US" sz="1400" b="0" i="0" u="none" strike="noStrike">
                          <a:solidFill>
                            <a:srgbClr val="374151"/>
                          </a:solidFill>
                          <a:latin typeface="Noto Sans SC"/>
                          <a:ea typeface="Noto Sans SC"/>
                          <a:cs typeface="Noto Sans SC"/>
                          <a:sym typeface="Noto Sans SC"/>
                        </a:rPr>
                        <a:t>id</a:t>
                      </a:r>
                      <a:endParaRPr lang="en-US" sz="1100"/>
                    </a:p>
                  </a:txBody>
                  <a:tcPr marL="101600" marR="101600" marT="101600" marB="101600" anchor="ctr">
                    <a:lnL>
                      <a:noFill/>
                    </a:lnL>
                    <a:lnR>
                      <a:noFill/>
                    </a:lnR>
                    <a:lnT>
                      <a:noFill/>
                    </a:lnT>
                    <a:lnB w="12700" cap="flat" cmpd="sng" algn="ctr">
                      <a:solidFill>
                        <a:srgbClr val="E5E7EB"/>
                      </a:solidFill>
                      <a:prstDash val="solid"/>
                      <a:round/>
                      <a:headEnd type="none" w="med" len="med"/>
                      <a:tailEnd type="none" w="med" len="med"/>
                    </a:lnB>
                    <a:solidFill>
                      <a:srgbClr val="FFFFFF">
                        <a:alpha val="100000"/>
                      </a:srgbClr>
                    </a:solidFill>
                  </a:tcPr>
                </a:tc>
                <a:tc>
                  <a:txBody>
                    <a:bodyPr/>
                    <a:lstStyle/>
                    <a:p>
                      <a:pPr indent="0" algn="ctr">
                        <a:lnSpc>
                          <a:spcPct val="100000"/>
                        </a:lnSpc>
                        <a:defRPr/>
                      </a:pPr>
                      <a:r>
                        <a:rPr lang="en-US" sz="1400" b="0" i="0" u="none" strike="noStrike">
                          <a:solidFill>
                            <a:srgbClr val="374151"/>
                          </a:solidFill>
                          <a:latin typeface="Noto Sans SC"/>
                          <a:ea typeface="Noto Sans SC"/>
                          <a:cs typeface="Noto Sans SC"/>
                          <a:sym typeface="Noto Sans SC"/>
                        </a:rPr>
                        <a:t>INTEGER</a:t>
                      </a:r>
                      <a:endParaRPr lang="en-US" sz="1100"/>
                    </a:p>
                  </a:txBody>
                  <a:tcPr marL="101600" marR="101600" marT="101600" marB="101600" anchor="ctr">
                    <a:lnL>
                      <a:noFill/>
                    </a:lnL>
                    <a:lnR>
                      <a:noFill/>
                    </a:lnR>
                    <a:lnT>
                      <a:noFill/>
                    </a:lnT>
                    <a:lnB w="12700" cap="flat" cmpd="sng" algn="ctr">
                      <a:solidFill>
                        <a:srgbClr val="E5E7EB"/>
                      </a:solidFill>
                      <a:prstDash val="solid"/>
                      <a:round/>
                      <a:headEnd type="none" w="med" len="med"/>
                      <a:tailEnd type="none" w="med" len="med"/>
                    </a:lnB>
                    <a:solidFill>
                      <a:srgbClr val="FFFFFF">
                        <a:alpha val="100000"/>
                      </a:srgbClr>
                    </a:solidFill>
                  </a:tcPr>
                </a:tc>
                <a:tc>
                  <a:txBody>
                    <a:bodyPr/>
                    <a:lstStyle/>
                    <a:p>
                      <a:pPr indent="0" algn="ctr">
                        <a:lnSpc>
                          <a:spcPct val="100000"/>
                        </a:lnSpc>
                        <a:defRPr/>
                      </a:pPr>
                      <a:r>
                        <a:rPr lang="en-US" sz="1400" b="1" i="0" u="none" strike="noStrike">
                          <a:solidFill>
                            <a:srgbClr val="4A90E2"/>
                          </a:solidFill>
                          <a:latin typeface="Noto Sans SC"/>
                          <a:ea typeface="Noto Sans SC"/>
                          <a:cs typeface="Noto Sans SC"/>
                          <a:sym typeface="Noto Sans SC"/>
                        </a:rPr>
                        <a:t>PK</a:t>
                      </a:r>
                      <a:endParaRPr lang="en-US" sz="1100"/>
                    </a:p>
                  </a:txBody>
                  <a:tcPr marL="101600" marR="101600" marT="101600" marB="101600" anchor="ctr">
                    <a:lnL>
                      <a:noFill/>
                    </a:lnL>
                    <a:lnR>
                      <a:noFill/>
                    </a:lnR>
                    <a:lnT>
                      <a:noFill/>
                    </a:lnT>
                    <a:lnB w="12700" cap="flat" cmpd="sng" algn="ctr">
                      <a:solidFill>
                        <a:srgbClr val="E5E7EB"/>
                      </a:solidFill>
                      <a:prstDash val="solid"/>
                      <a:round/>
                      <a:headEnd type="none" w="med" len="med"/>
                      <a:tailEnd type="none" w="med" len="med"/>
                    </a:lnB>
                    <a:solidFill>
                      <a:srgbClr val="FFFFFF">
                        <a:alpha val="100000"/>
                      </a:srgbClr>
                    </a:solidFill>
                  </a:tcPr>
                </a:tc>
                <a:tc>
                  <a:txBody>
                    <a:bodyPr/>
                    <a:lstStyle/>
                    <a:p>
                      <a:pPr indent="0" algn="ctr">
                        <a:lnSpc>
                          <a:spcPct val="100000"/>
                        </a:lnSpc>
                        <a:defRPr/>
                      </a:pPr>
                      <a:r>
                        <a:rPr lang="en-US" sz="1400" b="0" i="0" u="none" strike="noStrike">
                          <a:solidFill>
                            <a:srgbClr val="374151"/>
                          </a:solidFill>
                          <a:latin typeface="Noto Sans SC"/>
                          <a:ea typeface="Noto Sans SC"/>
                          <a:cs typeface="Noto Sans SC"/>
                          <a:sym typeface="Noto Sans SC"/>
                        </a:rPr>
                        <a:t>AUTOINCREMENT</a:t>
                      </a:r>
                      <a:endParaRPr lang="en-US" sz="1100"/>
                    </a:p>
                  </a:txBody>
                  <a:tcPr marL="101600" marR="101600" marT="101600" marB="101600" anchor="ctr">
                    <a:lnL>
                      <a:noFill/>
                    </a:lnL>
                    <a:lnR>
                      <a:noFill/>
                    </a:lnR>
                    <a:lnT>
                      <a:noFill/>
                    </a:lnT>
                    <a:lnB w="12700" cap="flat" cmpd="sng" algn="ctr">
                      <a:solidFill>
                        <a:srgbClr val="E5E7EB"/>
                      </a:solidFill>
                      <a:prstDash val="solid"/>
                      <a:round/>
                      <a:headEnd type="none" w="med" len="med"/>
                      <a:tailEnd type="none" w="med" len="med"/>
                    </a:lnB>
                    <a:solidFill>
                      <a:srgbClr val="FFFFFF">
                        <a:alpha val="100000"/>
                      </a:srgbClr>
                    </a:solidFill>
                  </a:tcPr>
                </a:tc>
                <a:tc>
                  <a:txBody>
                    <a:bodyPr/>
                    <a:lstStyle/>
                    <a:p>
                      <a:pPr indent="0" algn="ctr">
                        <a:lnSpc>
                          <a:spcPct val="100000"/>
                        </a:lnSpc>
                        <a:defRPr/>
                      </a:pPr>
                      <a:r>
                        <a:rPr lang="en-US" sz="1400" b="0" i="0" u="none" strike="noStrike">
                          <a:solidFill>
                            <a:srgbClr val="374151"/>
                          </a:solidFill>
                          <a:latin typeface="Noto Sans SC"/>
                          <a:ea typeface="Noto Sans SC"/>
                          <a:cs typeface="Noto Sans SC"/>
                          <a:sym typeface="Noto Sans SC"/>
                        </a:rPr>
                        <a:t>预约编号</a:t>
                      </a:r>
                      <a:endParaRPr lang="en-US" sz="1100"/>
                    </a:p>
                  </a:txBody>
                  <a:tcPr marL="101600" marR="101600" marT="101600" marB="101600" anchor="ctr">
                    <a:lnL>
                      <a:noFill/>
                    </a:lnL>
                    <a:lnR>
                      <a:noFill/>
                    </a:lnR>
                    <a:lnT>
                      <a:noFill/>
                    </a:lnT>
                    <a:lnB w="12700" cap="flat" cmpd="sng" algn="ctr">
                      <a:solidFill>
                        <a:srgbClr val="E5E7EB"/>
                      </a:solidFill>
                      <a:prstDash val="solid"/>
                      <a:round/>
                      <a:headEnd type="none" w="med" len="med"/>
                      <a:tailEnd type="none" w="med" len="med"/>
                    </a:lnB>
                    <a:solidFill>
                      <a:srgbClr val="FFFFFF">
                        <a:alpha val="100000"/>
                      </a:srgbClr>
                    </a:solidFill>
                  </a:tcPr>
                </a:tc>
                <a:extLst>
                  <a:ext uri="{0D108BD9-81ED-4DB2-BD59-A6C34878D82A}">
                    <a16:rowId xmlns:a16="http://schemas.microsoft.com/office/drawing/2014/main" val="10001"/>
                  </a:ext>
                </a:extLst>
              </a:tr>
              <a:tr h="571500">
                <a:tc>
                  <a:txBody>
                    <a:bodyPr/>
                    <a:lstStyle/>
                    <a:p>
                      <a:pPr indent="0" algn="ctr">
                        <a:lnSpc>
                          <a:spcPct val="100000"/>
                        </a:lnSpc>
                        <a:defRPr/>
                      </a:pPr>
                      <a:r>
                        <a:rPr lang="en-US" sz="1400" b="0" i="0" u="none" strike="noStrike">
                          <a:solidFill>
                            <a:srgbClr val="374151"/>
                          </a:solidFill>
                          <a:latin typeface="Noto Sans SC"/>
                          <a:ea typeface="Noto Sans SC"/>
                          <a:cs typeface="Noto Sans SC"/>
                          <a:sym typeface="Noto Sans SC"/>
                        </a:rPr>
                        <a:t>patient_name</a:t>
                      </a:r>
                      <a:endParaRPr lang="en-US" sz="1100"/>
                    </a:p>
                  </a:txBody>
                  <a:tcPr marL="101600" marR="101600" marT="101600" marB="101600" anchor="ctr">
                    <a:lnL>
                      <a:noFill/>
                    </a:lnL>
                    <a:lnR>
                      <a:noFill/>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FFFFF">
                        <a:alpha val="100000"/>
                      </a:srgbClr>
                    </a:solidFill>
                  </a:tcPr>
                </a:tc>
                <a:tc>
                  <a:txBody>
                    <a:bodyPr/>
                    <a:lstStyle/>
                    <a:p>
                      <a:pPr indent="0" algn="ctr">
                        <a:lnSpc>
                          <a:spcPct val="100000"/>
                        </a:lnSpc>
                        <a:defRPr/>
                      </a:pPr>
                      <a:r>
                        <a:rPr lang="en-US" sz="1400" b="0" i="0" u="none" strike="noStrike">
                          <a:solidFill>
                            <a:srgbClr val="374151"/>
                          </a:solidFill>
                          <a:latin typeface="Noto Sans SC"/>
                          <a:ea typeface="Noto Sans SC"/>
                          <a:cs typeface="Noto Sans SC"/>
                          <a:sym typeface="Noto Sans SC"/>
                        </a:rPr>
                        <a:t>TEXT</a:t>
                      </a:r>
                      <a:endParaRPr lang="en-US" sz="1100"/>
                    </a:p>
                  </a:txBody>
                  <a:tcPr marL="101600" marR="101600" marT="101600" marB="101600" anchor="ctr">
                    <a:lnL>
                      <a:noFill/>
                    </a:lnL>
                    <a:lnR>
                      <a:noFill/>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FFFFF">
                        <a:alpha val="100000"/>
                      </a:srgbClr>
                    </a:solidFill>
                  </a:tcPr>
                </a:tc>
                <a:tc>
                  <a:txBody>
                    <a:bodyPr/>
                    <a:lstStyle/>
                    <a:p>
                      <a:pPr indent="0" algn="ctr">
                        <a:lnSpc>
                          <a:spcPct val="100000"/>
                        </a:lnSpc>
                        <a:defRPr/>
                      </a:pPr>
                      <a:r>
                        <a:rPr lang="en-US" sz="1400" b="0" i="0" u="none" strike="noStrike">
                          <a:solidFill>
                            <a:srgbClr val="6B7280"/>
                          </a:solidFill>
                          <a:latin typeface="Noto Sans SC"/>
                          <a:ea typeface="Noto Sans SC"/>
                          <a:cs typeface="Noto Sans SC"/>
                          <a:sym typeface="Noto Sans SC"/>
                        </a:rPr>
                        <a:t>-</a:t>
                      </a:r>
                      <a:endParaRPr lang="en-US" sz="1100"/>
                    </a:p>
                  </a:txBody>
                  <a:tcPr marL="101600" marR="101600" marT="101600" marB="101600" anchor="ctr">
                    <a:lnL>
                      <a:noFill/>
                    </a:lnL>
                    <a:lnR>
                      <a:noFill/>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FFFFF">
                        <a:alpha val="100000"/>
                      </a:srgbClr>
                    </a:solidFill>
                  </a:tcPr>
                </a:tc>
                <a:tc>
                  <a:txBody>
                    <a:bodyPr/>
                    <a:lstStyle/>
                    <a:p>
                      <a:pPr indent="0" algn="ctr">
                        <a:lnSpc>
                          <a:spcPct val="100000"/>
                        </a:lnSpc>
                        <a:defRPr/>
                      </a:pPr>
                      <a:r>
                        <a:rPr lang="en-US" sz="1400" b="0" i="0" u="none" strike="noStrike">
                          <a:solidFill>
                            <a:srgbClr val="374151"/>
                          </a:solidFill>
                          <a:latin typeface="Noto Sans SC"/>
                          <a:ea typeface="Noto Sans SC"/>
                          <a:cs typeface="Noto Sans SC"/>
                          <a:sym typeface="Noto Sans SC"/>
                        </a:rPr>
                        <a:t>NOT NULL</a:t>
                      </a:r>
                      <a:endParaRPr lang="en-US" sz="1100"/>
                    </a:p>
                  </a:txBody>
                  <a:tcPr marL="101600" marR="101600" marT="101600" marB="101600" anchor="ctr">
                    <a:lnL>
                      <a:noFill/>
                    </a:lnL>
                    <a:lnR>
                      <a:noFill/>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FFFFF">
                        <a:alpha val="100000"/>
                      </a:srgbClr>
                    </a:solidFill>
                  </a:tcPr>
                </a:tc>
                <a:tc>
                  <a:txBody>
                    <a:bodyPr/>
                    <a:lstStyle/>
                    <a:p>
                      <a:pPr indent="0" algn="ctr">
                        <a:lnSpc>
                          <a:spcPct val="100000"/>
                        </a:lnSpc>
                        <a:defRPr/>
                      </a:pPr>
                      <a:r>
                        <a:rPr lang="en-US" sz="1400" b="0" i="0" u="none" strike="noStrike">
                          <a:solidFill>
                            <a:srgbClr val="374151"/>
                          </a:solidFill>
                          <a:latin typeface="Noto Sans SC"/>
                          <a:ea typeface="Noto Sans SC"/>
                          <a:cs typeface="Noto Sans SC"/>
                          <a:sym typeface="Noto Sans SC"/>
                        </a:rPr>
                        <a:t>患者姓名</a:t>
                      </a:r>
                      <a:endParaRPr lang="en-US" sz="1100"/>
                    </a:p>
                  </a:txBody>
                  <a:tcPr marL="101600" marR="101600" marT="101600" marB="101600" anchor="ctr">
                    <a:lnL>
                      <a:noFill/>
                    </a:lnL>
                    <a:lnR>
                      <a:noFill/>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FFFFF">
                        <a:alpha val="100000"/>
                      </a:srgbClr>
                    </a:solidFill>
                  </a:tcPr>
                </a:tc>
                <a:extLst>
                  <a:ext uri="{0D108BD9-81ED-4DB2-BD59-A6C34878D82A}">
                    <a16:rowId xmlns:a16="http://schemas.microsoft.com/office/drawing/2014/main" val="10002"/>
                  </a:ext>
                </a:extLst>
              </a:tr>
              <a:tr h="571500">
                <a:tc>
                  <a:txBody>
                    <a:bodyPr/>
                    <a:lstStyle/>
                    <a:p>
                      <a:pPr indent="0" algn="ctr">
                        <a:lnSpc>
                          <a:spcPct val="100000"/>
                        </a:lnSpc>
                        <a:defRPr/>
                      </a:pPr>
                      <a:r>
                        <a:rPr lang="en-US" sz="1400" b="0" i="0" u="none" strike="noStrike">
                          <a:solidFill>
                            <a:srgbClr val="374151"/>
                          </a:solidFill>
                          <a:latin typeface="Noto Sans SC"/>
                          <a:ea typeface="Noto Sans SC"/>
                          <a:cs typeface="Noto Sans SC"/>
                          <a:sym typeface="Noto Sans SC"/>
                        </a:rPr>
                        <a:t>phone</a:t>
                      </a:r>
                      <a:endParaRPr lang="en-US" sz="1100"/>
                    </a:p>
                  </a:txBody>
                  <a:tcPr marL="101600" marR="101600" marT="101600" marB="101600" anchor="ctr">
                    <a:lnL>
                      <a:noFill/>
                    </a:lnL>
                    <a:lnR>
                      <a:noFill/>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FFFFF">
                        <a:alpha val="100000"/>
                      </a:srgbClr>
                    </a:solidFill>
                  </a:tcPr>
                </a:tc>
                <a:tc>
                  <a:txBody>
                    <a:bodyPr/>
                    <a:lstStyle/>
                    <a:p>
                      <a:pPr indent="0" algn="ctr">
                        <a:lnSpc>
                          <a:spcPct val="100000"/>
                        </a:lnSpc>
                        <a:defRPr/>
                      </a:pPr>
                      <a:r>
                        <a:rPr lang="en-US" sz="1400" b="0" i="0" u="none" strike="noStrike">
                          <a:solidFill>
                            <a:srgbClr val="374151"/>
                          </a:solidFill>
                          <a:latin typeface="Noto Sans SC"/>
                          <a:ea typeface="Noto Sans SC"/>
                          <a:cs typeface="Noto Sans SC"/>
                          <a:sym typeface="Noto Sans SC"/>
                        </a:rPr>
                        <a:t>TEXT</a:t>
                      </a:r>
                      <a:endParaRPr lang="en-US" sz="1100"/>
                    </a:p>
                  </a:txBody>
                  <a:tcPr marL="101600" marR="101600" marT="101600" marB="101600" anchor="ctr">
                    <a:lnL>
                      <a:noFill/>
                    </a:lnL>
                    <a:lnR>
                      <a:noFill/>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FFFFF">
                        <a:alpha val="100000"/>
                      </a:srgbClr>
                    </a:solidFill>
                  </a:tcPr>
                </a:tc>
                <a:tc>
                  <a:txBody>
                    <a:bodyPr/>
                    <a:lstStyle/>
                    <a:p>
                      <a:pPr indent="0" algn="ctr">
                        <a:lnSpc>
                          <a:spcPct val="100000"/>
                        </a:lnSpc>
                        <a:defRPr/>
                      </a:pPr>
                      <a:r>
                        <a:rPr lang="en-US" sz="1400" b="0" i="0" u="none" strike="noStrike">
                          <a:solidFill>
                            <a:srgbClr val="6B7280"/>
                          </a:solidFill>
                          <a:latin typeface="Noto Sans SC"/>
                          <a:ea typeface="Noto Sans SC"/>
                          <a:cs typeface="Noto Sans SC"/>
                          <a:sym typeface="Noto Sans SC"/>
                        </a:rPr>
                        <a:t>-</a:t>
                      </a:r>
                      <a:endParaRPr lang="en-US" sz="1100"/>
                    </a:p>
                  </a:txBody>
                  <a:tcPr marL="101600" marR="101600" marT="101600" marB="101600" anchor="ctr">
                    <a:lnL>
                      <a:noFill/>
                    </a:lnL>
                    <a:lnR>
                      <a:noFill/>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FFFFF">
                        <a:alpha val="100000"/>
                      </a:srgbClr>
                    </a:solidFill>
                  </a:tcPr>
                </a:tc>
                <a:tc>
                  <a:txBody>
                    <a:bodyPr/>
                    <a:lstStyle/>
                    <a:p>
                      <a:pPr indent="0" algn="ctr">
                        <a:lnSpc>
                          <a:spcPct val="100000"/>
                        </a:lnSpc>
                        <a:defRPr/>
                      </a:pPr>
                      <a:r>
                        <a:rPr lang="en-US" sz="1400" b="0" i="0" u="none" strike="noStrike">
                          <a:solidFill>
                            <a:srgbClr val="374151"/>
                          </a:solidFill>
                          <a:latin typeface="Noto Sans SC"/>
                          <a:ea typeface="Noto Sans SC"/>
                          <a:cs typeface="Noto Sans SC"/>
                          <a:sym typeface="Noto Sans SC"/>
                        </a:rPr>
                        <a:t>NOT NULL</a:t>
                      </a:r>
                      <a:endParaRPr lang="en-US" sz="1100"/>
                    </a:p>
                  </a:txBody>
                  <a:tcPr marL="101600" marR="101600" marT="101600" marB="101600" anchor="ctr">
                    <a:lnL>
                      <a:noFill/>
                    </a:lnL>
                    <a:lnR>
                      <a:noFill/>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FFFFF">
                        <a:alpha val="100000"/>
                      </a:srgbClr>
                    </a:solidFill>
                  </a:tcPr>
                </a:tc>
                <a:tc>
                  <a:txBody>
                    <a:bodyPr/>
                    <a:lstStyle/>
                    <a:p>
                      <a:pPr indent="0" algn="ctr">
                        <a:lnSpc>
                          <a:spcPct val="100000"/>
                        </a:lnSpc>
                        <a:defRPr/>
                      </a:pPr>
                      <a:r>
                        <a:rPr lang="en-US" sz="1400" b="0" i="0" u="none" strike="noStrike">
                          <a:solidFill>
                            <a:srgbClr val="374151"/>
                          </a:solidFill>
                          <a:latin typeface="Noto Sans SC"/>
                          <a:ea typeface="Noto Sans SC"/>
                          <a:cs typeface="Noto Sans SC"/>
                          <a:sym typeface="Noto Sans SC"/>
                        </a:rPr>
                        <a:t>联系电话</a:t>
                      </a:r>
                      <a:endParaRPr lang="en-US" sz="1100"/>
                    </a:p>
                  </a:txBody>
                  <a:tcPr marL="101600" marR="101600" marT="101600" marB="101600" anchor="ctr">
                    <a:lnL>
                      <a:noFill/>
                    </a:lnL>
                    <a:lnR>
                      <a:noFill/>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FFFFF">
                        <a:alpha val="100000"/>
                      </a:srgbClr>
                    </a:solidFill>
                  </a:tcPr>
                </a:tc>
                <a:extLst>
                  <a:ext uri="{0D108BD9-81ED-4DB2-BD59-A6C34878D82A}">
                    <a16:rowId xmlns:a16="http://schemas.microsoft.com/office/drawing/2014/main" val="10003"/>
                  </a:ext>
                </a:extLst>
              </a:tr>
              <a:tr h="571500">
                <a:tc>
                  <a:txBody>
                    <a:bodyPr/>
                    <a:lstStyle/>
                    <a:p>
                      <a:pPr indent="0" algn="ctr">
                        <a:lnSpc>
                          <a:spcPct val="100000"/>
                        </a:lnSpc>
                        <a:defRPr/>
                      </a:pPr>
                      <a:r>
                        <a:rPr lang="en-US" sz="1400" b="0" i="0" u="none" strike="noStrike">
                          <a:solidFill>
                            <a:srgbClr val="374151"/>
                          </a:solidFill>
                          <a:latin typeface="Noto Sans SC"/>
                          <a:ea typeface="Noto Sans SC"/>
                          <a:cs typeface="Noto Sans SC"/>
                          <a:sym typeface="Noto Sans SC"/>
                        </a:rPr>
                        <a:t>dept_name</a:t>
                      </a:r>
                      <a:endParaRPr lang="en-US" sz="1100"/>
                    </a:p>
                  </a:txBody>
                  <a:tcPr marL="101600" marR="101600" marT="101600" marB="101600" anchor="ctr">
                    <a:lnL>
                      <a:noFill/>
                    </a:lnL>
                    <a:lnR>
                      <a:noFill/>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FFFFF">
                        <a:alpha val="100000"/>
                      </a:srgbClr>
                    </a:solidFill>
                  </a:tcPr>
                </a:tc>
                <a:tc>
                  <a:txBody>
                    <a:bodyPr/>
                    <a:lstStyle/>
                    <a:p>
                      <a:pPr indent="0" algn="ctr">
                        <a:lnSpc>
                          <a:spcPct val="100000"/>
                        </a:lnSpc>
                        <a:defRPr/>
                      </a:pPr>
                      <a:r>
                        <a:rPr lang="en-US" sz="1400" b="0" i="0" u="none" strike="noStrike">
                          <a:solidFill>
                            <a:srgbClr val="374151"/>
                          </a:solidFill>
                          <a:latin typeface="Noto Sans SC"/>
                          <a:ea typeface="Noto Sans SC"/>
                          <a:cs typeface="Noto Sans SC"/>
                          <a:sym typeface="Noto Sans SC"/>
                        </a:rPr>
                        <a:t>TEXT</a:t>
                      </a:r>
                      <a:endParaRPr lang="en-US" sz="1100"/>
                    </a:p>
                  </a:txBody>
                  <a:tcPr marL="101600" marR="101600" marT="101600" marB="101600" anchor="ctr">
                    <a:lnL>
                      <a:noFill/>
                    </a:lnL>
                    <a:lnR>
                      <a:noFill/>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FFFFF">
                        <a:alpha val="100000"/>
                      </a:srgbClr>
                    </a:solidFill>
                  </a:tcPr>
                </a:tc>
                <a:tc>
                  <a:txBody>
                    <a:bodyPr/>
                    <a:lstStyle/>
                    <a:p>
                      <a:pPr indent="0" algn="ctr">
                        <a:lnSpc>
                          <a:spcPct val="100000"/>
                        </a:lnSpc>
                        <a:defRPr/>
                      </a:pPr>
                      <a:r>
                        <a:rPr lang="en-US" sz="1400" b="0" i="0" u="none" strike="noStrike">
                          <a:solidFill>
                            <a:srgbClr val="6B7280"/>
                          </a:solidFill>
                          <a:latin typeface="Noto Sans SC"/>
                          <a:ea typeface="Noto Sans SC"/>
                          <a:cs typeface="Noto Sans SC"/>
                          <a:sym typeface="Noto Sans SC"/>
                        </a:rPr>
                        <a:t>-</a:t>
                      </a:r>
                      <a:endParaRPr lang="en-US" sz="1100"/>
                    </a:p>
                  </a:txBody>
                  <a:tcPr marL="101600" marR="101600" marT="101600" marB="101600" anchor="ctr">
                    <a:lnL>
                      <a:noFill/>
                    </a:lnL>
                    <a:lnR>
                      <a:noFill/>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FFFFF">
                        <a:alpha val="100000"/>
                      </a:srgbClr>
                    </a:solidFill>
                  </a:tcPr>
                </a:tc>
                <a:tc>
                  <a:txBody>
                    <a:bodyPr/>
                    <a:lstStyle/>
                    <a:p>
                      <a:pPr indent="0" algn="ctr">
                        <a:lnSpc>
                          <a:spcPct val="100000"/>
                        </a:lnSpc>
                        <a:defRPr/>
                      </a:pPr>
                      <a:r>
                        <a:rPr lang="en-US" sz="1400" b="0" i="0" u="none" strike="noStrike">
                          <a:solidFill>
                            <a:srgbClr val="374151"/>
                          </a:solidFill>
                          <a:latin typeface="Noto Sans SC"/>
                          <a:ea typeface="Noto Sans SC"/>
                          <a:cs typeface="Noto Sans SC"/>
                          <a:sym typeface="Noto Sans SC"/>
                        </a:rPr>
                        <a:t>NOT NULL</a:t>
                      </a:r>
                      <a:endParaRPr lang="en-US" sz="1100"/>
                    </a:p>
                  </a:txBody>
                  <a:tcPr marL="101600" marR="101600" marT="101600" marB="101600" anchor="ctr">
                    <a:lnL>
                      <a:noFill/>
                    </a:lnL>
                    <a:lnR>
                      <a:noFill/>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FFFFF">
                        <a:alpha val="100000"/>
                      </a:srgbClr>
                    </a:solidFill>
                  </a:tcPr>
                </a:tc>
                <a:tc>
                  <a:txBody>
                    <a:bodyPr/>
                    <a:lstStyle/>
                    <a:p>
                      <a:pPr indent="0" algn="ctr">
                        <a:lnSpc>
                          <a:spcPct val="100000"/>
                        </a:lnSpc>
                        <a:defRPr/>
                      </a:pPr>
                      <a:r>
                        <a:rPr lang="en-US" sz="1400" b="0" i="0" u="none" strike="noStrike">
                          <a:solidFill>
                            <a:srgbClr val="374151"/>
                          </a:solidFill>
                          <a:latin typeface="Noto Sans SC"/>
                          <a:ea typeface="Noto Sans SC"/>
                          <a:cs typeface="Noto Sans SC"/>
                          <a:sym typeface="Noto Sans SC"/>
                        </a:rPr>
                        <a:t>预约科室</a:t>
                      </a:r>
                      <a:endParaRPr lang="en-US" sz="1100"/>
                    </a:p>
                  </a:txBody>
                  <a:tcPr marL="101600" marR="101600" marT="101600" marB="101600" anchor="ctr">
                    <a:lnL>
                      <a:noFill/>
                    </a:lnL>
                    <a:lnR>
                      <a:noFill/>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FFFFF">
                        <a:alpha val="100000"/>
                      </a:srgbClr>
                    </a:solidFill>
                  </a:tcPr>
                </a:tc>
                <a:extLst>
                  <a:ext uri="{0D108BD9-81ED-4DB2-BD59-A6C34878D82A}">
                    <a16:rowId xmlns:a16="http://schemas.microsoft.com/office/drawing/2014/main" val="10004"/>
                  </a:ext>
                </a:extLst>
              </a:tr>
              <a:tr h="571500">
                <a:tc>
                  <a:txBody>
                    <a:bodyPr/>
                    <a:lstStyle/>
                    <a:p>
                      <a:pPr indent="0" algn="ctr">
                        <a:lnSpc>
                          <a:spcPct val="100000"/>
                        </a:lnSpc>
                        <a:defRPr/>
                      </a:pPr>
                      <a:r>
                        <a:rPr lang="en-US" sz="1400" b="0" i="0" u="none" strike="noStrike">
                          <a:solidFill>
                            <a:srgbClr val="374151"/>
                          </a:solidFill>
                          <a:latin typeface="Noto Sans SC"/>
                          <a:ea typeface="Noto Sans SC"/>
                          <a:cs typeface="Noto Sans SC"/>
                          <a:sym typeface="Noto Sans SC"/>
                        </a:rPr>
                        <a:t>expected_time</a:t>
                      </a:r>
                      <a:endParaRPr lang="en-US" sz="1100"/>
                    </a:p>
                  </a:txBody>
                  <a:tcPr marL="101600" marR="101600" marT="101600" marB="101600" anchor="ctr">
                    <a:lnL>
                      <a:noFill/>
                    </a:lnL>
                    <a:lnR>
                      <a:noFill/>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FFFFF">
                        <a:alpha val="100000"/>
                      </a:srgbClr>
                    </a:solidFill>
                  </a:tcPr>
                </a:tc>
                <a:tc>
                  <a:txBody>
                    <a:bodyPr/>
                    <a:lstStyle/>
                    <a:p>
                      <a:pPr indent="0" algn="ctr">
                        <a:lnSpc>
                          <a:spcPct val="100000"/>
                        </a:lnSpc>
                        <a:defRPr/>
                      </a:pPr>
                      <a:r>
                        <a:rPr lang="en-US" sz="1400" b="0" i="0" u="none" strike="noStrike">
                          <a:solidFill>
                            <a:srgbClr val="374151"/>
                          </a:solidFill>
                          <a:latin typeface="Noto Sans SC"/>
                          <a:ea typeface="Noto Sans SC"/>
                          <a:cs typeface="Noto Sans SC"/>
                          <a:sym typeface="Noto Sans SC"/>
                        </a:rPr>
                        <a:t>DATETIME</a:t>
                      </a:r>
                      <a:endParaRPr lang="en-US" sz="1100"/>
                    </a:p>
                  </a:txBody>
                  <a:tcPr marL="101600" marR="101600" marT="101600" marB="101600" anchor="ctr">
                    <a:lnL>
                      <a:noFill/>
                    </a:lnL>
                    <a:lnR>
                      <a:noFill/>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FFFFF">
                        <a:alpha val="100000"/>
                      </a:srgbClr>
                    </a:solidFill>
                  </a:tcPr>
                </a:tc>
                <a:tc>
                  <a:txBody>
                    <a:bodyPr/>
                    <a:lstStyle/>
                    <a:p>
                      <a:pPr indent="0" algn="ctr">
                        <a:lnSpc>
                          <a:spcPct val="100000"/>
                        </a:lnSpc>
                        <a:defRPr/>
                      </a:pPr>
                      <a:r>
                        <a:rPr lang="en-US" sz="1400" b="0" i="0" u="none" strike="noStrike">
                          <a:solidFill>
                            <a:srgbClr val="6B7280"/>
                          </a:solidFill>
                          <a:latin typeface="Noto Sans SC"/>
                          <a:ea typeface="Noto Sans SC"/>
                          <a:cs typeface="Noto Sans SC"/>
                          <a:sym typeface="Noto Sans SC"/>
                        </a:rPr>
                        <a:t>-</a:t>
                      </a:r>
                      <a:endParaRPr lang="en-US" sz="1100"/>
                    </a:p>
                  </a:txBody>
                  <a:tcPr marL="101600" marR="101600" marT="101600" marB="101600" anchor="ctr">
                    <a:lnL>
                      <a:noFill/>
                    </a:lnL>
                    <a:lnR>
                      <a:noFill/>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FFFFF">
                        <a:alpha val="100000"/>
                      </a:srgbClr>
                    </a:solidFill>
                  </a:tcPr>
                </a:tc>
                <a:tc>
                  <a:txBody>
                    <a:bodyPr/>
                    <a:lstStyle/>
                    <a:p>
                      <a:pPr indent="0" algn="ctr">
                        <a:lnSpc>
                          <a:spcPct val="100000"/>
                        </a:lnSpc>
                        <a:defRPr/>
                      </a:pPr>
                      <a:r>
                        <a:rPr lang="en-US" sz="1400" b="0" i="0" u="none" strike="noStrike">
                          <a:solidFill>
                            <a:srgbClr val="374151"/>
                          </a:solidFill>
                          <a:latin typeface="Noto Sans SC"/>
                          <a:ea typeface="Noto Sans SC"/>
                          <a:cs typeface="Noto Sans SC"/>
                          <a:sym typeface="Noto Sans SC"/>
                        </a:rPr>
                        <a:t>NOT NULL</a:t>
                      </a:r>
                      <a:endParaRPr lang="en-US" sz="1100"/>
                    </a:p>
                  </a:txBody>
                  <a:tcPr marL="101600" marR="101600" marT="101600" marB="101600" anchor="ctr">
                    <a:lnL>
                      <a:noFill/>
                    </a:lnL>
                    <a:lnR>
                      <a:noFill/>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FFFFF">
                        <a:alpha val="100000"/>
                      </a:srgbClr>
                    </a:solidFill>
                  </a:tcPr>
                </a:tc>
                <a:tc>
                  <a:txBody>
                    <a:bodyPr/>
                    <a:lstStyle/>
                    <a:p>
                      <a:pPr indent="0" algn="ctr">
                        <a:lnSpc>
                          <a:spcPct val="100000"/>
                        </a:lnSpc>
                        <a:defRPr/>
                      </a:pPr>
                      <a:r>
                        <a:rPr lang="en-US" sz="1400" b="0" i="0" u="none" strike="noStrike">
                          <a:solidFill>
                            <a:srgbClr val="374151"/>
                          </a:solidFill>
                          <a:latin typeface="Noto Sans SC"/>
                          <a:ea typeface="Noto Sans SC"/>
                          <a:cs typeface="Noto Sans SC"/>
                          <a:sym typeface="Noto Sans SC"/>
                        </a:rPr>
                        <a:t>预计到达时间</a:t>
                      </a:r>
                      <a:endParaRPr lang="en-US" sz="1100"/>
                    </a:p>
                  </a:txBody>
                  <a:tcPr marL="101600" marR="101600" marT="101600" marB="101600" anchor="ctr">
                    <a:lnL>
                      <a:noFill/>
                    </a:lnL>
                    <a:lnR>
                      <a:noFill/>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FFFFF">
                        <a:alpha val="100000"/>
                      </a:srgbClr>
                    </a:solidFill>
                  </a:tcPr>
                </a:tc>
                <a:extLst>
                  <a:ext uri="{0D108BD9-81ED-4DB2-BD59-A6C34878D82A}">
                    <a16:rowId xmlns:a16="http://schemas.microsoft.com/office/drawing/2014/main" val="10005"/>
                  </a:ext>
                </a:extLst>
              </a:tr>
              <a:tr h="571500">
                <a:tc>
                  <a:txBody>
                    <a:bodyPr/>
                    <a:lstStyle/>
                    <a:p>
                      <a:pPr indent="0" algn="ctr">
                        <a:lnSpc>
                          <a:spcPct val="100000"/>
                        </a:lnSpc>
                        <a:defRPr/>
                      </a:pPr>
                      <a:r>
                        <a:rPr lang="en-US" sz="1400" b="0" i="0" u="none" strike="noStrike">
                          <a:solidFill>
                            <a:srgbClr val="374151"/>
                          </a:solidFill>
                          <a:latin typeface="Noto Sans SC"/>
                          <a:ea typeface="Noto Sans SC"/>
                          <a:cs typeface="Noto Sans SC"/>
                          <a:sym typeface="Noto Sans SC"/>
                        </a:rPr>
                        <a:t>status</a:t>
                      </a:r>
                      <a:endParaRPr lang="en-US" sz="1100"/>
                    </a:p>
                  </a:txBody>
                  <a:tcPr marL="101600" marR="101600" marT="101600" marB="101600" anchor="ctr">
                    <a:lnL>
                      <a:noFill/>
                    </a:lnL>
                    <a:lnR>
                      <a:noFill/>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FFFFF">
                        <a:alpha val="100000"/>
                      </a:srgbClr>
                    </a:solidFill>
                  </a:tcPr>
                </a:tc>
                <a:tc>
                  <a:txBody>
                    <a:bodyPr/>
                    <a:lstStyle/>
                    <a:p>
                      <a:pPr indent="0" algn="ctr">
                        <a:lnSpc>
                          <a:spcPct val="100000"/>
                        </a:lnSpc>
                        <a:defRPr/>
                      </a:pPr>
                      <a:r>
                        <a:rPr lang="en-US" sz="1400" b="0" i="0" u="none" strike="noStrike">
                          <a:solidFill>
                            <a:srgbClr val="374151"/>
                          </a:solidFill>
                          <a:latin typeface="Noto Sans SC"/>
                          <a:ea typeface="Noto Sans SC"/>
                          <a:cs typeface="Noto Sans SC"/>
                          <a:sym typeface="Noto Sans SC"/>
                        </a:rPr>
                        <a:t>TEXT</a:t>
                      </a:r>
                      <a:endParaRPr lang="en-US" sz="1100"/>
                    </a:p>
                  </a:txBody>
                  <a:tcPr marL="101600" marR="101600" marT="101600" marB="101600" anchor="ctr">
                    <a:lnL>
                      <a:noFill/>
                    </a:lnL>
                    <a:lnR>
                      <a:noFill/>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FFFFF">
                        <a:alpha val="100000"/>
                      </a:srgbClr>
                    </a:solidFill>
                  </a:tcPr>
                </a:tc>
                <a:tc>
                  <a:txBody>
                    <a:bodyPr/>
                    <a:lstStyle/>
                    <a:p>
                      <a:pPr indent="0" algn="ctr">
                        <a:lnSpc>
                          <a:spcPct val="100000"/>
                        </a:lnSpc>
                        <a:defRPr/>
                      </a:pPr>
                      <a:r>
                        <a:rPr lang="en-US" sz="1400" b="0" i="0" u="none" strike="noStrike">
                          <a:solidFill>
                            <a:srgbClr val="6B7280"/>
                          </a:solidFill>
                          <a:latin typeface="Noto Sans SC"/>
                          <a:ea typeface="Noto Sans SC"/>
                          <a:cs typeface="Noto Sans SC"/>
                          <a:sym typeface="Noto Sans SC"/>
                        </a:rPr>
                        <a:t>-</a:t>
                      </a:r>
                      <a:endParaRPr lang="en-US" sz="1100"/>
                    </a:p>
                  </a:txBody>
                  <a:tcPr marL="101600" marR="101600" marT="101600" marB="101600" anchor="ctr">
                    <a:lnL>
                      <a:noFill/>
                    </a:lnL>
                    <a:lnR>
                      <a:noFill/>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FFFFF">
                        <a:alpha val="100000"/>
                      </a:srgbClr>
                    </a:solidFill>
                  </a:tcPr>
                </a:tc>
                <a:tc>
                  <a:txBody>
                    <a:bodyPr/>
                    <a:lstStyle/>
                    <a:p>
                      <a:pPr indent="0" algn="ctr">
                        <a:lnSpc>
                          <a:spcPct val="100000"/>
                        </a:lnSpc>
                        <a:defRPr/>
                      </a:pPr>
                      <a:r>
                        <a:rPr lang="en-US" sz="1400" b="0" i="0" u="none" strike="noStrike">
                          <a:solidFill>
                            <a:srgbClr val="374151"/>
                          </a:solidFill>
                          <a:latin typeface="Noto Sans SC"/>
                          <a:ea typeface="Noto Sans SC"/>
                          <a:cs typeface="Noto Sans SC"/>
                          <a:sym typeface="Noto Sans SC"/>
                        </a:rPr>
                        <a:t>DEFAULT '待就诊'</a:t>
                      </a:r>
                      <a:endParaRPr lang="en-US" sz="1100"/>
                    </a:p>
                  </a:txBody>
                  <a:tcPr marL="101600" marR="101600" marT="101600" marB="101600" anchor="ctr">
                    <a:lnL>
                      <a:noFill/>
                    </a:lnL>
                    <a:lnR>
                      <a:noFill/>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FFFFF">
                        <a:alpha val="100000"/>
                      </a:srgbClr>
                    </a:solidFill>
                  </a:tcPr>
                </a:tc>
                <a:tc>
                  <a:txBody>
                    <a:bodyPr/>
                    <a:lstStyle/>
                    <a:p>
                      <a:pPr indent="0" algn="ctr">
                        <a:lnSpc>
                          <a:spcPct val="100000"/>
                        </a:lnSpc>
                        <a:defRPr/>
                      </a:pPr>
                      <a:r>
                        <a:rPr lang="en-US" sz="1400" b="0" i="0" u="none" strike="noStrike">
                          <a:solidFill>
                            <a:srgbClr val="374151"/>
                          </a:solidFill>
                          <a:latin typeface="Noto Sans SC"/>
                          <a:ea typeface="Noto Sans SC"/>
                          <a:cs typeface="Noto Sans SC"/>
                          <a:sym typeface="Noto Sans SC"/>
                        </a:rPr>
                        <a:t>预约状态</a:t>
                      </a:r>
                      <a:endParaRPr lang="en-US" sz="1100"/>
                    </a:p>
                  </a:txBody>
                  <a:tcPr marL="101600" marR="101600" marT="101600" marB="101600" anchor="ctr">
                    <a:lnL>
                      <a:noFill/>
                    </a:lnL>
                    <a:lnR>
                      <a:noFill/>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FFFFF">
                        <a:alpha val="100000"/>
                      </a:srgbClr>
                    </a:solid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5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508000"/>
            <a:ext cx="10668000" cy="558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003366"/>
                </a:solidFill>
                <a:latin typeface="Noto Sans SC"/>
                <a:ea typeface="Noto Sans SC"/>
                <a:cs typeface="Noto Sans SC"/>
                <a:sym typeface="Noto Sans SC"/>
              </a:rPr>
              <a:t>数据库设计 - 物理设计 - CONSULTATIONS表</a:t>
            </a:r>
            <a:endParaRPr lang="en-US" sz="1100"/>
          </a:p>
        </p:txBody>
      </p:sp>
      <p:cxnSp>
        <p:nvCxnSpPr>
          <p:cNvPr id="3" name="Connector 3"/>
          <p:cNvCxnSpPr/>
          <p:nvPr/>
        </p:nvCxnSpPr>
        <p:spPr>
          <a:xfrm rot="-4092">
            <a:off x="762004" y="1212850"/>
            <a:ext cx="10668000" cy="12700"/>
          </a:xfrm>
          <a:prstGeom prst="straightConnector1">
            <a:avLst/>
          </a:prstGeom>
          <a:solidFill>
            <a:srgbClr val="DEE0E3">
              <a:alpha val="100000"/>
            </a:srgbClr>
          </a:solidFill>
          <a:ln w="12700" cap="flat" cmpd="sng">
            <a:solidFill>
              <a:srgbClr val="E5E7EB">
                <a:alpha val="100000"/>
              </a:srgbClr>
            </a:solidFill>
            <a:prstDash val="solid"/>
            <a:round/>
            <a:headEnd type="none" w="med" len="med"/>
            <a:tailEnd type="none" w="med" len="med"/>
          </a:ln>
        </p:spPr>
      </p:cxnSp>
      <p:graphicFrame>
        <p:nvGraphicFramePr>
          <p:cNvPr id="4" name="Table 4"/>
          <p:cNvGraphicFramePr>
            <a:graphicFrameLocks noGrp="1"/>
          </p:cNvGraphicFramePr>
          <p:nvPr/>
        </p:nvGraphicFramePr>
        <p:xfrm>
          <a:off x="762000" y="1524000"/>
          <a:ext cx="10668000" cy="5080000"/>
        </p:xfrm>
        <a:graphic>
          <a:graphicData uri="http://schemas.openxmlformats.org/drawingml/2006/table">
            <a:tbl>
              <a:tblPr>
                <a:effectLst/>
              </a:tblPr>
              <a:tblGrid>
                <a:gridCol w="1778000">
                  <a:extLst>
                    <a:ext uri="{9D8B030D-6E8A-4147-A177-3AD203B41FA5}">
                      <a16:colId xmlns:a16="http://schemas.microsoft.com/office/drawing/2014/main" val="20000"/>
                    </a:ext>
                  </a:extLst>
                </a:gridCol>
                <a:gridCol w="1778000">
                  <a:extLst>
                    <a:ext uri="{9D8B030D-6E8A-4147-A177-3AD203B41FA5}">
                      <a16:colId xmlns:a16="http://schemas.microsoft.com/office/drawing/2014/main" val="20001"/>
                    </a:ext>
                  </a:extLst>
                </a:gridCol>
                <a:gridCol w="1524000">
                  <a:extLst>
                    <a:ext uri="{9D8B030D-6E8A-4147-A177-3AD203B41FA5}">
                      <a16:colId xmlns:a16="http://schemas.microsoft.com/office/drawing/2014/main" val="20002"/>
                    </a:ext>
                  </a:extLst>
                </a:gridCol>
                <a:gridCol w="3048000">
                  <a:extLst>
                    <a:ext uri="{9D8B030D-6E8A-4147-A177-3AD203B41FA5}">
                      <a16:colId xmlns:a16="http://schemas.microsoft.com/office/drawing/2014/main" val="20003"/>
                    </a:ext>
                  </a:extLst>
                </a:gridCol>
                <a:gridCol w="2540000">
                  <a:extLst>
                    <a:ext uri="{9D8B030D-6E8A-4147-A177-3AD203B41FA5}">
                      <a16:colId xmlns:a16="http://schemas.microsoft.com/office/drawing/2014/main" val="20004"/>
                    </a:ext>
                  </a:extLst>
                </a:gridCol>
              </a:tblGrid>
              <a:tr h="508000">
                <a:tc>
                  <a:txBody>
                    <a:bodyPr/>
                    <a:lstStyle/>
                    <a:p>
                      <a:pPr indent="0" algn="ctr">
                        <a:lnSpc>
                          <a:spcPct val="100000"/>
                        </a:lnSpc>
                        <a:defRPr/>
                      </a:pPr>
                      <a:r>
                        <a:rPr lang="en-US" sz="1400" b="1" i="0" u="none" strike="noStrike">
                          <a:solidFill>
                            <a:srgbClr val="FFFFFF"/>
                          </a:solidFill>
                          <a:latin typeface="Noto Sans SC"/>
                          <a:ea typeface="Noto Sans SC"/>
                          <a:cs typeface="Noto Sans SC"/>
                          <a:sym typeface="Noto Sans SC"/>
                        </a:rPr>
                        <a:t>字段名</a:t>
                      </a:r>
                      <a:endParaRPr lang="en-US" sz="1100"/>
                    </a:p>
                  </a:txBody>
                  <a:tcPr marL="101600" marR="101600" marT="101600" marB="101600" anchor="ctr">
                    <a:lnL>
                      <a:noFill/>
                    </a:lnL>
                    <a:lnR>
                      <a:noFill/>
                    </a:lnR>
                    <a:lnT>
                      <a:noFill/>
                    </a:lnT>
                    <a:lnB>
                      <a:noFill/>
                    </a:lnB>
                    <a:solidFill>
                      <a:srgbClr val="003366">
                        <a:alpha val="100000"/>
                      </a:srgbClr>
                    </a:solidFill>
                  </a:tcPr>
                </a:tc>
                <a:tc>
                  <a:txBody>
                    <a:bodyPr/>
                    <a:lstStyle/>
                    <a:p>
                      <a:pPr indent="0" algn="ctr">
                        <a:lnSpc>
                          <a:spcPct val="100000"/>
                        </a:lnSpc>
                        <a:defRPr/>
                      </a:pPr>
                      <a:r>
                        <a:rPr lang="en-US" sz="1400" b="1" i="0" u="none" strike="noStrike">
                          <a:solidFill>
                            <a:srgbClr val="FFFFFF"/>
                          </a:solidFill>
                          <a:latin typeface="Noto Sans SC"/>
                          <a:ea typeface="Noto Sans SC"/>
                          <a:cs typeface="Noto Sans SC"/>
                          <a:sym typeface="Noto Sans SC"/>
                        </a:rPr>
                        <a:t>数据类型</a:t>
                      </a:r>
                      <a:endParaRPr lang="en-US" sz="1100"/>
                    </a:p>
                  </a:txBody>
                  <a:tcPr marL="101600" marR="101600" marT="101600" marB="101600" anchor="ctr">
                    <a:lnL>
                      <a:noFill/>
                    </a:lnL>
                    <a:lnR>
                      <a:noFill/>
                    </a:lnR>
                    <a:lnT>
                      <a:noFill/>
                    </a:lnT>
                    <a:lnB>
                      <a:noFill/>
                    </a:lnB>
                    <a:solidFill>
                      <a:srgbClr val="003366">
                        <a:alpha val="100000"/>
                      </a:srgbClr>
                    </a:solidFill>
                  </a:tcPr>
                </a:tc>
                <a:tc>
                  <a:txBody>
                    <a:bodyPr/>
                    <a:lstStyle/>
                    <a:p>
                      <a:pPr indent="0" algn="ctr">
                        <a:lnSpc>
                          <a:spcPct val="100000"/>
                        </a:lnSpc>
                        <a:defRPr/>
                      </a:pPr>
                      <a:r>
                        <a:rPr lang="en-US" sz="1400" b="1" i="0" u="none" strike="noStrike">
                          <a:solidFill>
                            <a:srgbClr val="FFFFFF"/>
                          </a:solidFill>
                          <a:latin typeface="Noto Sans SC"/>
                          <a:ea typeface="Noto Sans SC"/>
                          <a:cs typeface="Noto Sans SC"/>
                          <a:sym typeface="Noto Sans SC"/>
                        </a:rPr>
                        <a:t>主键/外键</a:t>
                      </a:r>
                      <a:endParaRPr lang="en-US" sz="1100"/>
                    </a:p>
                  </a:txBody>
                  <a:tcPr marL="101600" marR="101600" marT="101600" marB="101600" anchor="ctr">
                    <a:lnL>
                      <a:noFill/>
                    </a:lnL>
                    <a:lnR>
                      <a:noFill/>
                    </a:lnR>
                    <a:lnT>
                      <a:noFill/>
                    </a:lnT>
                    <a:lnB>
                      <a:noFill/>
                    </a:lnB>
                    <a:solidFill>
                      <a:srgbClr val="003366">
                        <a:alpha val="100000"/>
                      </a:srgbClr>
                    </a:solidFill>
                  </a:tcPr>
                </a:tc>
                <a:tc>
                  <a:txBody>
                    <a:bodyPr/>
                    <a:lstStyle/>
                    <a:p>
                      <a:pPr indent="0" algn="ctr">
                        <a:lnSpc>
                          <a:spcPct val="100000"/>
                        </a:lnSpc>
                        <a:defRPr/>
                      </a:pPr>
                      <a:r>
                        <a:rPr lang="en-US" sz="1400" b="1" i="0" u="none" strike="noStrike">
                          <a:solidFill>
                            <a:srgbClr val="FFFFFF"/>
                          </a:solidFill>
                          <a:latin typeface="Noto Sans SC"/>
                          <a:ea typeface="Noto Sans SC"/>
                          <a:cs typeface="Noto Sans SC"/>
                          <a:sym typeface="Noto Sans SC"/>
                        </a:rPr>
                        <a:t>约束条件</a:t>
                      </a:r>
                      <a:endParaRPr lang="en-US" sz="1100"/>
                    </a:p>
                  </a:txBody>
                  <a:tcPr marL="101600" marR="101600" marT="101600" marB="101600" anchor="ctr">
                    <a:lnL>
                      <a:noFill/>
                    </a:lnL>
                    <a:lnR>
                      <a:noFill/>
                    </a:lnR>
                    <a:lnT>
                      <a:noFill/>
                    </a:lnT>
                    <a:lnB>
                      <a:noFill/>
                    </a:lnB>
                    <a:solidFill>
                      <a:srgbClr val="003366">
                        <a:alpha val="100000"/>
                      </a:srgbClr>
                    </a:solidFill>
                  </a:tcPr>
                </a:tc>
                <a:tc>
                  <a:txBody>
                    <a:bodyPr/>
                    <a:lstStyle/>
                    <a:p>
                      <a:pPr indent="0" algn="ctr">
                        <a:lnSpc>
                          <a:spcPct val="100000"/>
                        </a:lnSpc>
                        <a:defRPr/>
                      </a:pPr>
                      <a:r>
                        <a:rPr lang="en-US" sz="1400" b="1" i="0" u="none" strike="noStrike">
                          <a:solidFill>
                            <a:srgbClr val="FFFFFF"/>
                          </a:solidFill>
                          <a:latin typeface="Noto Sans SC"/>
                          <a:ea typeface="Noto Sans SC"/>
                          <a:cs typeface="Noto Sans SC"/>
                          <a:sym typeface="Noto Sans SC"/>
                        </a:rPr>
                        <a:t>说明</a:t>
                      </a:r>
                      <a:endParaRPr lang="en-US" sz="1100"/>
                    </a:p>
                  </a:txBody>
                  <a:tcPr marL="101600" marR="101600" marT="101600" marB="101600" anchor="ctr">
                    <a:lnL>
                      <a:noFill/>
                    </a:lnL>
                    <a:lnR>
                      <a:noFill/>
                    </a:lnR>
                    <a:lnT>
                      <a:noFill/>
                    </a:lnT>
                    <a:lnB>
                      <a:noFill/>
                    </a:lnB>
                    <a:solidFill>
                      <a:srgbClr val="003366">
                        <a:alpha val="100000"/>
                      </a:srgbClr>
                    </a:solidFill>
                  </a:tcPr>
                </a:tc>
                <a:extLst>
                  <a:ext uri="{0D108BD9-81ED-4DB2-BD59-A6C34878D82A}">
                    <a16:rowId xmlns:a16="http://schemas.microsoft.com/office/drawing/2014/main" val="10000"/>
                  </a:ext>
                </a:extLst>
              </a:tr>
              <a:tr h="508000">
                <a:tc>
                  <a:txBody>
                    <a:bodyPr/>
                    <a:lstStyle/>
                    <a:p>
                      <a:pPr indent="0" algn="ctr">
                        <a:lnSpc>
                          <a:spcPct val="100000"/>
                        </a:lnSpc>
                        <a:defRPr/>
                      </a:pPr>
                      <a:r>
                        <a:rPr lang="en-US" sz="1400" b="0" i="0" u="none" strike="noStrike">
                          <a:solidFill>
                            <a:srgbClr val="374151"/>
                          </a:solidFill>
                          <a:latin typeface="Noto Sans SC"/>
                          <a:ea typeface="Noto Sans SC"/>
                          <a:cs typeface="Noto Sans SC"/>
                          <a:sym typeface="Noto Sans SC"/>
                        </a:rPr>
                        <a:t>id</a:t>
                      </a:r>
                      <a:endParaRPr lang="en-US" sz="1100"/>
                    </a:p>
                  </a:txBody>
                  <a:tcPr marL="101600" marR="101600" marT="101600" marB="101600" anchor="ctr">
                    <a:lnL>
                      <a:noFill/>
                    </a:lnL>
                    <a:lnR>
                      <a:noFill/>
                    </a:lnR>
                    <a:lnT>
                      <a:noFill/>
                    </a:lnT>
                    <a:lnB w="12700" cap="flat" cmpd="sng" algn="ctr">
                      <a:solidFill>
                        <a:srgbClr val="E5E7EB"/>
                      </a:solidFill>
                      <a:prstDash val="solid"/>
                      <a:round/>
                      <a:headEnd type="none" w="med" len="med"/>
                      <a:tailEnd type="none" w="med" len="med"/>
                    </a:lnB>
                    <a:solidFill>
                      <a:srgbClr val="FFFFFF">
                        <a:alpha val="100000"/>
                      </a:srgbClr>
                    </a:solidFill>
                  </a:tcPr>
                </a:tc>
                <a:tc>
                  <a:txBody>
                    <a:bodyPr/>
                    <a:lstStyle/>
                    <a:p>
                      <a:pPr indent="0" algn="ctr">
                        <a:lnSpc>
                          <a:spcPct val="100000"/>
                        </a:lnSpc>
                        <a:defRPr/>
                      </a:pPr>
                      <a:r>
                        <a:rPr lang="en-US" sz="1400" b="0" i="0" u="none" strike="noStrike">
                          <a:solidFill>
                            <a:srgbClr val="374151"/>
                          </a:solidFill>
                          <a:latin typeface="Noto Sans SC"/>
                          <a:ea typeface="Noto Sans SC"/>
                          <a:cs typeface="Noto Sans SC"/>
                          <a:sym typeface="Noto Sans SC"/>
                        </a:rPr>
                        <a:t>INTEGER</a:t>
                      </a:r>
                      <a:endParaRPr lang="en-US" sz="1100"/>
                    </a:p>
                  </a:txBody>
                  <a:tcPr marL="101600" marR="101600" marT="101600" marB="101600" anchor="ctr">
                    <a:lnL>
                      <a:noFill/>
                    </a:lnL>
                    <a:lnR>
                      <a:noFill/>
                    </a:lnR>
                    <a:lnT>
                      <a:noFill/>
                    </a:lnT>
                    <a:lnB w="12700" cap="flat" cmpd="sng" algn="ctr">
                      <a:solidFill>
                        <a:srgbClr val="E5E7EB"/>
                      </a:solidFill>
                      <a:prstDash val="solid"/>
                      <a:round/>
                      <a:headEnd type="none" w="med" len="med"/>
                      <a:tailEnd type="none" w="med" len="med"/>
                    </a:lnB>
                    <a:solidFill>
                      <a:srgbClr val="FFFFFF">
                        <a:alpha val="100000"/>
                      </a:srgbClr>
                    </a:solidFill>
                  </a:tcPr>
                </a:tc>
                <a:tc>
                  <a:txBody>
                    <a:bodyPr/>
                    <a:lstStyle/>
                    <a:p>
                      <a:pPr indent="0" algn="ctr">
                        <a:lnSpc>
                          <a:spcPct val="100000"/>
                        </a:lnSpc>
                        <a:defRPr/>
                      </a:pPr>
                      <a:r>
                        <a:rPr lang="en-US" sz="1400" b="1" i="0" u="none" strike="noStrike">
                          <a:solidFill>
                            <a:srgbClr val="4A90E2"/>
                          </a:solidFill>
                          <a:latin typeface="Noto Sans SC"/>
                          <a:ea typeface="Noto Sans SC"/>
                          <a:cs typeface="Noto Sans SC"/>
                          <a:sym typeface="Noto Sans SC"/>
                        </a:rPr>
                        <a:t>PK</a:t>
                      </a:r>
                      <a:endParaRPr lang="en-US" sz="1100"/>
                    </a:p>
                  </a:txBody>
                  <a:tcPr marL="101600" marR="101600" marT="101600" marB="101600" anchor="ctr">
                    <a:lnL>
                      <a:noFill/>
                    </a:lnL>
                    <a:lnR>
                      <a:noFill/>
                    </a:lnR>
                    <a:lnT>
                      <a:noFill/>
                    </a:lnT>
                    <a:lnB w="12700" cap="flat" cmpd="sng" algn="ctr">
                      <a:solidFill>
                        <a:srgbClr val="E5E7EB"/>
                      </a:solidFill>
                      <a:prstDash val="solid"/>
                      <a:round/>
                      <a:headEnd type="none" w="med" len="med"/>
                      <a:tailEnd type="none" w="med" len="med"/>
                    </a:lnB>
                    <a:solidFill>
                      <a:srgbClr val="FFFFFF">
                        <a:alpha val="100000"/>
                      </a:srgbClr>
                    </a:solidFill>
                  </a:tcPr>
                </a:tc>
                <a:tc>
                  <a:txBody>
                    <a:bodyPr/>
                    <a:lstStyle/>
                    <a:p>
                      <a:pPr indent="0" algn="ctr">
                        <a:lnSpc>
                          <a:spcPct val="100000"/>
                        </a:lnSpc>
                        <a:defRPr/>
                      </a:pPr>
                      <a:r>
                        <a:rPr lang="en-US" sz="1400" b="0" i="0" u="none" strike="noStrike">
                          <a:solidFill>
                            <a:srgbClr val="374151"/>
                          </a:solidFill>
                          <a:latin typeface="Noto Sans SC"/>
                          <a:ea typeface="Noto Sans SC"/>
                          <a:cs typeface="Noto Sans SC"/>
                          <a:sym typeface="Noto Sans SC"/>
                        </a:rPr>
                        <a:t>AUTOINCREMENT</a:t>
                      </a:r>
                      <a:endParaRPr lang="en-US" sz="1100"/>
                    </a:p>
                  </a:txBody>
                  <a:tcPr marL="101600" marR="101600" marT="101600" marB="101600" anchor="ctr">
                    <a:lnL>
                      <a:noFill/>
                    </a:lnL>
                    <a:lnR>
                      <a:noFill/>
                    </a:lnR>
                    <a:lnT>
                      <a:noFill/>
                    </a:lnT>
                    <a:lnB w="12700" cap="flat" cmpd="sng" algn="ctr">
                      <a:solidFill>
                        <a:srgbClr val="E5E7EB"/>
                      </a:solidFill>
                      <a:prstDash val="solid"/>
                      <a:round/>
                      <a:headEnd type="none" w="med" len="med"/>
                      <a:tailEnd type="none" w="med" len="med"/>
                    </a:lnB>
                    <a:solidFill>
                      <a:srgbClr val="FFFFFF">
                        <a:alpha val="100000"/>
                      </a:srgbClr>
                    </a:solidFill>
                  </a:tcPr>
                </a:tc>
                <a:tc>
                  <a:txBody>
                    <a:bodyPr/>
                    <a:lstStyle/>
                    <a:p>
                      <a:pPr indent="0" algn="ctr">
                        <a:lnSpc>
                          <a:spcPct val="100000"/>
                        </a:lnSpc>
                        <a:defRPr/>
                      </a:pPr>
                      <a:r>
                        <a:rPr lang="en-US" sz="1400" b="0" i="0" u="none" strike="noStrike">
                          <a:solidFill>
                            <a:srgbClr val="374151"/>
                          </a:solidFill>
                          <a:latin typeface="Noto Sans SC"/>
                          <a:ea typeface="Noto Sans SC"/>
                          <a:cs typeface="Noto Sans SC"/>
                          <a:sym typeface="Noto Sans SC"/>
                        </a:rPr>
                        <a:t>就诊编号</a:t>
                      </a:r>
                      <a:endParaRPr lang="en-US" sz="1100"/>
                    </a:p>
                  </a:txBody>
                  <a:tcPr marL="101600" marR="101600" marT="101600" marB="101600" anchor="ctr">
                    <a:lnL>
                      <a:noFill/>
                    </a:lnL>
                    <a:lnR>
                      <a:noFill/>
                    </a:lnR>
                    <a:lnT>
                      <a:noFill/>
                    </a:lnT>
                    <a:lnB w="12700" cap="flat" cmpd="sng" algn="ctr">
                      <a:solidFill>
                        <a:srgbClr val="E5E7EB"/>
                      </a:solidFill>
                      <a:prstDash val="solid"/>
                      <a:round/>
                      <a:headEnd type="none" w="med" len="med"/>
                      <a:tailEnd type="none" w="med" len="med"/>
                    </a:lnB>
                    <a:solidFill>
                      <a:srgbClr val="FFFFFF">
                        <a:alpha val="100000"/>
                      </a:srgbClr>
                    </a:solidFill>
                  </a:tcPr>
                </a:tc>
                <a:extLst>
                  <a:ext uri="{0D108BD9-81ED-4DB2-BD59-A6C34878D82A}">
                    <a16:rowId xmlns:a16="http://schemas.microsoft.com/office/drawing/2014/main" val="10001"/>
                  </a:ext>
                </a:extLst>
              </a:tr>
              <a:tr h="508000">
                <a:tc>
                  <a:txBody>
                    <a:bodyPr/>
                    <a:lstStyle/>
                    <a:p>
                      <a:pPr indent="0" algn="ctr">
                        <a:lnSpc>
                          <a:spcPct val="100000"/>
                        </a:lnSpc>
                        <a:defRPr/>
                      </a:pPr>
                      <a:r>
                        <a:rPr lang="en-US" sz="1400" b="0" i="0" u="none" strike="noStrike">
                          <a:solidFill>
                            <a:srgbClr val="374151"/>
                          </a:solidFill>
                          <a:latin typeface="Noto Sans SC"/>
                          <a:ea typeface="Noto Sans SC"/>
                          <a:cs typeface="Noto Sans SC"/>
                          <a:sym typeface="Noto Sans SC"/>
                        </a:rPr>
                        <a:t>patient_name</a:t>
                      </a:r>
                      <a:endParaRPr lang="en-US" sz="1100"/>
                    </a:p>
                  </a:txBody>
                  <a:tcPr marL="101600" marR="101600" marT="101600" marB="101600" anchor="ctr">
                    <a:lnL>
                      <a:noFill/>
                    </a:lnL>
                    <a:lnR>
                      <a:noFill/>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9FAFB">
                        <a:alpha val="100000"/>
                      </a:srgbClr>
                    </a:solidFill>
                  </a:tcPr>
                </a:tc>
                <a:tc>
                  <a:txBody>
                    <a:bodyPr/>
                    <a:lstStyle/>
                    <a:p>
                      <a:pPr indent="0" algn="ctr">
                        <a:lnSpc>
                          <a:spcPct val="100000"/>
                        </a:lnSpc>
                        <a:defRPr/>
                      </a:pPr>
                      <a:r>
                        <a:rPr lang="en-US" sz="1400" b="0" i="0" u="none" strike="noStrike">
                          <a:solidFill>
                            <a:srgbClr val="374151"/>
                          </a:solidFill>
                          <a:latin typeface="Noto Sans SC"/>
                          <a:ea typeface="Noto Sans SC"/>
                          <a:cs typeface="Noto Sans SC"/>
                          <a:sym typeface="Noto Sans SC"/>
                        </a:rPr>
                        <a:t>TEXT</a:t>
                      </a:r>
                      <a:endParaRPr lang="en-US" sz="1100"/>
                    </a:p>
                  </a:txBody>
                  <a:tcPr marL="101600" marR="101600" marT="101600" marB="101600" anchor="ctr">
                    <a:lnL>
                      <a:noFill/>
                    </a:lnL>
                    <a:lnR>
                      <a:noFill/>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9FAFB">
                        <a:alpha val="100000"/>
                      </a:srgbClr>
                    </a:solidFill>
                  </a:tcPr>
                </a:tc>
                <a:tc>
                  <a:txBody>
                    <a:bodyPr/>
                    <a:lstStyle/>
                    <a:p>
                      <a:pPr indent="0" algn="ctr">
                        <a:lnSpc>
                          <a:spcPct val="100000"/>
                        </a:lnSpc>
                        <a:defRPr/>
                      </a:pPr>
                      <a:r>
                        <a:rPr lang="en-US" sz="1400" b="0" i="0" u="none" strike="noStrike">
                          <a:solidFill>
                            <a:srgbClr val="6B7280"/>
                          </a:solidFill>
                          <a:latin typeface="Noto Sans SC"/>
                          <a:ea typeface="Noto Sans SC"/>
                          <a:cs typeface="Noto Sans SC"/>
                          <a:sym typeface="Noto Sans SC"/>
                        </a:rPr>
                        <a:t>-</a:t>
                      </a:r>
                      <a:endParaRPr lang="en-US" sz="1100"/>
                    </a:p>
                  </a:txBody>
                  <a:tcPr marL="101600" marR="101600" marT="101600" marB="101600" anchor="ctr">
                    <a:lnL>
                      <a:noFill/>
                    </a:lnL>
                    <a:lnR>
                      <a:noFill/>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9FAFB">
                        <a:alpha val="100000"/>
                      </a:srgbClr>
                    </a:solidFill>
                  </a:tcPr>
                </a:tc>
                <a:tc>
                  <a:txBody>
                    <a:bodyPr/>
                    <a:lstStyle/>
                    <a:p>
                      <a:pPr indent="0" algn="ctr">
                        <a:lnSpc>
                          <a:spcPct val="100000"/>
                        </a:lnSpc>
                        <a:defRPr/>
                      </a:pPr>
                      <a:r>
                        <a:rPr lang="en-US" sz="1400" b="0" i="0" u="none" strike="noStrike">
                          <a:solidFill>
                            <a:srgbClr val="374151"/>
                          </a:solidFill>
                          <a:latin typeface="Noto Sans SC"/>
                          <a:ea typeface="Noto Sans SC"/>
                          <a:cs typeface="Noto Sans SC"/>
                          <a:sym typeface="Noto Sans SC"/>
                        </a:rPr>
                        <a:t>NOT NULL</a:t>
                      </a:r>
                      <a:endParaRPr lang="en-US" sz="1100"/>
                    </a:p>
                  </a:txBody>
                  <a:tcPr marL="101600" marR="101600" marT="101600" marB="101600" anchor="ctr">
                    <a:lnL>
                      <a:noFill/>
                    </a:lnL>
                    <a:lnR>
                      <a:noFill/>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9FAFB">
                        <a:alpha val="100000"/>
                      </a:srgbClr>
                    </a:solidFill>
                  </a:tcPr>
                </a:tc>
                <a:tc>
                  <a:txBody>
                    <a:bodyPr/>
                    <a:lstStyle/>
                    <a:p>
                      <a:pPr indent="0" algn="ctr">
                        <a:lnSpc>
                          <a:spcPct val="100000"/>
                        </a:lnSpc>
                        <a:defRPr/>
                      </a:pPr>
                      <a:r>
                        <a:rPr lang="en-US" sz="1400" b="0" i="0" u="none" strike="noStrike">
                          <a:solidFill>
                            <a:srgbClr val="374151"/>
                          </a:solidFill>
                          <a:latin typeface="Noto Sans SC"/>
                          <a:ea typeface="Noto Sans SC"/>
                          <a:cs typeface="Noto Sans SC"/>
                          <a:sym typeface="Noto Sans SC"/>
                        </a:rPr>
                        <a:t>患者姓名</a:t>
                      </a:r>
                      <a:endParaRPr lang="en-US" sz="1100"/>
                    </a:p>
                  </a:txBody>
                  <a:tcPr marL="101600" marR="101600" marT="101600" marB="101600" anchor="ctr">
                    <a:lnL>
                      <a:noFill/>
                    </a:lnL>
                    <a:lnR>
                      <a:noFill/>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9FAFB">
                        <a:alpha val="100000"/>
                      </a:srgbClr>
                    </a:solidFill>
                  </a:tcPr>
                </a:tc>
                <a:extLst>
                  <a:ext uri="{0D108BD9-81ED-4DB2-BD59-A6C34878D82A}">
                    <a16:rowId xmlns:a16="http://schemas.microsoft.com/office/drawing/2014/main" val="10002"/>
                  </a:ext>
                </a:extLst>
              </a:tr>
              <a:tr h="508000">
                <a:tc>
                  <a:txBody>
                    <a:bodyPr/>
                    <a:lstStyle/>
                    <a:p>
                      <a:pPr indent="0" algn="ctr">
                        <a:lnSpc>
                          <a:spcPct val="100000"/>
                        </a:lnSpc>
                        <a:defRPr/>
                      </a:pPr>
                      <a:r>
                        <a:rPr lang="en-US" sz="1400" b="0" i="0" u="none" strike="noStrike">
                          <a:solidFill>
                            <a:srgbClr val="374151"/>
                          </a:solidFill>
                          <a:latin typeface="Noto Sans SC"/>
                          <a:ea typeface="Noto Sans SC"/>
                          <a:cs typeface="Noto Sans SC"/>
                          <a:sym typeface="Noto Sans SC"/>
                        </a:rPr>
                        <a:t>gender</a:t>
                      </a:r>
                      <a:endParaRPr lang="en-US" sz="1100"/>
                    </a:p>
                  </a:txBody>
                  <a:tcPr marL="101600" marR="101600" marT="101600" marB="101600" anchor="ctr">
                    <a:lnL>
                      <a:noFill/>
                    </a:lnL>
                    <a:lnR>
                      <a:noFill/>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FFFFF">
                        <a:alpha val="100000"/>
                      </a:srgbClr>
                    </a:solidFill>
                  </a:tcPr>
                </a:tc>
                <a:tc>
                  <a:txBody>
                    <a:bodyPr/>
                    <a:lstStyle/>
                    <a:p>
                      <a:pPr indent="0" algn="ctr">
                        <a:lnSpc>
                          <a:spcPct val="100000"/>
                        </a:lnSpc>
                        <a:defRPr/>
                      </a:pPr>
                      <a:r>
                        <a:rPr lang="en-US" sz="1400" b="0" i="0" u="none" strike="noStrike">
                          <a:solidFill>
                            <a:srgbClr val="374151"/>
                          </a:solidFill>
                          <a:latin typeface="Noto Sans SC"/>
                          <a:ea typeface="Noto Sans SC"/>
                          <a:cs typeface="Noto Sans SC"/>
                          <a:sym typeface="Noto Sans SC"/>
                        </a:rPr>
                        <a:t>TEXT</a:t>
                      </a:r>
                      <a:endParaRPr lang="en-US" sz="1100"/>
                    </a:p>
                  </a:txBody>
                  <a:tcPr marL="101600" marR="101600" marT="101600" marB="101600" anchor="ctr">
                    <a:lnL>
                      <a:noFill/>
                    </a:lnL>
                    <a:lnR>
                      <a:noFill/>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FFFFF">
                        <a:alpha val="100000"/>
                      </a:srgbClr>
                    </a:solidFill>
                  </a:tcPr>
                </a:tc>
                <a:tc>
                  <a:txBody>
                    <a:bodyPr/>
                    <a:lstStyle/>
                    <a:p>
                      <a:pPr indent="0" algn="ctr">
                        <a:lnSpc>
                          <a:spcPct val="100000"/>
                        </a:lnSpc>
                        <a:defRPr/>
                      </a:pPr>
                      <a:r>
                        <a:rPr lang="en-US" sz="1400" b="0" i="0" u="none" strike="noStrike">
                          <a:solidFill>
                            <a:srgbClr val="6B7280"/>
                          </a:solidFill>
                          <a:latin typeface="Noto Sans SC"/>
                          <a:ea typeface="Noto Sans SC"/>
                          <a:cs typeface="Noto Sans SC"/>
                          <a:sym typeface="Noto Sans SC"/>
                        </a:rPr>
                        <a:t>-</a:t>
                      </a:r>
                      <a:endParaRPr lang="en-US" sz="1100"/>
                    </a:p>
                  </a:txBody>
                  <a:tcPr marL="101600" marR="101600" marT="101600" marB="101600" anchor="ctr">
                    <a:lnL>
                      <a:noFill/>
                    </a:lnL>
                    <a:lnR>
                      <a:noFill/>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FFFFF">
                        <a:alpha val="100000"/>
                      </a:srgbClr>
                    </a:solidFill>
                  </a:tcPr>
                </a:tc>
                <a:tc>
                  <a:txBody>
                    <a:bodyPr/>
                    <a:lstStyle/>
                    <a:p>
                      <a:pPr indent="0" algn="ctr">
                        <a:lnSpc>
                          <a:spcPct val="100000"/>
                        </a:lnSpc>
                        <a:defRPr/>
                      </a:pPr>
                      <a:r>
                        <a:rPr lang="en-US" sz="1400" b="0" i="0" u="none" strike="noStrike">
                          <a:solidFill>
                            <a:srgbClr val="6B7280"/>
                          </a:solidFill>
                          <a:latin typeface="Noto Sans SC"/>
                          <a:ea typeface="Noto Sans SC"/>
                          <a:cs typeface="Noto Sans SC"/>
                          <a:sym typeface="Noto Sans SC"/>
                        </a:rPr>
                        <a:t>-</a:t>
                      </a:r>
                      <a:endParaRPr lang="en-US" sz="1100"/>
                    </a:p>
                  </a:txBody>
                  <a:tcPr marL="101600" marR="101600" marT="101600" marB="101600" anchor="ctr">
                    <a:lnL>
                      <a:noFill/>
                    </a:lnL>
                    <a:lnR>
                      <a:noFill/>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FFFFF">
                        <a:alpha val="100000"/>
                      </a:srgbClr>
                    </a:solidFill>
                  </a:tcPr>
                </a:tc>
                <a:tc>
                  <a:txBody>
                    <a:bodyPr/>
                    <a:lstStyle/>
                    <a:p>
                      <a:pPr indent="0" algn="ctr">
                        <a:lnSpc>
                          <a:spcPct val="100000"/>
                        </a:lnSpc>
                        <a:defRPr/>
                      </a:pPr>
                      <a:r>
                        <a:rPr lang="en-US" sz="1400" b="0" i="0" u="none" strike="noStrike">
                          <a:solidFill>
                            <a:srgbClr val="374151"/>
                          </a:solidFill>
                          <a:latin typeface="Noto Sans SC"/>
                          <a:ea typeface="Noto Sans SC"/>
                          <a:cs typeface="Noto Sans SC"/>
                          <a:sym typeface="Noto Sans SC"/>
                        </a:rPr>
                        <a:t>性别</a:t>
                      </a:r>
                      <a:endParaRPr lang="en-US" sz="1100"/>
                    </a:p>
                  </a:txBody>
                  <a:tcPr marL="101600" marR="101600" marT="101600" marB="101600" anchor="ctr">
                    <a:lnL>
                      <a:noFill/>
                    </a:lnL>
                    <a:lnR>
                      <a:noFill/>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FFFFF">
                        <a:alpha val="100000"/>
                      </a:srgbClr>
                    </a:solidFill>
                  </a:tcPr>
                </a:tc>
                <a:extLst>
                  <a:ext uri="{0D108BD9-81ED-4DB2-BD59-A6C34878D82A}">
                    <a16:rowId xmlns:a16="http://schemas.microsoft.com/office/drawing/2014/main" val="10003"/>
                  </a:ext>
                </a:extLst>
              </a:tr>
              <a:tr h="508000">
                <a:tc>
                  <a:txBody>
                    <a:bodyPr/>
                    <a:lstStyle/>
                    <a:p>
                      <a:pPr indent="0" algn="ctr">
                        <a:lnSpc>
                          <a:spcPct val="100000"/>
                        </a:lnSpc>
                        <a:defRPr/>
                      </a:pPr>
                      <a:r>
                        <a:rPr lang="en-US" sz="1400" b="0" i="0" u="none" strike="noStrike">
                          <a:solidFill>
                            <a:srgbClr val="374151"/>
                          </a:solidFill>
                          <a:latin typeface="Noto Sans SC"/>
                          <a:ea typeface="Noto Sans SC"/>
                          <a:cs typeface="Noto Sans SC"/>
                          <a:sym typeface="Noto Sans SC"/>
                        </a:rPr>
                        <a:t>id_card</a:t>
                      </a:r>
                      <a:endParaRPr lang="en-US" sz="1100"/>
                    </a:p>
                  </a:txBody>
                  <a:tcPr marL="101600" marR="101600" marT="101600" marB="101600" anchor="ctr">
                    <a:lnL>
                      <a:noFill/>
                    </a:lnL>
                    <a:lnR>
                      <a:noFill/>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9FAFB">
                        <a:alpha val="100000"/>
                      </a:srgbClr>
                    </a:solidFill>
                  </a:tcPr>
                </a:tc>
                <a:tc>
                  <a:txBody>
                    <a:bodyPr/>
                    <a:lstStyle/>
                    <a:p>
                      <a:pPr indent="0" algn="ctr">
                        <a:lnSpc>
                          <a:spcPct val="100000"/>
                        </a:lnSpc>
                        <a:defRPr/>
                      </a:pPr>
                      <a:r>
                        <a:rPr lang="en-US" sz="1400" b="0" i="0" u="none" strike="noStrike">
                          <a:solidFill>
                            <a:srgbClr val="374151"/>
                          </a:solidFill>
                          <a:latin typeface="Noto Sans SC"/>
                          <a:ea typeface="Noto Sans SC"/>
                          <a:cs typeface="Noto Sans SC"/>
                          <a:sym typeface="Noto Sans SC"/>
                        </a:rPr>
                        <a:t>TEXT</a:t>
                      </a:r>
                      <a:endParaRPr lang="en-US" sz="1100"/>
                    </a:p>
                  </a:txBody>
                  <a:tcPr marL="101600" marR="101600" marT="101600" marB="101600" anchor="ctr">
                    <a:lnL>
                      <a:noFill/>
                    </a:lnL>
                    <a:lnR>
                      <a:noFill/>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9FAFB">
                        <a:alpha val="100000"/>
                      </a:srgbClr>
                    </a:solidFill>
                  </a:tcPr>
                </a:tc>
                <a:tc>
                  <a:txBody>
                    <a:bodyPr/>
                    <a:lstStyle/>
                    <a:p>
                      <a:pPr indent="0" algn="ctr">
                        <a:lnSpc>
                          <a:spcPct val="100000"/>
                        </a:lnSpc>
                        <a:defRPr/>
                      </a:pPr>
                      <a:r>
                        <a:rPr lang="en-US" sz="1400" b="0" i="0" u="none" strike="noStrike">
                          <a:solidFill>
                            <a:srgbClr val="6B7280"/>
                          </a:solidFill>
                          <a:latin typeface="Noto Sans SC"/>
                          <a:ea typeface="Noto Sans SC"/>
                          <a:cs typeface="Noto Sans SC"/>
                          <a:sym typeface="Noto Sans SC"/>
                        </a:rPr>
                        <a:t>-</a:t>
                      </a:r>
                      <a:endParaRPr lang="en-US" sz="1100"/>
                    </a:p>
                  </a:txBody>
                  <a:tcPr marL="101600" marR="101600" marT="101600" marB="101600" anchor="ctr">
                    <a:lnL>
                      <a:noFill/>
                    </a:lnL>
                    <a:lnR>
                      <a:noFill/>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9FAFB">
                        <a:alpha val="100000"/>
                      </a:srgbClr>
                    </a:solidFill>
                  </a:tcPr>
                </a:tc>
                <a:tc>
                  <a:txBody>
                    <a:bodyPr/>
                    <a:lstStyle/>
                    <a:p>
                      <a:pPr indent="0" algn="ctr">
                        <a:lnSpc>
                          <a:spcPct val="100000"/>
                        </a:lnSpc>
                        <a:defRPr/>
                      </a:pPr>
                      <a:r>
                        <a:rPr lang="en-US" sz="1400" b="0" i="0" u="none" strike="noStrike">
                          <a:solidFill>
                            <a:srgbClr val="6B7280"/>
                          </a:solidFill>
                          <a:latin typeface="Noto Sans SC"/>
                          <a:ea typeface="Noto Sans SC"/>
                          <a:cs typeface="Noto Sans SC"/>
                          <a:sym typeface="Noto Sans SC"/>
                        </a:rPr>
                        <a:t>-</a:t>
                      </a:r>
                      <a:endParaRPr lang="en-US" sz="1100"/>
                    </a:p>
                  </a:txBody>
                  <a:tcPr marL="101600" marR="101600" marT="101600" marB="101600" anchor="ctr">
                    <a:lnL>
                      <a:noFill/>
                    </a:lnL>
                    <a:lnR>
                      <a:noFill/>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9FAFB">
                        <a:alpha val="100000"/>
                      </a:srgbClr>
                    </a:solidFill>
                  </a:tcPr>
                </a:tc>
                <a:tc>
                  <a:txBody>
                    <a:bodyPr/>
                    <a:lstStyle/>
                    <a:p>
                      <a:pPr indent="0" algn="ctr">
                        <a:lnSpc>
                          <a:spcPct val="100000"/>
                        </a:lnSpc>
                        <a:defRPr/>
                      </a:pPr>
                      <a:r>
                        <a:rPr lang="en-US" sz="1400" b="0" i="0" u="none" strike="noStrike">
                          <a:solidFill>
                            <a:srgbClr val="374151"/>
                          </a:solidFill>
                          <a:latin typeface="Noto Sans SC"/>
                          <a:ea typeface="Noto Sans SC"/>
                          <a:cs typeface="Noto Sans SC"/>
                          <a:sym typeface="Noto Sans SC"/>
                        </a:rPr>
                        <a:t>身份证号</a:t>
                      </a:r>
                      <a:endParaRPr lang="en-US" sz="1100"/>
                    </a:p>
                  </a:txBody>
                  <a:tcPr marL="101600" marR="101600" marT="101600" marB="101600" anchor="ctr">
                    <a:lnL>
                      <a:noFill/>
                    </a:lnL>
                    <a:lnR>
                      <a:noFill/>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9FAFB">
                        <a:alpha val="100000"/>
                      </a:srgbClr>
                    </a:solidFill>
                  </a:tcPr>
                </a:tc>
                <a:extLst>
                  <a:ext uri="{0D108BD9-81ED-4DB2-BD59-A6C34878D82A}">
                    <a16:rowId xmlns:a16="http://schemas.microsoft.com/office/drawing/2014/main" val="10004"/>
                  </a:ext>
                </a:extLst>
              </a:tr>
              <a:tr h="508000">
                <a:tc>
                  <a:txBody>
                    <a:bodyPr/>
                    <a:lstStyle/>
                    <a:p>
                      <a:pPr indent="0" algn="ctr">
                        <a:lnSpc>
                          <a:spcPct val="100000"/>
                        </a:lnSpc>
                        <a:defRPr/>
                      </a:pPr>
                      <a:r>
                        <a:rPr lang="en-US" sz="1400" b="0" i="0" u="none" strike="noStrike">
                          <a:solidFill>
                            <a:srgbClr val="374151"/>
                          </a:solidFill>
                          <a:latin typeface="Noto Sans SC"/>
                          <a:ea typeface="Noto Sans SC"/>
                          <a:cs typeface="Noto Sans SC"/>
                          <a:sym typeface="Noto Sans SC"/>
                        </a:rPr>
                        <a:t>dept_name</a:t>
                      </a:r>
                      <a:endParaRPr lang="en-US" sz="1100"/>
                    </a:p>
                  </a:txBody>
                  <a:tcPr marL="101600" marR="101600" marT="101600" marB="101600" anchor="ctr">
                    <a:lnL>
                      <a:noFill/>
                    </a:lnL>
                    <a:lnR>
                      <a:noFill/>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FFFFF">
                        <a:alpha val="100000"/>
                      </a:srgbClr>
                    </a:solidFill>
                  </a:tcPr>
                </a:tc>
                <a:tc>
                  <a:txBody>
                    <a:bodyPr/>
                    <a:lstStyle/>
                    <a:p>
                      <a:pPr indent="0" algn="ctr">
                        <a:lnSpc>
                          <a:spcPct val="100000"/>
                        </a:lnSpc>
                        <a:defRPr/>
                      </a:pPr>
                      <a:r>
                        <a:rPr lang="en-US" sz="1400" b="0" i="0" u="none" strike="noStrike">
                          <a:solidFill>
                            <a:srgbClr val="374151"/>
                          </a:solidFill>
                          <a:latin typeface="Noto Sans SC"/>
                          <a:ea typeface="Noto Sans SC"/>
                          <a:cs typeface="Noto Sans SC"/>
                          <a:sym typeface="Noto Sans SC"/>
                        </a:rPr>
                        <a:t>TEXT</a:t>
                      </a:r>
                      <a:endParaRPr lang="en-US" sz="1100"/>
                    </a:p>
                  </a:txBody>
                  <a:tcPr marL="101600" marR="101600" marT="101600" marB="101600" anchor="ctr">
                    <a:lnL>
                      <a:noFill/>
                    </a:lnL>
                    <a:lnR>
                      <a:noFill/>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FFFFF">
                        <a:alpha val="100000"/>
                      </a:srgbClr>
                    </a:solidFill>
                  </a:tcPr>
                </a:tc>
                <a:tc>
                  <a:txBody>
                    <a:bodyPr/>
                    <a:lstStyle/>
                    <a:p>
                      <a:pPr indent="0" algn="ctr">
                        <a:lnSpc>
                          <a:spcPct val="100000"/>
                        </a:lnSpc>
                        <a:defRPr/>
                      </a:pPr>
                      <a:r>
                        <a:rPr lang="en-US" sz="1400" b="0" i="0" u="none" strike="noStrike">
                          <a:solidFill>
                            <a:srgbClr val="6B7280"/>
                          </a:solidFill>
                          <a:latin typeface="Noto Sans SC"/>
                          <a:ea typeface="Noto Sans SC"/>
                          <a:cs typeface="Noto Sans SC"/>
                          <a:sym typeface="Noto Sans SC"/>
                        </a:rPr>
                        <a:t>-</a:t>
                      </a:r>
                      <a:endParaRPr lang="en-US" sz="1100"/>
                    </a:p>
                  </a:txBody>
                  <a:tcPr marL="101600" marR="101600" marT="101600" marB="101600" anchor="ctr">
                    <a:lnL>
                      <a:noFill/>
                    </a:lnL>
                    <a:lnR>
                      <a:noFill/>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FFFFF">
                        <a:alpha val="100000"/>
                      </a:srgbClr>
                    </a:solidFill>
                  </a:tcPr>
                </a:tc>
                <a:tc>
                  <a:txBody>
                    <a:bodyPr/>
                    <a:lstStyle/>
                    <a:p>
                      <a:pPr indent="0" algn="ctr">
                        <a:lnSpc>
                          <a:spcPct val="100000"/>
                        </a:lnSpc>
                        <a:defRPr/>
                      </a:pPr>
                      <a:r>
                        <a:rPr lang="en-US" sz="1400" b="0" i="0" u="none" strike="noStrike">
                          <a:solidFill>
                            <a:srgbClr val="374151"/>
                          </a:solidFill>
                          <a:latin typeface="Noto Sans SC"/>
                          <a:ea typeface="Noto Sans SC"/>
                          <a:cs typeface="Noto Sans SC"/>
                          <a:sym typeface="Noto Sans SC"/>
                        </a:rPr>
                        <a:t>NOT NULL</a:t>
                      </a:r>
                      <a:endParaRPr lang="en-US" sz="1100"/>
                    </a:p>
                  </a:txBody>
                  <a:tcPr marL="101600" marR="101600" marT="101600" marB="101600" anchor="ctr">
                    <a:lnL>
                      <a:noFill/>
                    </a:lnL>
                    <a:lnR>
                      <a:noFill/>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FFFFF">
                        <a:alpha val="100000"/>
                      </a:srgbClr>
                    </a:solidFill>
                  </a:tcPr>
                </a:tc>
                <a:tc>
                  <a:txBody>
                    <a:bodyPr/>
                    <a:lstStyle/>
                    <a:p>
                      <a:pPr indent="0" algn="ctr">
                        <a:lnSpc>
                          <a:spcPct val="100000"/>
                        </a:lnSpc>
                        <a:defRPr/>
                      </a:pPr>
                      <a:r>
                        <a:rPr lang="en-US" sz="1400" b="0" i="0" u="none" strike="noStrike">
                          <a:solidFill>
                            <a:srgbClr val="374151"/>
                          </a:solidFill>
                          <a:latin typeface="Noto Sans SC"/>
                          <a:ea typeface="Noto Sans SC"/>
                          <a:cs typeface="Noto Sans SC"/>
                          <a:sym typeface="Noto Sans SC"/>
                        </a:rPr>
                        <a:t>就诊科室</a:t>
                      </a:r>
                      <a:endParaRPr lang="en-US" sz="1100"/>
                    </a:p>
                  </a:txBody>
                  <a:tcPr marL="101600" marR="101600" marT="101600" marB="101600" anchor="ctr">
                    <a:lnL>
                      <a:noFill/>
                    </a:lnL>
                    <a:lnR>
                      <a:noFill/>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FFFFF">
                        <a:alpha val="100000"/>
                      </a:srgbClr>
                    </a:solidFill>
                  </a:tcPr>
                </a:tc>
                <a:extLst>
                  <a:ext uri="{0D108BD9-81ED-4DB2-BD59-A6C34878D82A}">
                    <a16:rowId xmlns:a16="http://schemas.microsoft.com/office/drawing/2014/main" val="10005"/>
                  </a:ext>
                </a:extLst>
              </a:tr>
              <a:tr h="508000">
                <a:tc>
                  <a:txBody>
                    <a:bodyPr/>
                    <a:lstStyle/>
                    <a:p>
                      <a:pPr indent="0" algn="ctr">
                        <a:lnSpc>
                          <a:spcPct val="100000"/>
                        </a:lnSpc>
                        <a:defRPr/>
                      </a:pPr>
                      <a:r>
                        <a:rPr lang="en-US" sz="1400" b="0" i="0" u="none" strike="noStrike">
                          <a:solidFill>
                            <a:srgbClr val="374151"/>
                          </a:solidFill>
                          <a:latin typeface="Noto Sans SC"/>
                          <a:ea typeface="Noto Sans SC"/>
                          <a:cs typeface="Noto Sans SC"/>
                          <a:sym typeface="Noto Sans SC"/>
                        </a:rPr>
                        <a:t>room_number</a:t>
                      </a:r>
                      <a:endParaRPr lang="en-US" sz="1100"/>
                    </a:p>
                  </a:txBody>
                  <a:tcPr marL="101600" marR="101600" marT="101600" marB="101600" anchor="ctr">
                    <a:lnL>
                      <a:noFill/>
                    </a:lnL>
                    <a:lnR>
                      <a:noFill/>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9FAFB">
                        <a:alpha val="100000"/>
                      </a:srgbClr>
                    </a:solidFill>
                  </a:tcPr>
                </a:tc>
                <a:tc>
                  <a:txBody>
                    <a:bodyPr/>
                    <a:lstStyle/>
                    <a:p>
                      <a:pPr indent="0" algn="ctr">
                        <a:lnSpc>
                          <a:spcPct val="100000"/>
                        </a:lnSpc>
                        <a:defRPr/>
                      </a:pPr>
                      <a:r>
                        <a:rPr lang="en-US" sz="1400" b="0" i="0" u="none" strike="noStrike">
                          <a:solidFill>
                            <a:srgbClr val="374151"/>
                          </a:solidFill>
                          <a:latin typeface="Noto Sans SC"/>
                          <a:ea typeface="Noto Sans SC"/>
                          <a:cs typeface="Noto Sans SC"/>
                          <a:sym typeface="Noto Sans SC"/>
                        </a:rPr>
                        <a:t>TEXT</a:t>
                      </a:r>
                      <a:endParaRPr lang="en-US" sz="1100"/>
                    </a:p>
                  </a:txBody>
                  <a:tcPr marL="101600" marR="101600" marT="101600" marB="101600" anchor="ctr">
                    <a:lnL>
                      <a:noFill/>
                    </a:lnL>
                    <a:lnR>
                      <a:noFill/>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9FAFB">
                        <a:alpha val="100000"/>
                      </a:srgbClr>
                    </a:solidFill>
                  </a:tcPr>
                </a:tc>
                <a:tc>
                  <a:txBody>
                    <a:bodyPr/>
                    <a:lstStyle/>
                    <a:p>
                      <a:pPr indent="0" algn="ctr">
                        <a:lnSpc>
                          <a:spcPct val="100000"/>
                        </a:lnSpc>
                        <a:defRPr/>
                      </a:pPr>
                      <a:r>
                        <a:rPr lang="en-US" sz="1400" b="0" i="0" u="none" strike="noStrike">
                          <a:solidFill>
                            <a:srgbClr val="6B7280"/>
                          </a:solidFill>
                          <a:latin typeface="Noto Sans SC"/>
                          <a:ea typeface="Noto Sans SC"/>
                          <a:cs typeface="Noto Sans SC"/>
                          <a:sym typeface="Noto Sans SC"/>
                        </a:rPr>
                        <a:t>-</a:t>
                      </a:r>
                      <a:endParaRPr lang="en-US" sz="1100"/>
                    </a:p>
                  </a:txBody>
                  <a:tcPr marL="101600" marR="101600" marT="101600" marB="101600" anchor="ctr">
                    <a:lnL>
                      <a:noFill/>
                    </a:lnL>
                    <a:lnR>
                      <a:noFill/>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9FAFB">
                        <a:alpha val="100000"/>
                      </a:srgbClr>
                    </a:solidFill>
                  </a:tcPr>
                </a:tc>
                <a:tc>
                  <a:txBody>
                    <a:bodyPr/>
                    <a:lstStyle/>
                    <a:p>
                      <a:pPr indent="0" algn="ctr">
                        <a:lnSpc>
                          <a:spcPct val="100000"/>
                        </a:lnSpc>
                        <a:defRPr/>
                      </a:pPr>
                      <a:r>
                        <a:rPr lang="en-US" sz="1400" b="0" i="0" u="none" strike="noStrike">
                          <a:solidFill>
                            <a:srgbClr val="374151"/>
                          </a:solidFill>
                          <a:latin typeface="Noto Sans SC"/>
                          <a:ea typeface="Noto Sans SC"/>
                          <a:cs typeface="Noto Sans SC"/>
                          <a:sym typeface="Noto Sans SC"/>
                        </a:rPr>
                        <a:t>NOT NULL</a:t>
                      </a:r>
                      <a:endParaRPr lang="en-US" sz="1100"/>
                    </a:p>
                  </a:txBody>
                  <a:tcPr marL="101600" marR="101600" marT="101600" marB="101600" anchor="ctr">
                    <a:lnL>
                      <a:noFill/>
                    </a:lnL>
                    <a:lnR>
                      <a:noFill/>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9FAFB">
                        <a:alpha val="100000"/>
                      </a:srgbClr>
                    </a:solidFill>
                  </a:tcPr>
                </a:tc>
                <a:tc>
                  <a:txBody>
                    <a:bodyPr/>
                    <a:lstStyle/>
                    <a:p>
                      <a:pPr indent="0" algn="ctr">
                        <a:lnSpc>
                          <a:spcPct val="100000"/>
                        </a:lnSpc>
                        <a:defRPr/>
                      </a:pPr>
                      <a:r>
                        <a:rPr lang="en-US" sz="1400" b="0" i="0" u="none" strike="noStrike">
                          <a:solidFill>
                            <a:srgbClr val="374151"/>
                          </a:solidFill>
                          <a:latin typeface="Noto Sans SC"/>
                          <a:ea typeface="Noto Sans SC"/>
                          <a:cs typeface="Noto Sans SC"/>
                          <a:sym typeface="Noto Sans SC"/>
                        </a:rPr>
                        <a:t>诊室号</a:t>
                      </a:r>
                      <a:endParaRPr lang="en-US" sz="1100"/>
                    </a:p>
                  </a:txBody>
                  <a:tcPr marL="101600" marR="101600" marT="101600" marB="101600" anchor="ctr">
                    <a:lnL>
                      <a:noFill/>
                    </a:lnL>
                    <a:lnR>
                      <a:noFill/>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9FAFB">
                        <a:alpha val="100000"/>
                      </a:srgbClr>
                    </a:solidFill>
                  </a:tcPr>
                </a:tc>
                <a:extLst>
                  <a:ext uri="{0D108BD9-81ED-4DB2-BD59-A6C34878D82A}">
                    <a16:rowId xmlns:a16="http://schemas.microsoft.com/office/drawing/2014/main" val="10006"/>
                  </a:ext>
                </a:extLst>
              </a:tr>
              <a:tr h="508000">
                <a:tc>
                  <a:txBody>
                    <a:bodyPr/>
                    <a:lstStyle/>
                    <a:p>
                      <a:pPr indent="0" algn="ctr">
                        <a:lnSpc>
                          <a:spcPct val="100000"/>
                        </a:lnSpc>
                        <a:defRPr/>
                      </a:pPr>
                      <a:r>
                        <a:rPr lang="en-US" sz="1400" b="0" i="0" u="none" strike="noStrike">
                          <a:solidFill>
                            <a:srgbClr val="374151"/>
                          </a:solidFill>
                          <a:latin typeface="Noto Sans SC"/>
                          <a:ea typeface="Noto Sans SC"/>
                          <a:cs typeface="Noto Sans SC"/>
                          <a:sym typeface="Noto Sans SC"/>
                        </a:rPr>
                        <a:t>staff_id</a:t>
                      </a:r>
                      <a:endParaRPr lang="en-US" sz="1100"/>
                    </a:p>
                  </a:txBody>
                  <a:tcPr marL="101600" marR="101600" marT="101600" marB="101600" anchor="ctr">
                    <a:lnL>
                      <a:noFill/>
                    </a:lnL>
                    <a:lnR>
                      <a:noFill/>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FFFFF">
                        <a:alpha val="100000"/>
                      </a:srgbClr>
                    </a:solidFill>
                  </a:tcPr>
                </a:tc>
                <a:tc>
                  <a:txBody>
                    <a:bodyPr/>
                    <a:lstStyle/>
                    <a:p>
                      <a:pPr indent="0" algn="ctr">
                        <a:lnSpc>
                          <a:spcPct val="100000"/>
                        </a:lnSpc>
                        <a:defRPr/>
                      </a:pPr>
                      <a:r>
                        <a:rPr lang="en-US" sz="1400" b="0" i="0" u="none" strike="noStrike">
                          <a:solidFill>
                            <a:srgbClr val="374151"/>
                          </a:solidFill>
                          <a:latin typeface="Noto Sans SC"/>
                          <a:ea typeface="Noto Sans SC"/>
                          <a:cs typeface="Noto Sans SC"/>
                          <a:sym typeface="Noto Sans SC"/>
                        </a:rPr>
                        <a:t>INTEGER</a:t>
                      </a:r>
                      <a:endParaRPr lang="en-US" sz="1100"/>
                    </a:p>
                  </a:txBody>
                  <a:tcPr marL="101600" marR="101600" marT="101600" marB="101600" anchor="ctr">
                    <a:lnL>
                      <a:noFill/>
                    </a:lnL>
                    <a:lnR>
                      <a:noFill/>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FFFFF">
                        <a:alpha val="100000"/>
                      </a:srgbClr>
                    </a:solidFill>
                  </a:tcPr>
                </a:tc>
                <a:tc>
                  <a:txBody>
                    <a:bodyPr/>
                    <a:lstStyle/>
                    <a:p>
                      <a:pPr indent="0" algn="ctr">
                        <a:lnSpc>
                          <a:spcPct val="100000"/>
                        </a:lnSpc>
                        <a:defRPr/>
                      </a:pPr>
                      <a:r>
                        <a:rPr lang="en-US" sz="1400" b="1" i="0" u="none" strike="noStrike">
                          <a:solidFill>
                            <a:srgbClr val="4A90E2"/>
                          </a:solidFill>
                          <a:latin typeface="Noto Sans SC"/>
                          <a:ea typeface="Noto Sans SC"/>
                          <a:cs typeface="Noto Sans SC"/>
                          <a:sym typeface="Noto Sans SC"/>
                        </a:rPr>
                        <a:t>FK</a:t>
                      </a:r>
                      <a:endParaRPr lang="en-US" sz="1100"/>
                    </a:p>
                  </a:txBody>
                  <a:tcPr marL="101600" marR="101600" marT="101600" marB="101600" anchor="ctr">
                    <a:lnL>
                      <a:noFill/>
                    </a:lnL>
                    <a:lnR>
                      <a:noFill/>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FFFFF">
                        <a:alpha val="100000"/>
                      </a:srgbClr>
                    </a:solidFill>
                  </a:tcPr>
                </a:tc>
                <a:tc>
                  <a:txBody>
                    <a:bodyPr/>
                    <a:lstStyle/>
                    <a:p>
                      <a:pPr indent="0" algn="ctr">
                        <a:lnSpc>
                          <a:spcPct val="100000"/>
                        </a:lnSpc>
                        <a:defRPr/>
                      </a:pPr>
                      <a:r>
                        <a:rPr lang="en-US" sz="1400" b="0" i="0" u="none" strike="noStrike">
                          <a:solidFill>
                            <a:srgbClr val="374151"/>
                          </a:solidFill>
                          <a:latin typeface="Noto Sans SC"/>
                          <a:ea typeface="Noto Sans SC"/>
                          <a:cs typeface="Noto Sans SC"/>
                          <a:sym typeface="Noto Sans SC"/>
                        </a:rPr>
                        <a:t>REFERENCES STAFF(id)</a:t>
                      </a:r>
                      <a:endParaRPr lang="en-US" sz="1100"/>
                    </a:p>
                  </a:txBody>
                  <a:tcPr marL="101600" marR="101600" marT="101600" marB="101600" anchor="ctr">
                    <a:lnL>
                      <a:noFill/>
                    </a:lnL>
                    <a:lnR>
                      <a:noFill/>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FFFFF">
                        <a:alpha val="100000"/>
                      </a:srgbClr>
                    </a:solidFill>
                  </a:tcPr>
                </a:tc>
                <a:tc>
                  <a:txBody>
                    <a:bodyPr/>
                    <a:lstStyle/>
                    <a:p>
                      <a:pPr indent="0" algn="ctr">
                        <a:lnSpc>
                          <a:spcPct val="100000"/>
                        </a:lnSpc>
                        <a:defRPr/>
                      </a:pPr>
                      <a:r>
                        <a:rPr lang="en-US" sz="1400" b="0" i="0" u="none" strike="noStrike">
                          <a:solidFill>
                            <a:srgbClr val="374151"/>
                          </a:solidFill>
                          <a:latin typeface="Noto Sans SC"/>
                          <a:ea typeface="Noto Sans SC"/>
                          <a:cs typeface="Noto Sans SC"/>
                          <a:sym typeface="Noto Sans SC"/>
                        </a:rPr>
                        <a:t>接诊医生工号</a:t>
                      </a:r>
                      <a:endParaRPr lang="en-US" sz="1100"/>
                    </a:p>
                  </a:txBody>
                  <a:tcPr marL="101600" marR="101600" marT="101600" marB="101600" anchor="ctr">
                    <a:lnL>
                      <a:noFill/>
                    </a:lnL>
                    <a:lnR>
                      <a:noFill/>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FFFFF">
                        <a:alpha val="100000"/>
                      </a:srgbClr>
                    </a:solidFill>
                  </a:tcPr>
                </a:tc>
                <a:extLst>
                  <a:ext uri="{0D108BD9-81ED-4DB2-BD59-A6C34878D82A}">
                    <a16:rowId xmlns:a16="http://schemas.microsoft.com/office/drawing/2014/main" val="10007"/>
                  </a:ext>
                </a:extLst>
              </a:tr>
              <a:tr h="508000">
                <a:tc>
                  <a:txBody>
                    <a:bodyPr/>
                    <a:lstStyle/>
                    <a:p>
                      <a:pPr indent="0" algn="ctr">
                        <a:lnSpc>
                          <a:spcPct val="100000"/>
                        </a:lnSpc>
                        <a:defRPr/>
                      </a:pPr>
                      <a:r>
                        <a:rPr lang="en-US" sz="1400" b="0" i="0" u="none" strike="noStrike">
                          <a:solidFill>
                            <a:srgbClr val="374151"/>
                          </a:solidFill>
                          <a:latin typeface="Noto Sans SC"/>
                          <a:ea typeface="Noto Sans SC"/>
                          <a:cs typeface="Noto Sans SC"/>
                          <a:sym typeface="Noto Sans SC"/>
                        </a:rPr>
                        <a:t>visit_time</a:t>
                      </a:r>
                      <a:endParaRPr lang="en-US" sz="1100"/>
                    </a:p>
                  </a:txBody>
                  <a:tcPr marL="101600" marR="101600" marT="101600" marB="101600" anchor="ctr">
                    <a:lnL>
                      <a:noFill/>
                    </a:lnL>
                    <a:lnR>
                      <a:noFill/>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9FAFB">
                        <a:alpha val="100000"/>
                      </a:srgbClr>
                    </a:solidFill>
                  </a:tcPr>
                </a:tc>
                <a:tc>
                  <a:txBody>
                    <a:bodyPr/>
                    <a:lstStyle/>
                    <a:p>
                      <a:pPr indent="0" algn="ctr">
                        <a:lnSpc>
                          <a:spcPct val="100000"/>
                        </a:lnSpc>
                        <a:defRPr/>
                      </a:pPr>
                      <a:r>
                        <a:rPr lang="en-US" sz="1400" b="0" i="0" u="none" strike="noStrike">
                          <a:solidFill>
                            <a:srgbClr val="374151"/>
                          </a:solidFill>
                          <a:latin typeface="Noto Sans SC"/>
                          <a:ea typeface="Noto Sans SC"/>
                          <a:cs typeface="Noto Sans SC"/>
                          <a:sym typeface="Noto Sans SC"/>
                        </a:rPr>
                        <a:t>DATETIME</a:t>
                      </a:r>
                      <a:endParaRPr lang="en-US" sz="1100"/>
                    </a:p>
                  </a:txBody>
                  <a:tcPr marL="101600" marR="101600" marT="101600" marB="101600" anchor="ctr">
                    <a:lnL>
                      <a:noFill/>
                    </a:lnL>
                    <a:lnR>
                      <a:noFill/>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9FAFB">
                        <a:alpha val="100000"/>
                      </a:srgbClr>
                    </a:solidFill>
                  </a:tcPr>
                </a:tc>
                <a:tc>
                  <a:txBody>
                    <a:bodyPr/>
                    <a:lstStyle/>
                    <a:p>
                      <a:pPr indent="0" algn="ctr">
                        <a:lnSpc>
                          <a:spcPct val="100000"/>
                        </a:lnSpc>
                        <a:defRPr/>
                      </a:pPr>
                      <a:r>
                        <a:rPr lang="en-US" sz="1400" b="0" i="0" u="none" strike="noStrike">
                          <a:solidFill>
                            <a:srgbClr val="6B7280"/>
                          </a:solidFill>
                          <a:latin typeface="Noto Sans SC"/>
                          <a:ea typeface="Noto Sans SC"/>
                          <a:cs typeface="Noto Sans SC"/>
                          <a:sym typeface="Noto Sans SC"/>
                        </a:rPr>
                        <a:t>-</a:t>
                      </a:r>
                      <a:endParaRPr lang="en-US" sz="1100"/>
                    </a:p>
                  </a:txBody>
                  <a:tcPr marL="101600" marR="101600" marT="101600" marB="101600" anchor="ctr">
                    <a:lnL>
                      <a:noFill/>
                    </a:lnL>
                    <a:lnR>
                      <a:noFill/>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9FAFB">
                        <a:alpha val="100000"/>
                      </a:srgbClr>
                    </a:solidFill>
                  </a:tcPr>
                </a:tc>
                <a:tc>
                  <a:txBody>
                    <a:bodyPr/>
                    <a:lstStyle/>
                    <a:p>
                      <a:pPr indent="0" algn="ctr">
                        <a:lnSpc>
                          <a:spcPct val="100000"/>
                        </a:lnSpc>
                        <a:defRPr/>
                      </a:pPr>
                      <a:r>
                        <a:rPr lang="en-US" sz="1400" b="0" i="0" u="none" strike="noStrike">
                          <a:solidFill>
                            <a:srgbClr val="374151"/>
                          </a:solidFill>
                          <a:latin typeface="Noto Sans SC"/>
                          <a:ea typeface="Noto Sans SC"/>
                          <a:cs typeface="Noto Sans SC"/>
                          <a:sym typeface="Noto Sans SC"/>
                        </a:rPr>
                        <a:t>DEFAULT CURRENT_TIMESTAMP</a:t>
                      </a:r>
                      <a:endParaRPr lang="en-US" sz="1100"/>
                    </a:p>
                  </a:txBody>
                  <a:tcPr marL="101600" marR="101600" marT="101600" marB="101600" anchor="ctr">
                    <a:lnL>
                      <a:noFill/>
                    </a:lnL>
                    <a:lnR>
                      <a:noFill/>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9FAFB">
                        <a:alpha val="100000"/>
                      </a:srgbClr>
                    </a:solidFill>
                  </a:tcPr>
                </a:tc>
                <a:tc>
                  <a:txBody>
                    <a:bodyPr/>
                    <a:lstStyle/>
                    <a:p>
                      <a:pPr indent="0" algn="ctr">
                        <a:lnSpc>
                          <a:spcPct val="100000"/>
                        </a:lnSpc>
                        <a:defRPr/>
                      </a:pPr>
                      <a:r>
                        <a:rPr lang="en-US" sz="1400" b="0" i="0" u="none" strike="noStrike">
                          <a:solidFill>
                            <a:srgbClr val="374151"/>
                          </a:solidFill>
                          <a:latin typeface="Noto Sans SC"/>
                          <a:ea typeface="Noto Sans SC"/>
                          <a:cs typeface="Noto Sans SC"/>
                          <a:sym typeface="Noto Sans SC"/>
                        </a:rPr>
                        <a:t>就诊时间</a:t>
                      </a:r>
                      <a:endParaRPr lang="en-US" sz="1100"/>
                    </a:p>
                  </a:txBody>
                  <a:tcPr marL="101600" marR="101600" marT="101600" marB="101600" anchor="ctr">
                    <a:lnL>
                      <a:noFill/>
                    </a:lnL>
                    <a:lnR>
                      <a:noFill/>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9FAFB">
                        <a:alpha val="100000"/>
                      </a:srgbClr>
                    </a:solidFill>
                  </a:tcPr>
                </a:tc>
                <a:extLst>
                  <a:ext uri="{0D108BD9-81ED-4DB2-BD59-A6C34878D82A}">
                    <a16:rowId xmlns:a16="http://schemas.microsoft.com/office/drawing/2014/main" val="10008"/>
                  </a:ext>
                </a:extLst>
              </a:tr>
              <a:tr h="508000">
                <a:tc>
                  <a:txBody>
                    <a:bodyPr/>
                    <a:lstStyle/>
                    <a:p>
                      <a:pPr indent="0" algn="ctr">
                        <a:lnSpc>
                          <a:spcPct val="100000"/>
                        </a:lnSpc>
                        <a:defRPr/>
                      </a:pPr>
                      <a:r>
                        <a:rPr lang="en-US" sz="1400" b="0" i="0" u="none" strike="noStrike">
                          <a:solidFill>
                            <a:srgbClr val="374151"/>
                          </a:solidFill>
                          <a:latin typeface="Noto Sans SC"/>
                          <a:ea typeface="Noto Sans SC"/>
                          <a:cs typeface="Noto Sans SC"/>
                          <a:sym typeface="Noto Sans SC"/>
                        </a:rPr>
                        <a:t>status</a:t>
                      </a:r>
                      <a:endParaRPr lang="en-US" sz="1100"/>
                    </a:p>
                  </a:txBody>
                  <a:tcPr marL="101600" marR="101600" marT="101600" marB="101600" anchor="ctr">
                    <a:lnL>
                      <a:noFill/>
                    </a:lnL>
                    <a:lnR>
                      <a:noFill/>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FFFFF">
                        <a:alpha val="100000"/>
                      </a:srgbClr>
                    </a:solidFill>
                  </a:tcPr>
                </a:tc>
                <a:tc>
                  <a:txBody>
                    <a:bodyPr/>
                    <a:lstStyle/>
                    <a:p>
                      <a:pPr indent="0" algn="ctr">
                        <a:lnSpc>
                          <a:spcPct val="100000"/>
                        </a:lnSpc>
                        <a:defRPr/>
                      </a:pPr>
                      <a:r>
                        <a:rPr lang="en-US" sz="1400" b="0" i="0" u="none" strike="noStrike">
                          <a:solidFill>
                            <a:srgbClr val="374151"/>
                          </a:solidFill>
                          <a:latin typeface="Noto Sans SC"/>
                          <a:ea typeface="Noto Sans SC"/>
                          <a:cs typeface="Noto Sans SC"/>
                          <a:sym typeface="Noto Sans SC"/>
                        </a:rPr>
                        <a:t>TEXT</a:t>
                      </a:r>
                      <a:endParaRPr lang="en-US" sz="1100"/>
                    </a:p>
                  </a:txBody>
                  <a:tcPr marL="101600" marR="101600" marT="101600" marB="101600" anchor="ctr">
                    <a:lnL>
                      <a:noFill/>
                    </a:lnL>
                    <a:lnR>
                      <a:noFill/>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FFFFF">
                        <a:alpha val="100000"/>
                      </a:srgbClr>
                    </a:solidFill>
                  </a:tcPr>
                </a:tc>
                <a:tc>
                  <a:txBody>
                    <a:bodyPr/>
                    <a:lstStyle/>
                    <a:p>
                      <a:pPr indent="0" algn="ctr">
                        <a:lnSpc>
                          <a:spcPct val="100000"/>
                        </a:lnSpc>
                        <a:defRPr/>
                      </a:pPr>
                      <a:r>
                        <a:rPr lang="en-US" sz="1400" b="0" i="0" u="none" strike="noStrike">
                          <a:solidFill>
                            <a:srgbClr val="6B7280"/>
                          </a:solidFill>
                          <a:latin typeface="Noto Sans SC"/>
                          <a:ea typeface="Noto Sans SC"/>
                          <a:cs typeface="Noto Sans SC"/>
                          <a:sym typeface="Noto Sans SC"/>
                        </a:rPr>
                        <a:t>-</a:t>
                      </a:r>
                      <a:endParaRPr lang="en-US" sz="1100"/>
                    </a:p>
                  </a:txBody>
                  <a:tcPr marL="101600" marR="101600" marT="101600" marB="101600" anchor="ctr">
                    <a:lnL>
                      <a:noFill/>
                    </a:lnL>
                    <a:lnR>
                      <a:noFill/>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FFFFF">
                        <a:alpha val="100000"/>
                      </a:srgbClr>
                    </a:solidFill>
                  </a:tcPr>
                </a:tc>
                <a:tc>
                  <a:txBody>
                    <a:bodyPr/>
                    <a:lstStyle/>
                    <a:p>
                      <a:pPr indent="0" algn="ctr">
                        <a:lnSpc>
                          <a:spcPct val="100000"/>
                        </a:lnSpc>
                        <a:defRPr/>
                      </a:pPr>
                      <a:r>
                        <a:rPr lang="en-US" sz="1400" b="0" i="0" u="none" strike="noStrike">
                          <a:solidFill>
                            <a:srgbClr val="374151"/>
                          </a:solidFill>
                          <a:latin typeface="Noto Sans SC"/>
                          <a:ea typeface="Noto Sans SC"/>
                          <a:cs typeface="Noto Sans SC"/>
                          <a:sym typeface="Noto Sans SC"/>
                        </a:rPr>
                        <a:t>DEFAULT '就诊中'</a:t>
                      </a:r>
                      <a:endParaRPr lang="en-US" sz="1100"/>
                    </a:p>
                  </a:txBody>
                  <a:tcPr marL="101600" marR="101600" marT="101600" marB="101600" anchor="ctr">
                    <a:lnL>
                      <a:noFill/>
                    </a:lnL>
                    <a:lnR>
                      <a:noFill/>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FFFFF">
                        <a:alpha val="100000"/>
                      </a:srgbClr>
                    </a:solidFill>
                  </a:tcPr>
                </a:tc>
                <a:tc>
                  <a:txBody>
                    <a:bodyPr/>
                    <a:lstStyle/>
                    <a:p>
                      <a:pPr indent="0" algn="ctr">
                        <a:lnSpc>
                          <a:spcPct val="100000"/>
                        </a:lnSpc>
                        <a:defRPr/>
                      </a:pPr>
                      <a:r>
                        <a:rPr lang="en-US" sz="1400" b="0" i="0" u="none" strike="noStrike">
                          <a:solidFill>
                            <a:srgbClr val="374151"/>
                          </a:solidFill>
                          <a:latin typeface="Noto Sans SC"/>
                          <a:ea typeface="Noto Sans SC"/>
                          <a:cs typeface="Noto Sans SC"/>
                          <a:sym typeface="Noto Sans SC"/>
                        </a:rPr>
                        <a:t>就诊状态</a:t>
                      </a:r>
                      <a:endParaRPr lang="en-US" sz="1100"/>
                    </a:p>
                  </a:txBody>
                  <a:tcPr marL="101600" marR="101600" marT="101600" marB="101600" anchor="ctr">
                    <a:lnL>
                      <a:noFill/>
                    </a:lnL>
                    <a:lnR>
                      <a:noFill/>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FFFFF">
                        <a:alpha val="100000"/>
                      </a:srgbClr>
                    </a:solidFill>
                  </a:tcPr>
                </a:tc>
                <a:extLst>
                  <a:ext uri="{0D108BD9-81ED-4DB2-BD59-A6C34878D82A}">
                    <a16:rowId xmlns:a16="http://schemas.microsoft.com/office/drawing/2014/main" val="10009"/>
                  </a:ext>
                </a:extLst>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5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508000"/>
            <a:ext cx="8890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800" b="1" i="0" u="none" strike="noStrike">
                <a:solidFill>
                  <a:srgbClr val="003366"/>
                </a:solidFill>
                <a:latin typeface="Noto Sans SC"/>
                <a:ea typeface="Noto Sans SC"/>
                <a:cs typeface="Noto Sans SC"/>
                <a:sym typeface="Noto Sans SC"/>
              </a:rPr>
              <a:t>数据库设计 - 物理设计 - PAYMENTS表</a:t>
            </a:r>
            <a:endParaRPr lang="en-US" sz="1100"/>
          </a:p>
        </p:txBody>
      </p:sp>
      <p:cxnSp>
        <p:nvCxnSpPr>
          <p:cNvPr id="3" name="Connector 3"/>
          <p:cNvCxnSpPr/>
          <p:nvPr/>
        </p:nvCxnSpPr>
        <p:spPr>
          <a:xfrm rot="-4092">
            <a:off x="762004" y="1212850"/>
            <a:ext cx="10668000" cy="12700"/>
          </a:xfrm>
          <a:prstGeom prst="straightConnector1">
            <a:avLst/>
          </a:prstGeom>
          <a:solidFill>
            <a:srgbClr val="DEE0E3">
              <a:alpha val="100000"/>
            </a:srgbClr>
          </a:solidFill>
          <a:ln w="12700" cap="flat" cmpd="sng">
            <a:solidFill>
              <a:srgbClr val="E5E7EB">
                <a:alpha val="100000"/>
              </a:srgbClr>
            </a:solidFill>
            <a:prstDash val="solid"/>
            <a:round/>
            <a:headEnd type="none" w="med" len="med"/>
            <a:tailEnd type="none" w="med" len="med"/>
          </a:ln>
        </p:spPr>
      </p:cxnSp>
      <p:graphicFrame>
        <p:nvGraphicFramePr>
          <p:cNvPr id="4" name="Table 4"/>
          <p:cNvGraphicFramePr>
            <a:graphicFrameLocks noGrp="1"/>
          </p:cNvGraphicFramePr>
          <p:nvPr/>
        </p:nvGraphicFramePr>
        <p:xfrm>
          <a:off x="762000" y="1524000"/>
          <a:ext cx="10668000" cy="4287520"/>
        </p:xfrm>
        <a:graphic>
          <a:graphicData uri="http://schemas.openxmlformats.org/drawingml/2006/table">
            <a:tbl>
              <a:tblPr>
                <a:effectLst/>
              </a:tblPr>
              <a:tblGrid>
                <a:gridCol w="1778000">
                  <a:extLst>
                    <a:ext uri="{9D8B030D-6E8A-4147-A177-3AD203B41FA5}">
                      <a16:colId xmlns:a16="http://schemas.microsoft.com/office/drawing/2014/main" val="20000"/>
                    </a:ext>
                  </a:extLst>
                </a:gridCol>
                <a:gridCol w="1778000">
                  <a:extLst>
                    <a:ext uri="{9D8B030D-6E8A-4147-A177-3AD203B41FA5}">
                      <a16:colId xmlns:a16="http://schemas.microsoft.com/office/drawing/2014/main" val="20001"/>
                    </a:ext>
                  </a:extLst>
                </a:gridCol>
                <a:gridCol w="1524000">
                  <a:extLst>
                    <a:ext uri="{9D8B030D-6E8A-4147-A177-3AD203B41FA5}">
                      <a16:colId xmlns:a16="http://schemas.microsoft.com/office/drawing/2014/main" val="20002"/>
                    </a:ext>
                  </a:extLst>
                </a:gridCol>
                <a:gridCol w="3048000">
                  <a:extLst>
                    <a:ext uri="{9D8B030D-6E8A-4147-A177-3AD203B41FA5}">
                      <a16:colId xmlns:a16="http://schemas.microsoft.com/office/drawing/2014/main" val="20003"/>
                    </a:ext>
                  </a:extLst>
                </a:gridCol>
                <a:gridCol w="2540000">
                  <a:extLst>
                    <a:ext uri="{9D8B030D-6E8A-4147-A177-3AD203B41FA5}">
                      <a16:colId xmlns:a16="http://schemas.microsoft.com/office/drawing/2014/main" val="20004"/>
                    </a:ext>
                  </a:extLst>
                </a:gridCol>
              </a:tblGrid>
              <a:tr h="609600">
                <a:tc>
                  <a:txBody>
                    <a:bodyPr/>
                    <a:lstStyle/>
                    <a:p>
                      <a:pPr indent="0" algn="ctr">
                        <a:lnSpc>
                          <a:spcPct val="100000"/>
                        </a:lnSpc>
                        <a:defRPr/>
                      </a:pPr>
                      <a:r>
                        <a:rPr lang="en-US" sz="1400" b="1" i="0" u="none" strike="noStrike">
                          <a:solidFill>
                            <a:srgbClr val="FFFFFF"/>
                          </a:solidFill>
                          <a:latin typeface="Noto Sans SC"/>
                          <a:ea typeface="Noto Sans SC"/>
                          <a:cs typeface="Noto Sans SC"/>
                          <a:sym typeface="Noto Sans SC"/>
                        </a:rPr>
                        <a:t>字段名</a:t>
                      </a:r>
                      <a:endParaRPr lang="en-US" sz="1100"/>
                    </a:p>
                  </a:txBody>
                  <a:tcPr marL="101600" marR="101600" marT="101600" marB="101600" anchor="ctr">
                    <a:lnL>
                      <a:noFill/>
                    </a:lnL>
                    <a:lnR>
                      <a:noFill/>
                    </a:lnR>
                    <a:lnT>
                      <a:noFill/>
                    </a:lnT>
                    <a:lnB>
                      <a:noFill/>
                    </a:lnB>
                    <a:solidFill>
                      <a:srgbClr val="003366">
                        <a:alpha val="100000"/>
                      </a:srgbClr>
                    </a:solidFill>
                  </a:tcPr>
                </a:tc>
                <a:tc>
                  <a:txBody>
                    <a:bodyPr/>
                    <a:lstStyle/>
                    <a:p>
                      <a:pPr indent="0" algn="ctr">
                        <a:lnSpc>
                          <a:spcPct val="100000"/>
                        </a:lnSpc>
                        <a:defRPr/>
                      </a:pPr>
                      <a:r>
                        <a:rPr lang="en-US" sz="1400" b="1" i="0" u="none" strike="noStrike">
                          <a:solidFill>
                            <a:srgbClr val="FFFFFF"/>
                          </a:solidFill>
                          <a:latin typeface="Noto Sans SC"/>
                          <a:ea typeface="Noto Sans SC"/>
                          <a:cs typeface="Noto Sans SC"/>
                          <a:sym typeface="Noto Sans SC"/>
                        </a:rPr>
                        <a:t>数据类型</a:t>
                      </a:r>
                      <a:endParaRPr lang="en-US" sz="1100"/>
                    </a:p>
                  </a:txBody>
                  <a:tcPr marL="101600" marR="101600" marT="101600" marB="101600" anchor="ctr">
                    <a:lnL>
                      <a:noFill/>
                    </a:lnL>
                    <a:lnR>
                      <a:noFill/>
                    </a:lnR>
                    <a:lnT>
                      <a:noFill/>
                    </a:lnT>
                    <a:lnB>
                      <a:noFill/>
                    </a:lnB>
                    <a:solidFill>
                      <a:srgbClr val="003366">
                        <a:alpha val="100000"/>
                      </a:srgbClr>
                    </a:solidFill>
                  </a:tcPr>
                </a:tc>
                <a:tc>
                  <a:txBody>
                    <a:bodyPr/>
                    <a:lstStyle/>
                    <a:p>
                      <a:pPr indent="0" algn="ctr">
                        <a:lnSpc>
                          <a:spcPct val="100000"/>
                        </a:lnSpc>
                        <a:defRPr/>
                      </a:pPr>
                      <a:r>
                        <a:rPr lang="en-US" sz="1400" b="1" i="0" u="none" strike="noStrike">
                          <a:solidFill>
                            <a:srgbClr val="FFFFFF"/>
                          </a:solidFill>
                          <a:latin typeface="Noto Sans SC"/>
                          <a:ea typeface="Noto Sans SC"/>
                          <a:cs typeface="Noto Sans SC"/>
                          <a:sym typeface="Noto Sans SC"/>
                        </a:rPr>
                        <a:t>主键/外键</a:t>
                      </a:r>
                      <a:endParaRPr lang="en-US" sz="1100"/>
                    </a:p>
                  </a:txBody>
                  <a:tcPr marL="101600" marR="101600" marT="101600" marB="101600" anchor="ctr">
                    <a:lnL>
                      <a:noFill/>
                    </a:lnL>
                    <a:lnR>
                      <a:noFill/>
                    </a:lnR>
                    <a:lnT>
                      <a:noFill/>
                    </a:lnT>
                    <a:lnB>
                      <a:noFill/>
                    </a:lnB>
                    <a:solidFill>
                      <a:srgbClr val="003366">
                        <a:alpha val="100000"/>
                      </a:srgbClr>
                    </a:solidFill>
                  </a:tcPr>
                </a:tc>
                <a:tc>
                  <a:txBody>
                    <a:bodyPr/>
                    <a:lstStyle/>
                    <a:p>
                      <a:pPr indent="0" algn="ctr">
                        <a:lnSpc>
                          <a:spcPct val="100000"/>
                        </a:lnSpc>
                        <a:defRPr/>
                      </a:pPr>
                      <a:r>
                        <a:rPr lang="en-US" sz="1400" b="1" i="0" u="none" strike="noStrike">
                          <a:solidFill>
                            <a:srgbClr val="FFFFFF"/>
                          </a:solidFill>
                          <a:latin typeface="Noto Sans SC"/>
                          <a:ea typeface="Noto Sans SC"/>
                          <a:cs typeface="Noto Sans SC"/>
                          <a:sym typeface="Noto Sans SC"/>
                        </a:rPr>
                        <a:t>约束条件</a:t>
                      </a:r>
                      <a:endParaRPr lang="en-US" sz="1100"/>
                    </a:p>
                  </a:txBody>
                  <a:tcPr marL="101600" marR="101600" marT="101600" marB="101600" anchor="ctr">
                    <a:lnL>
                      <a:noFill/>
                    </a:lnL>
                    <a:lnR>
                      <a:noFill/>
                    </a:lnR>
                    <a:lnT>
                      <a:noFill/>
                    </a:lnT>
                    <a:lnB>
                      <a:noFill/>
                    </a:lnB>
                    <a:solidFill>
                      <a:srgbClr val="003366">
                        <a:alpha val="100000"/>
                      </a:srgbClr>
                    </a:solidFill>
                  </a:tcPr>
                </a:tc>
                <a:tc>
                  <a:txBody>
                    <a:bodyPr/>
                    <a:lstStyle/>
                    <a:p>
                      <a:pPr indent="0" algn="ctr">
                        <a:lnSpc>
                          <a:spcPct val="100000"/>
                        </a:lnSpc>
                        <a:defRPr/>
                      </a:pPr>
                      <a:r>
                        <a:rPr lang="en-US" sz="1400" b="1" i="0" u="none" strike="noStrike">
                          <a:solidFill>
                            <a:srgbClr val="FFFFFF"/>
                          </a:solidFill>
                          <a:latin typeface="Noto Sans SC"/>
                          <a:ea typeface="Noto Sans SC"/>
                          <a:cs typeface="Noto Sans SC"/>
                          <a:sym typeface="Noto Sans SC"/>
                        </a:rPr>
                        <a:t>说明</a:t>
                      </a:r>
                      <a:endParaRPr lang="en-US" sz="1100"/>
                    </a:p>
                  </a:txBody>
                  <a:tcPr marL="101600" marR="101600" marT="101600" marB="101600" anchor="ctr">
                    <a:lnL>
                      <a:noFill/>
                    </a:lnL>
                    <a:lnR>
                      <a:noFill/>
                    </a:lnR>
                    <a:lnT>
                      <a:noFill/>
                    </a:lnT>
                    <a:lnB>
                      <a:noFill/>
                    </a:lnB>
                    <a:solidFill>
                      <a:srgbClr val="003366">
                        <a:alpha val="100000"/>
                      </a:srgbClr>
                    </a:solidFill>
                  </a:tcPr>
                </a:tc>
                <a:extLst>
                  <a:ext uri="{0D108BD9-81ED-4DB2-BD59-A6C34878D82A}">
                    <a16:rowId xmlns:a16="http://schemas.microsoft.com/office/drawing/2014/main" val="10000"/>
                  </a:ext>
                </a:extLst>
              </a:tr>
              <a:tr h="609600">
                <a:tc>
                  <a:txBody>
                    <a:bodyPr/>
                    <a:lstStyle/>
                    <a:p>
                      <a:pPr indent="0" algn="ctr">
                        <a:lnSpc>
                          <a:spcPct val="100000"/>
                        </a:lnSpc>
                        <a:defRPr/>
                      </a:pPr>
                      <a:r>
                        <a:rPr lang="en-US" sz="1400" b="0" i="0" u="none" strike="noStrike">
                          <a:solidFill>
                            <a:srgbClr val="374151"/>
                          </a:solidFill>
                          <a:latin typeface="Noto Sans SC"/>
                          <a:ea typeface="Noto Sans SC"/>
                          <a:cs typeface="Noto Sans SC"/>
                          <a:sym typeface="Noto Sans SC"/>
                        </a:rPr>
                        <a:t>id</a:t>
                      </a:r>
                      <a:endParaRPr lang="en-US" sz="1100"/>
                    </a:p>
                  </a:txBody>
                  <a:tcPr marL="101600" marR="101600" marT="101600" marB="101600" anchor="ctr">
                    <a:lnL>
                      <a:noFill/>
                    </a:lnL>
                    <a:lnR>
                      <a:noFill/>
                    </a:lnR>
                    <a:lnT>
                      <a:noFill/>
                    </a:lnT>
                    <a:lnB w="12700" cap="flat" cmpd="sng" algn="ctr">
                      <a:solidFill>
                        <a:srgbClr val="E5E7EB"/>
                      </a:solidFill>
                      <a:prstDash val="solid"/>
                      <a:round/>
                      <a:headEnd type="none" w="med" len="med"/>
                      <a:tailEnd type="none" w="med" len="med"/>
                    </a:lnB>
                    <a:solidFill>
                      <a:srgbClr val="FFFFFF">
                        <a:alpha val="100000"/>
                      </a:srgbClr>
                    </a:solidFill>
                  </a:tcPr>
                </a:tc>
                <a:tc>
                  <a:txBody>
                    <a:bodyPr/>
                    <a:lstStyle/>
                    <a:p>
                      <a:pPr indent="0" algn="ctr">
                        <a:lnSpc>
                          <a:spcPct val="100000"/>
                        </a:lnSpc>
                        <a:defRPr/>
                      </a:pPr>
                      <a:r>
                        <a:rPr lang="en-US" sz="1400" b="0" i="0" u="none" strike="noStrike">
                          <a:solidFill>
                            <a:srgbClr val="374151"/>
                          </a:solidFill>
                          <a:latin typeface="Noto Sans SC"/>
                          <a:ea typeface="Noto Sans SC"/>
                          <a:cs typeface="Noto Sans SC"/>
                          <a:sym typeface="Noto Sans SC"/>
                        </a:rPr>
                        <a:t>INTEGER</a:t>
                      </a:r>
                      <a:endParaRPr lang="en-US" sz="1100"/>
                    </a:p>
                  </a:txBody>
                  <a:tcPr marL="101600" marR="101600" marT="101600" marB="101600" anchor="ctr">
                    <a:lnL>
                      <a:noFill/>
                    </a:lnL>
                    <a:lnR>
                      <a:noFill/>
                    </a:lnR>
                    <a:lnT>
                      <a:noFill/>
                    </a:lnT>
                    <a:lnB w="12700" cap="flat" cmpd="sng" algn="ctr">
                      <a:solidFill>
                        <a:srgbClr val="E5E7EB"/>
                      </a:solidFill>
                      <a:prstDash val="solid"/>
                      <a:round/>
                      <a:headEnd type="none" w="med" len="med"/>
                      <a:tailEnd type="none" w="med" len="med"/>
                    </a:lnB>
                    <a:solidFill>
                      <a:srgbClr val="FFFFFF">
                        <a:alpha val="100000"/>
                      </a:srgbClr>
                    </a:solidFill>
                  </a:tcPr>
                </a:tc>
                <a:tc>
                  <a:txBody>
                    <a:bodyPr/>
                    <a:lstStyle/>
                    <a:p>
                      <a:pPr indent="0" algn="ctr">
                        <a:lnSpc>
                          <a:spcPct val="100000"/>
                        </a:lnSpc>
                        <a:defRPr/>
                      </a:pPr>
                      <a:r>
                        <a:rPr lang="en-US" sz="1400" b="1" i="0" u="none" strike="noStrike">
                          <a:solidFill>
                            <a:srgbClr val="4A90E2"/>
                          </a:solidFill>
                          <a:latin typeface="Noto Sans SC"/>
                          <a:ea typeface="Noto Sans SC"/>
                          <a:cs typeface="Noto Sans SC"/>
                          <a:sym typeface="Noto Sans SC"/>
                        </a:rPr>
                        <a:t>PK</a:t>
                      </a:r>
                      <a:endParaRPr lang="en-US" sz="1100"/>
                    </a:p>
                  </a:txBody>
                  <a:tcPr marL="101600" marR="101600" marT="101600" marB="101600" anchor="ctr">
                    <a:lnL>
                      <a:noFill/>
                    </a:lnL>
                    <a:lnR>
                      <a:noFill/>
                    </a:lnR>
                    <a:lnT>
                      <a:noFill/>
                    </a:lnT>
                    <a:lnB w="12700" cap="flat" cmpd="sng" algn="ctr">
                      <a:solidFill>
                        <a:srgbClr val="E5E7EB"/>
                      </a:solidFill>
                      <a:prstDash val="solid"/>
                      <a:round/>
                      <a:headEnd type="none" w="med" len="med"/>
                      <a:tailEnd type="none" w="med" len="med"/>
                    </a:lnB>
                    <a:solidFill>
                      <a:srgbClr val="FFFFFF">
                        <a:alpha val="100000"/>
                      </a:srgbClr>
                    </a:solidFill>
                  </a:tcPr>
                </a:tc>
                <a:tc>
                  <a:txBody>
                    <a:bodyPr/>
                    <a:lstStyle/>
                    <a:p>
                      <a:pPr indent="0" algn="ctr">
                        <a:lnSpc>
                          <a:spcPct val="100000"/>
                        </a:lnSpc>
                        <a:defRPr/>
                      </a:pPr>
                      <a:r>
                        <a:rPr lang="en-US" sz="1400" b="0" i="0" u="none" strike="noStrike">
                          <a:solidFill>
                            <a:srgbClr val="374151"/>
                          </a:solidFill>
                          <a:latin typeface="Noto Sans SC"/>
                          <a:ea typeface="Noto Sans SC"/>
                          <a:cs typeface="Noto Sans SC"/>
                          <a:sym typeface="Noto Sans SC"/>
                        </a:rPr>
                        <a:t>AUTOINCREMENT</a:t>
                      </a:r>
                      <a:endParaRPr lang="en-US" sz="1100"/>
                    </a:p>
                  </a:txBody>
                  <a:tcPr marL="101600" marR="101600" marT="101600" marB="101600" anchor="ctr">
                    <a:lnL>
                      <a:noFill/>
                    </a:lnL>
                    <a:lnR>
                      <a:noFill/>
                    </a:lnR>
                    <a:lnT>
                      <a:noFill/>
                    </a:lnT>
                    <a:lnB w="12700" cap="flat" cmpd="sng" algn="ctr">
                      <a:solidFill>
                        <a:srgbClr val="E5E7EB"/>
                      </a:solidFill>
                      <a:prstDash val="solid"/>
                      <a:round/>
                      <a:headEnd type="none" w="med" len="med"/>
                      <a:tailEnd type="none" w="med" len="med"/>
                    </a:lnB>
                    <a:solidFill>
                      <a:srgbClr val="FFFFFF">
                        <a:alpha val="100000"/>
                      </a:srgbClr>
                    </a:solidFill>
                  </a:tcPr>
                </a:tc>
                <a:tc>
                  <a:txBody>
                    <a:bodyPr/>
                    <a:lstStyle/>
                    <a:p>
                      <a:pPr indent="0" algn="ctr">
                        <a:lnSpc>
                          <a:spcPct val="100000"/>
                        </a:lnSpc>
                        <a:defRPr/>
                      </a:pPr>
                      <a:r>
                        <a:rPr lang="en-US" sz="1400" b="0" i="0" u="none" strike="noStrike">
                          <a:solidFill>
                            <a:srgbClr val="374151"/>
                          </a:solidFill>
                          <a:latin typeface="Noto Sans SC"/>
                          <a:ea typeface="Noto Sans SC"/>
                          <a:cs typeface="Noto Sans SC"/>
                          <a:sym typeface="Noto Sans SC"/>
                        </a:rPr>
                        <a:t>支付编号</a:t>
                      </a:r>
                      <a:endParaRPr lang="en-US" sz="1100"/>
                    </a:p>
                  </a:txBody>
                  <a:tcPr marL="101600" marR="101600" marT="101600" marB="101600" anchor="ctr">
                    <a:lnL>
                      <a:noFill/>
                    </a:lnL>
                    <a:lnR>
                      <a:noFill/>
                    </a:lnR>
                    <a:lnT>
                      <a:noFill/>
                    </a:lnT>
                    <a:lnB w="12700" cap="flat" cmpd="sng" algn="ctr">
                      <a:solidFill>
                        <a:srgbClr val="E5E7EB"/>
                      </a:solidFill>
                      <a:prstDash val="solid"/>
                      <a:round/>
                      <a:headEnd type="none" w="med" len="med"/>
                      <a:tailEnd type="none" w="med" len="med"/>
                    </a:lnB>
                    <a:solidFill>
                      <a:srgbClr val="FFFFFF">
                        <a:alpha val="100000"/>
                      </a:srgbClr>
                    </a:solidFill>
                  </a:tcPr>
                </a:tc>
                <a:extLst>
                  <a:ext uri="{0D108BD9-81ED-4DB2-BD59-A6C34878D82A}">
                    <a16:rowId xmlns:a16="http://schemas.microsoft.com/office/drawing/2014/main" val="10001"/>
                  </a:ext>
                </a:extLst>
              </a:tr>
              <a:tr h="609600">
                <a:tc>
                  <a:txBody>
                    <a:bodyPr/>
                    <a:lstStyle/>
                    <a:p>
                      <a:pPr indent="0" algn="ctr">
                        <a:lnSpc>
                          <a:spcPct val="100000"/>
                        </a:lnSpc>
                        <a:defRPr/>
                      </a:pPr>
                      <a:r>
                        <a:rPr lang="en-US" sz="1400" b="0" i="0" u="none" strike="noStrike">
                          <a:solidFill>
                            <a:srgbClr val="374151"/>
                          </a:solidFill>
                          <a:latin typeface="Noto Sans SC"/>
                          <a:ea typeface="Noto Sans SC"/>
                          <a:cs typeface="Noto Sans SC"/>
                          <a:sym typeface="Noto Sans SC"/>
                        </a:rPr>
                        <a:t>consultation_id</a:t>
                      </a:r>
                      <a:endParaRPr lang="en-US" sz="1100"/>
                    </a:p>
                  </a:txBody>
                  <a:tcPr marL="101600" marR="101600" marT="101600" marB="101600" anchor="ctr">
                    <a:lnL>
                      <a:noFill/>
                    </a:lnL>
                    <a:lnR>
                      <a:noFill/>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FFFFF">
                        <a:alpha val="100000"/>
                      </a:srgbClr>
                    </a:solidFill>
                  </a:tcPr>
                </a:tc>
                <a:tc>
                  <a:txBody>
                    <a:bodyPr/>
                    <a:lstStyle/>
                    <a:p>
                      <a:pPr indent="0" algn="ctr">
                        <a:lnSpc>
                          <a:spcPct val="100000"/>
                        </a:lnSpc>
                        <a:defRPr/>
                      </a:pPr>
                      <a:r>
                        <a:rPr lang="en-US" sz="1400" b="0" i="0" u="none" strike="noStrike">
                          <a:solidFill>
                            <a:srgbClr val="374151"/>
                          </a:solidFill>
                          <a:latin typeface="Noto Sans SC"/>
                          <a:ea typeface="Noto Sans SC"/>
                          <a:cs typeface="Noto Sans SC"/>
                          <a:sym typeface="Noto Sans SC"/>
                        </a:rPr>
                        <a:t>INTEGER</a:t>
                      </a:r>
                      <a:endParaRPr lang="en-US" sz="1100"/>
                    </a:p>
                  </a:txBody>
                  <a:tcPr marL="101600" marR="101600" marT="101600" marB="101600" anchor="ctr">
                    <a:lnL>
                      <a:noFill/>
                    </a:lnL>
                    <a:lnR>
                      <a:noFill/>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FFFFF">
                        <a:alpha val="100000"/>
                      </a:srgbClr>
                    </a:solidFill>
                  </a:tcPr>
                </a:tc>
                <a:tc>
                  <a:txBody>
                    <a:bodyPr/>
                    <a:lstStyle/>
                    <a:p>
                      <a:pPr indent="0" algn="ctr">
                        <a:lnSpc>
                          <a:spcPct val="100000"/>
                        </a:lnSpc>
                        <a:defRPr/>
                      </a:pPr>
                      <a:r>
                        <a:rPr lang="en-US" sz="1400" b="1" i="0" u="none" strike="noStrike">
                          <a:solidFill>
                            <a:srgbClr val="4A90E2"/>
                          </a:solidFill>
                          <a:latin typeface="Noto Sans SC"/>
                          <a:ea typeface="Noto Sans SC"/>
                          <a:cs typeface="Noto Sans SC"/>
                          <a:sym typeface="Noto Sans SC"/>
                        </a:rPr>
                        <a:t>FK</a:t>
                      </a:r>
                      <a:endParaRPr lang="en-US" sz="1100"/>
                    </a:p>
                  </a:txBody>
                  <a:tcPr marL="101600" marR="101600" marT="101600" marB="101600" anchor="ctr">
                    <a:lnL>
                      <a:noFill/>
                    </a:lnL>
                    <a:lnR>
                      <a:noFill/>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FFFFF">
                        <a:alpha val="100000"/>
                      </a:srgbClr>
                    </a:solidFill>
                  </a:tcPr>
                </a:tc>
                <a:tc>
                  <a:txBody>
                    <a:bodyPr/>
                    <a:lstStyle/>
                    <a:p>
                      <a:pPr indent="0" algn="ctr">
                        <a:lnSpc>
                          <a:spcPct val="100000"/>
                        </a:lnSpc>
                        <a:defRPr/>
                      </a:pPr>
                      <a:r>
                        <a:rPr lang="en-US" sz="1400" b="0" i="0" u="none" strike="noStrike">
                          <a:solidFill>
                            <a:srgbClr val="374151"/>
                          </a:solidFill>
                          <a:latin typeface="Noto Sans SC"/>
                          <a:ea typeface="Noto Sans SC"/>
                          <a:cs typeface="Noto Sans SC"/>
                          <a:sym typeface="Noto Sans SC"/>
                        </a:rPr>
                        <a:t>REFERENCES CONSULTATIONS(id)</a:t>
                      </a:r>
                      <a:endParaRPr lang="en-US" sz="1100"/>
                    </a:p>
                  </a:txBody>
                  <a:tcPr marL="101600" marR="101600" marT="101600" marB="101600" anchor="ctr">
                    <a:lnL>
                      <a:noFill/>
                    </a:lnL>
                    <a:lnR>
                      <a:noFill/>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FFFFF">
                        <a:alpha val="100000"/>
                      </a:srgbClr>
                    </a:solidFill>
                  </a:tcPr>
                </a:tc>
                <a:tc>
                  <a:txBody>
                    <a:bodyPr/>
                    <a:lstStyle/>
                    <a:p>
                      <a:pPr indent="0" algn="ctr">
                        <a:lnSpc>
                          <a:spcPct val="100000"/>
                        </a:lnSpc>
                        <a:defRPr/>
                      </a:pPr>
                      <a:r>
                        <a:rPr lang="en-US" sz="1400" b="0" i="0" u="none" strike="noStrike">
                          <a:solidFill>
                            <a:srgbClr val="374151"/>
                          </a:solidFill>
                          <a:latin typeface="Noto Sans SC"/>
                          <a:ea typeface="Noto Sans SC"/>
                          <a:cs typeface="Noto Sans SC"/>
                          <a:sym typeface="Noto Sans SC"/>
                        </a:rPr>
                        <a:t>就诊编号</a:t>
                      </a:r>
                      <a:endParaRPr lang="en-US" sz="1100"/>
                    </a:p>
                  </a:txBody>
                  <a:tcPr marL="101600" marR="101600" marT="101600" marB="101600" anchor="ctr">
                    <a:lnL>
                      <a:noFill/>
                    </a:lnL>
                    <a:lnR>
                      <a:noFill/>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FFFFF">
                        <a:alpha val="100000"/>
                      </a:srgbClr>
                    </a:solidFill>
                  </a:tcPr>
                </a:tc>
                <a:extLst>
                  <a:ext uri="{0D108BD9-81ED-4DB2-BD59-A6C34878D82A}">
                    <a16:rowId xmlns:a16="http://schemas.microsoft.com/office/drawing/2014/main" val="10002"/>
                  </a:ext>
                </a:extLst>
              </a:tr>
              <a:tr h="609600">
                <a:tc>
                  <a:txBody>
                    <a:bodyPr/>
                    <a:lstStyle/>
                    <a:p>
                      <a:pPr indent="0" algn="ctr">
                        <a:lnSpc>
                          <a:spcPct val="100000"/>
                        </a:lnSpc>
                        <a:defRPr/>
                      </a:pPr>
                      <a:r>
                        <a:rPr lang="en-US" sz="1400" b="0" i="0" u="none" strike="noStrike">
                          <a:solidFill>
                            <a:srgbClr val="374151"/>
                          </a:solidFill>
                          <a:latin typeface="Noto Sans SC"/>
                          <a:ea typeface="Noto Sans SC"/>
                          <a:cs typeface="Noto Sans SC"/>
                          <a:sym typeface="Noto Sans SC"/>
                        </a:rPr>
                        <a:t>total_amount</a:t>
                      </a:r>
                      <a:endParaRPr lang="en-US" sz="1100"/>
                    </a:p>
                  </a:txBody>
                  <a:tcPr marL="101600" marR="101600" marT="101600" marB="101600" anchor="ctr">
                    <a:lnL>
                      <a:noFill/>
                    </a:lnL>
                    <a:lnR>
                      <a:noFill/>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FFFFF">
                        <a:alpha val="100000"/>
                      </a:srgbClr>
                    </a:solidFill>
                  </a:tcPr>
                </a:tc>
                <a:tc>
                  <a:txBody>
                    <a:bodyPr/>
                    <a:lstStyle/>
                    <a:p>
                      <a:pPr indent="0" algn="ctr">
                        <a:lnSpc>
                          <a:spcPct val="100000"/>
                        </a:lnSpc>
                        <a:defRPr/>
                      </a:pPr>
                      <a:r>
                        <a:rPr lang="en-US" sz="1400" b="0" i="0" u="none" strike="noStrike">
                          <a:solidFill>
                            <a:srgbClr val="374151"/>
                          </a:solidFill>
                          <a:latin typeface="Noto Sans SC"/>
                          <a:ea typeface="Noto Sans SC"/>
                          <a:cs typeface="Noto Sans SC"/>
                          <a:sym typeface="Noto Sans SC"/>
                        </a:rPr>
                        <a:t>REAL</a:t>
                      </a:r>
                      <a:endParaRPr lang="en-US" sz="1100"/>
                    </a:p>
                  </a:txBody>
                  <a:tcPr marL="101600" marR="101600" marT="101600" marB="101600" anchor="ctr">
                    <a:lnL>
                      <a:noFill/>
                    </a:lnL>
                    <a:lnR>
                      <a:noFill/>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FFFFF">
                        <a:alpha val="100000"/>
                      </a:srgbClr>
                    </a:solidFill>
                  </a:tcPr>
                </a:tc>
                <a:tc>
                  <a:txBody>
                    <a:bodyPr/>
                    <a:lstStyle/>
                    <a:p>
                      <a:pPr indent="0" algn="ctr">
                        <a:lnSpc>
                          <a:spcPct val="100000"/>
                        </a:lnSpc>
                        <a:defRPr/>
                      </a:pPr>
                      <a:r>
                        <a:rPr lang="en-US" sz="1400" b="0" i="0" u="none" strike="noStrike">
                          <a:solidFill>
                            <a:srgbClr val="374151"/>
                          </a:solidFill>
                          <a:latin typeface="Noto Sans SC"/>
                          <a:ea typeface="Noto Sans SC"/>
                          <a:cs typeface="Noto Sans SC"/>
                          <a:sym typeface="Noto Sans SC"/>
                        </a:rPr>
                        <a:t>-</a:t>
                      </a:r>
                      <a:endParaRPr lang="en-US" sz="1100"/>
                    </a:p>
                  </a:txBody>
                  <a:tcPr marL="101600" marR="101600" marT="101600" marB="101600" anchor="ctr">
                    <a:lnL>
                      <a:noFill/>
                    </a:lnL>
                    <a:lnR>
                      <a:noFill/>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FFFFF">
                        <a:alpha val="100000"/>
                      </a:srgbClr>
                    </a:solidFill>
                  </a:tcPr>
                </a:tc>
                <a:tc>
                  <a:txBody>
                    <a:bodyPr/>
                    <a:lstStyle/>
                    <a:p>
                      <a:pPr indent="0" algn="ctr">
                        <a:lnSpc>
                          <a:spcPct val="100000"/>
                        </a:lnSpc>
                        <a:defRPr/>
                      </a:pPr>
                      <a:r>
                        <a:rPr lang="en-US" sz="1400" b="0" i="0" u="none" strike="noStrike">
                          <a:solidFill>
                            <a:srgbClr val="374151"/>
                          </a:solidFill>
                          <a:latin typeface="Noto Sans SC"/>
                          <a:ea typeface="Noto Sans SC"/>
                          <a:cs typeface="Noto Sans SC"/>
                          <a:sym typeface="Noto Sans SC"/>
                        </a:rPr>
                        <a:t>NOT NULL</a:t>
                      </a:r>
                      <a:endParaRPr lang="en-US" sz="1100"/>
                    </a:p>
                  </a:txBody>
                  <a:tcPr marL="101600" marR="101600" marT="101600" marB="101600" anchor="ctr">
                    <a:lnL>
                      <a:noFill/>
                    </a:lnL>
                    <a:lnR>
                      <a:noFill/>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FFFFF">
                        <a:alpha val="100000"/>
                      </a:srgbClr>
                    </a:solidFill>
                  </a:tcPr>
                </a:tc>
                <a:tc>
                  <a:txBody>
                    <a:bodyPr/>
                    <a:lstStyle/>
                    <a:p>
                      <a:pPr indent="0" algn="ctr">
                        <a:lnSpc>
                          <a:spcPct val="100000"/>
                        </a:lnSpc>
                        <a:defRPr/>
                      </a:pPr>
                      <a:r>
                        <a:rPr lang="en-US" sz="1400" b="0" i="0" u="none" strike="noStrike">
                          <a:solidFill>
                            <a:srgbClr val="374151"/>
                          </a:solidFill>
                          <a:latin typeface="Noto Sans SC"/>
                          <a:ea typeface="Noto Sans SC"/>
                          <a:cs typeface="Noto Sans SC"/>
                          <a:sym typeface="Noto Sans SC"/>
                        </a:rPr>
                        <a:t>总金额</a:t>
                      </a:r>
                      <a:endParaRPr lang="en-US" sz="1100"/>
                    </a:p>
                  </a:txBody>
                  <a:tcPr marL="101600" marR="101600" marT="101600" marB="101600" anchor="ctr">
                    <a:lnL>
                      <a:noFill/>
                    </a:lnL>
                    <a:lnR>
                      <a:noFill/>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FFFFF">
                        <a:alpha val="100000"/>
                      </a:srgbClr>
                    </a:solidFill>
                  </a:tcPr>
                </a:tc>
                <a:extLst>
                  <a:ext uri="{0D108BD9-81ED-4DB2-BD59-A6C34878D82A}">
                    <a16:rowId xmlns:a16="http://schemas.microsoft.com/office/drawing/2014/main" val="10003"/>
                  </a:ext>
                </a:extLst>
              </a:tr>
              <a:tr h="609600">
                <a:tc>
                  <a:txBody>
                    <a:bodyPr/>
                    <a:lstStyle/>
                    <a:p>
                      <a:pPr indent="0" algn="ctr">
                        <a:lnSpc>
                          <a:spcPct val="100000"/>
                        </a:lnSpc>
                        <a:defRPr/>
                      </a:pPr>
                      <a:r>
                        <a:rPr lang="en-US" sz="1400" b="0" i="0" u="none" strike="noStrike">
                          <a:solidFill>
                            <a:srgbClr val="374151"/>
                          </a:solidFill>
                          <a:latin typeface="Noto Sans SC"/>
                          <a:ea typeface="Noto Sans SC"/>
                          <a:cs typeface="Noto Sans SC"/>
                          <a:sym typeface="Noto Sans SC"/>
                        </a:rPr>
                        <a:t>insurance_amount</a:t>
                      </a:r>
                      <a:endParaRPr lang="en-US" sz="1100"/>
                    </a:p>
                  </a:txBody>
                  <a:tcPr marL="101600" marR="101600" marT="101600" marB="101600" anchor="ctr">
                    <a:lnL>
                      <a:noFill/>
                    </a:lnL>
                    <a:lnR>
                      <a:noFill/>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FFFFF">
                        <a:alpha val="100000"/>
                      </a:srgbClr>
                    </a:solidFill>
                  </a:tcPr>
                </a:tc>
                <a:tc>
                  <a:txBody>
                    <a:bodyPr/>
                    <a:lstStyle/>
                    <a:p>
                      <a:pPr indent="0" algn="ctr">
                        <a:lnSpc>
                          <a:spcPct val="100000"/>
                        </a:lnSpc>
                        <a:defRPr/>
                      </a:pPr>
                      <a:r>
                        <a:rPr lang="en-US" sz="1400" b="0" i="0" u="none" strike="noStrike">
                          <a:solidFill>
                            <a:srgbClr val="374151"/>
                          </a:solidFill>
                          <a:latin typeface="Noto Sans SC"/>
                          <a:ea typeface="Noto Sans SC"/>
                          <a:cs typeface="Noto Sans SC"/>
                          <a:sym typeface="Noto Sans SC"/>
                        </a:rPr>
                        <a:t>REAL</a:t>
                      </a:r>
                      <a:endParaRPr lang="en-US" sz="1100"/>
                    </a:p>
                  </a:txBody>
                  <a:tcPr marL="101600" marR="101600" marT="101600" marB="101600" anchor="ctr">
                    <a:lnL>
                      <a:noFill/>
                    </a:lnL>
                    <a:lnR>
                      <a:noFill/>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FFFFF">
                        <a:alpha val="100000"/>
                      </a:srgbClr>
                    </a:solidFill>
                  </a:tcPr>
                </a:tc>
                <a:tc>
                  <a:txBody>
                    <a:bodyPr/>
                    <a:lstStyle/>
                    <a:p>
                      <a:pPr indent="0" algn="ctr">
                        <a:lnSpc>
                          <a:spcPct val="100000"/>
                        </a:lnSpc>
                        <a:defRPr/>
                      </a:pPr>
                      <a:r>
                        <a:rPr lang="en-US" sz="1400" b="0" i="0" u="none" strike="noStrike">
                          <a:solidFill>
                            <a:srgbClr val="374151"/>
                          </a:solidFill>
                          <a:latin typeface="Noto Sans SC"/>
                          <a:ea typeface="Noto Sans SC"/>
                          <a:cs typeface="Noto Sans SC"/>
                          <a:sym typeface="Noto Sans SC"/>
                        </a:rPr>
                        <a:t>-</a:t>
                      </a:r>
                      <a:endParaRPr lang="en-US" sz="1100"/>
                    </a:p>
                  </a:txBody>
                  <a:tcPr marL="101600" marR="101600" marT="101600" marB="101600" anchor="ctr">
                    <a:lnL>
                      <a:noFill/>
                    </a:lnL>
                    <a:lnR>
                      <a:noFill/>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FFFFF">
                        <a:alpha val="100000"/>
                      </a:srgbClr>
                    </a:solidFill>
                  </a:tcPr>
                </a:tc>
                <a:tc>
                  <a:txBody>
                    <a:bodyPr/>
                    <a:lstStyle/>
                    <a:p>
                      <a:pPr indent="0" algn="ctr">
                        <a:lnSpc>
                          <a:spcPct val="100000"/>
                        </a:lnSpc>
                        <a:defRPr/>
                      </a:pPr>
                      <a:r>
                        <a:rPr lang="en-US" sz="1400" b="0" i="0" u="none" strike="noStrike">
                          <a:solidFill>
                            <a:srgbClr val="374151"/>
                          </a:solidFill>
                          <a:latin typeface="Noto Sans SC"/>
                          <a:ea typeface="Noto Sans SC"/>
                          <a:cs typeface="Noto Sans SC"/>
                          <a:sym typeface="Noto Sans SC"/>
                        </a:rPr>
                        <a:t>DEFAULT 0</a:t>
                      </a:r>
                      <a:endParaRPr lang="en-US" sz="1100"/>
                    </a:p>
                  </a:txBody>
                  <a:tcPr marL="101600" marR="101600" marT="101600" marB="101600" anchor="ctr">
                    <a:lnL>
                      <a:noFill/>
                    </a:lnL>
                    <a:lnR>
                      <a:noFill/>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FFFFF">
                        <a:alpha val="100000"/>
                      </a:srgbClr>
                    </a:solidFill>
                  </a:tcPr>
                </a:tc>
                <a:tc>
                  <a:txBody>
                    <a:bodyPr/>
                    <a:lstStyle/>
                    <a:p>
                      <a:pPr indent="0" algn="ctr">
                        <a:lnSpc>
                          <a:spcPct val="100000"/>
                        </a:lnSpc>
                        <a:defRPr/>
                      </a:pPr>
                      <a:r>
                        <a:rPr lang="en-US" sz="1400" b="0" i="0" u="none" strike="noStrike">
                          <a:solidFill>
                            <a:srgbClr val="374151"/>
                          </a:solidFill>
                          <a:latin typeface="Noto Sans SC"/>
                          <a:ea typeface="Noto Sans SC"/>
                          <a:cs typeface="Noto Sans SC"/>
                          <a:sym typeface="Noto Sans SC"/>
                        </a:rPr>
                        <a:t>医保金额</a:t>
                      </a:r>
                      <a:endParaRPr lang="en-US" sz="1100"/>
                    </a:p>
                  </a:txBody>
                  <a:tcPr marL="101600" marR="101600" marT="101600" marB="101600" anchor="ctr">
                    <a:lnL>
                      <a:noFill/>
                    </a:lnL>
                    <a:lnR>
                      <a:noFill/>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FFFFF">
                        <a:alpha val="100000"/>
                      </a:srgbClr>
                    </a:solidFill>
                  </a:tcPr>
                </a:tc>
                <a:extLst>
                  <a:ext uri="{0D108BD9-81ED-4DB2-BD59-A6C34878D82A}">
                    <a16:rowId xmlns:a16="http://schemas.microsoft.com/office/drawing/2014/main" val="10004"/>
                  </a:ext>
                </a:extLst>
              </a:tr>
              <a:tr h="609600">
                <a:tc>
                  <a:txBody>
                    <a:bodyPr/>
                    <a:lstStyle/>
                    <a:p>
                      <a:pPr indent="0" algn="ctr">
                        <a:lnSpc>
                          <a:spcPct val="100000"/>
                        </a:lnSpc>
                        <a:defRPr/>
                      </a:pPr>
                      <a:r>
                        <a:rPr lang="en-US" sz="1400" b="0" i="0" u="none" strike="noStrike">
                          <a:solidFill>
                            <a:srgbClr val="374151"/>
                          </a:solidFill>
                          <a:latin typeface="Noto Sans SC"/>
                          <a:ea typeface="Noto Sans SC"/>
                          <a:cs typeface="Noto Sans SC"/>
                          <a:sym typeface="Noto Sans SC"/>
                        </a:rPr>
                        <a:t>self_pay_amount</a:t>
                      </a:r>
                      <a:endParaRPr lang="en-US" sz="1100"/>
                    </a:p>
                  </a:txBody>
                  <a:tcPr marL="101600" marR="101600" marT="101600" marB="101600" anchor="ctr">
                    <a:lnL>
                      <a:noFill/>
                    </a:lnL>
                    <a:lnR>
                      <a:noFill/>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FFFFF">
                        <a:alpha val="100000"/>
                      </a:srgbClr>
                    </a:solidFill>
                  </a:tcPr>
                </a:tc>
                <a:tc>
                  <a:txBody>
                    <a:bodyPr/>
                    <a:lstStyle/>
                    <a:p>
                      <a:pPr indent="0" algn="ctr">
                        <a:lnSpc>
                          <a:spcPct val="100000"/>
                        </a:lnSpc>
                        <a:defRPr/>
                      </a:pPr>
                      <a:r>
                        <a:rPr lang="en-US" sz="1400" b="0" i="0" u="none" strike="noStrike">
                          <a:solidFill>
                            <a:srgbClr val="374151"/>
                          </a:solidFill>
                          <a:latin typeface="Noto Sans SC"/>
                          <a:ea typeface="Noto Sans SC"/>
                          <a:cs typeface="Noto Sans SC"/>
                          <a:sym typeface="Noto Sans SC"/>
                        </a:rPr>
                        <a:t>REAL</a:t>
                      </a:r>
                      <a:endParaRPr lang="en-US" sz="1100"/>
                    </a:p>
                  </a:txBody>
                  <a:tcPr marL="101600" marR="101600" marT="101600" marB="101600" anchor="ctr">
                    <a:lnL>
                      <a:noFill/>
                    </a:lnL>
                    <a:lnR>
                      <a:noFill/>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FFFFF">
                        <a:alpha val="100000"/>
                      </a:srgbClr>
                    </a:solidFill>
                  </a:tcPr>
                </a:tc>
                <a:tc>
                  <a:txBody>
                    <a:bodyPr/>
                    <a:lstStyle/>
                    <a:p>
                      <a:pPr indent="0" algn="ctr">
                        <a:lnSpc>
                          <a:spcPct val="100000"/>
                        </a:lnSpc>
                        <a:defRPr/>
                      </a:pPr>
                      <a:r>
                        <a:rPr lang="en-US" sz="1400" b="0" i="0" u="none" strike="noStrike">
                          <a:solidFill>
                            <a:srgbClr val="374151"/>
                          </a:solidFill>
                          <a:latin typeface="Noto Sans SC"/>
                          <a:ea typeface="Noto Sans SC"/>
                          <a:cs typeface="Noto Sans SC"/>
                          <a:sym typeface="Noto Sans SC"/>
                        </a:rPr>
                        <a:t>-</a:t>
                      </a:r>
                      <a:endParaRPr lang="en-US" sz="1100"/>
                    </a:p>
                  </a:txBody>
                  <a:tcPr marL="101600" marR="101600" marT="101600" marB="101600" anchor="ctr">
                    <a:lnL>
                      <a:noFill/>
                    </a:lnL>
                    <a:lnR>
                      <a:noFill/>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FFFFF">
                        <a:alpha val="100000"/>
                      </a:srgbClr>
                    </a:solidFill>
                  </a:tcPr>
                </a:tc>
                <a:tc>
                  <a:txBody>
                    <a:bodyPr/>
                    <a:lstStyle/>
                    <a:p>
                      <a:pPr indent="0" algn="ctr">
                        <a:lnSpc>
                          <a:spcPct val="100000"/>
                        </a:lnSpc>
                        <a:defRPr/>
                      </a:pPr>
                      <a:r>
                        <a:rPr lang="en-US" sz="1400" b="0" i="0" u="none" strike="noStrike">
                          <a:solidFill>
                            <a:srgbClr val="374151"/>
                          </a:solidFill>
                          <a:latin typeface="Noto Sans SC"/>
                          <a:ea typeface="Noto Sans SC"/>
                          <a:cs typeface="Noto Sans SC"/>
                          <a:sym typeface="Noto Sans SC"/>
                        </a:rPr>
                        <a:t>NOT NULL</a:t>
                      </a:r>
                      <a:endParaRPr lang="en-US" sz="1100"/>
                    </a:p>
                  </a:txBody>
                  <a:tcPr marL="101600" marR="101600" marT="101600" marB="101600" anchor="ctr">
                    <a:lnL>
                      <a:noFill/>
                    </a:lnL>
                    <a:lnR>
                      <a:noFill/>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FFFFF">
                        <a:alpha val="100000"/>
                      </a:srgbClr>
                    </a:solidFill>
                  </a:tcPr>
                </a:tc>
                <a:tc>
                  <a:txBody>
                    <a:bodyPr/>
                    <a:lstStyle/>
                    <a:p>
                      <a:pPr indent="0" algn="ctr">
                        <a:lnSpc>
                          <a:spcPct val="100000"/>
                        </a:lnSpc>
                        <a:defRPr/>
                      </a:pPr>
                      <a:r>
                        <a:rPr lang="en-US" sz="1400" b="0" i="0" u="none" strike="noStrike">
                          <a:solidFill>
                            <a:srgbClr val="374151"/>
                          </a:solidFill>
                          <a:latin typeface="Noto Sans SC"/>
                          <a:ea typeface="Noto Sans SC"/>
                          <a:cs typeface="Noto Sans SC"/>
                          <a:sym typeface="Noto Sans SC"/>
                        </a:rPr>
                        <a:t>自费金额</a:t>
                      </a:r>
                      <a:endParaRPr lang="en-US" sz="1100"/>
                    </a:p>
                  </a:txBody>
                  <a:tcPr marL="101600" marR="101600" marT="101600" marB="101600" anchor="ctr">
                    <a:lnL>
                      <a:noFill/>
                    </a:lnL>
                    <a:lnR>
                      <a:noFill/>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FFFFF">
                        <a:alpha val="100000"/>
                      </a:srgbClr>
                    </a:solidFill>
                  </a:tcPr>
                </a:tc>
                <a:extLst>
                  <a:ext uri="{0D108BD9-81ED-4DB2-BD59-A6C34878D82A}">
                    <a16:rowId xmlns:a16="http://schemas.microsoft.com/office/drawing/2014/main" val="10005"/>
                  </a:ext>
                </a:extLst>
              </a:tr>
              <a:tr h="609600">
                <a:tc>
                  <a:txBody>
                    <a:bodyPr/>
                    <a:lstStyle/>
                    <a:p>
                      <a:pPr indent="0" algn="ctr">
                        <a:lnSpc>
                          <a:spcPct val="100000"/>
                        </a:lnSpc>
                        <a:defRPr/>
                      </a:pPr>
                      <a:r>
                        <a:rPr lang="en-US" sz="1400" b="0" i="0" u="none" strike="noStrike">
                          <a:solidFill>
                            <a:srgbClr val="374151"/>
                          </a:solidFill>
                          <a:latin typeface="Noto Sans SC"/>
                          <a:ea typeface="Noto Sans SC"/>
                          <a:cs typeface="Noto Sans SC"/>
                          <a:sym typeface="Noto Sans SC"/>
                        </a:rPr>
                        <a:t>payment_time</a:t>
                      </a:r>
                      <a:endParaRPr lang="en-US" sz="1100"/>
                    </a:p>
                  </a:txBody>
                  <a:tcPr marL="101600" marR="101600" marT="101600" marB="101600" anchor="ctr">
                    <a:lnL>
                      <a:noFill/>
                    </a:lnL>
                    <a:lnR>
                      <a:noFill/>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FFFFF">
                        <a:alpha val="100000"/>
                      </a:srgbClr>
                    </a:solidFill>
                  </a:tcPr>
                </a:tc>
                <a:tc>
                  <a:txBody>
                    <a:bodyPr/>
                    <a:lstStyle/>
                    <a:p>
                      <a:pPr indent="0" algn="ctr">
                        <a:lnSpc>
                          <a:spcPct val="100000"/>
                        </a:lnSpc>
                        <a:defRPr/>
                      </a:pPr>
                      <a:r>
                        <a:rPr lang="en-US" sz="1400" b="0" i="0" u="none" strike="noStrike">
                          <a:solidFill>
                            <a:srgbClr val="374151"/>
                          </a:solidFill>
                          <a:latin typeface="Noto Sans SC"/>
                          <a:ea typeface="Noto Sans SC"/>
                          <a:cs typeface="Noto Sans SC"/>
                          <a:sym typeface="Noto Sans SC"/>
                        </a:rPr>
                        <a:t>DATETIME</a:t>
                      </a:r>
                      <a:endParaRPr lang="en-US" sz="1100"/>
                    </a:p>
                  </a:txBody>
                  <a:tcPr marL="101600" marR="101600" marT="101600" marB="101600" anchor="ctr">
                    <a:lnL>
                      <a:noFill/>
                    </a:lnL>
                    <a:lnR>
                      <a:noFill/>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FFFFF">
                        <a:alpha val="100000"/>
                      </a:srgbClr>
                    </a:solidFill>
                  </a:tcPr>
                </a:tc>
                <a:tc>
                  <a:txBody>
                    <a:bodyPr/>
                    <a:lstStyle/>
                    <a:p>
                      <a:pPr indent="0" algn="ctr">
                        <a:lnSpc>
                          <a:spcPct val="100000"/>
                        </a:lnSpc>
                        <a:defRPr/>
                      </a:pPr>
                      <a:r>
                        <a:rPr lang="en-US" sz="1400" b="0" i="0" u="none" strike="noStrike">
                          <a:solidFill>
                            <a:srgbClr val="374151"/>
                          </a:solidFill>
                          <a:latin typeface="Noto Sans SC"/>
                          <a:ea typeface="Noto Sans SC"/>
                          <a:cs typeface="Noto Sans SC"/>
                          <a:sym typeface="Noto Sans SC"/>
                        </a:rPr>
                        <a:t>-</a:t>
                      </a:r>
                      <a:endParaRPr lang="en-US" sz="1100"/>
                    </a:p>
                  </a:txBody>
                  <a:tcPr marL="101600" marR="101600" marT="101600" marB="101600" anchor="ctr">
                    <a:lnL>
                      <a:noFill/>
                    </a:lnL>
                    <a:lnR>
                      <a:noFill/>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FFFFF">
                        <a:alpha val="100000"/>
                      </a:srgbClr>
                    </a:solidFill>
                  </a:tcPr>
                </a:tc>
                <a:tc>
                  <a:txBody>
                    <a:bodyPr/>
                    <a:lstStyle/>
                    <a:p>
                      <a:pPr indent="0" algn="ctr">
                        <a:lnSpc>
                          <a:spcPct val="100000"/>
                        </a:lnSpc>
                        <a:defRPr/>
                      </a:pPr>
                      <a:r>
                        <a:rPr lang="en-US" sz="1400" b="0" i="0" u="none" strike="noStrike">
                          <a:solidFill>
                            <a:srgbClr val="374151"/>
                          </a:solidFill>
                          <a:latin typeface="Noto Sans SC"/>
                          <a:ea typeface="Noto Sans SC"/>
                          <a:cs typeface="Noto Sans SC"/>
                          <a:sym typeface="Noto Sans SC"/>
                        </a:rPr>
                        <a:t>DEFAULT CURRENT_TIMESTAMP</a:t>
                      </a:r>
                      <a:endParaRPr lang="en-US" sz="1100"/>
                    </a:p>
                  </a:txBody>
                  <a:tcPr marL="101600" marR="101600" marT="101600" marB="101600" anchor="ctr">
                    <a:lnL>
                      <a:noFill/>
                    </a:lnL>
                    <a:lnR>
                      <a:noFill/>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FFFFF">
                        <a:alpha val="100000"/>
                      </a:srgbClr>
                    </a:solidFill>
                  </a:tcPr>
                </a:tc>
                <a:tc>
                  <a:txBody>
                    <a:bodyPr/>
                    <a:lstStyle/>
                    <a:p>
                      <a:pPr indent="0" algn="ctr">
                        <a:lnSpc>
                          <a:spcPct val="100000"/>
                        </a:lnSpc>
                        <a:defRPr/>
                      </a:pPr>
                      <a:r>
                        <a:rPr lang="en-US" sz="1400" b="0" i="0" u="none" strike="noStrike">
                          <a:solidFill>
                            <a:srgbClr val="374151"/>
                          </a:solidFill>
                          <a:latin typeface="Noto Sans SC"/>
                          <a:ea typeface="Noto Sans SC"/>
                          <a:cs typeface="Noto Sans SC"/>
                          <a:sym typeface="Noto Sans SC"/>
                        </a:rPr>
                        <a:t>付款时间</a:t>
                      </a:r>
                      <a:endParaRPr lang="en-US" sz="1100"/>
                    </a:p>
                  </a:txBody>
                  <a:tcPr marL="101600" marR="101600" marT="101600" marB="101600" anchor="ctr">
                    <a:lnL>
                      <a:noFill/>
                    </a:lnL>
                    <a:lnR>
                      <a:noFill/>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FFFFF">
                        <a:alpha val="100000"/>
                      </a:srgbClr>
                    </a:solid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5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508000"/>
            <a:ext cx="7620000" cy="558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600" b="1" i="0" u="none" strike="noStrike">
                <a:solidFill>
                  <a:srgbClr val="003366"/>
                </a:solidFill>
                <a:latin typeface="Noto Sans SC"/>
                <a:ea typeface="Noto Sans SC"/>
                <a:cs typeface="Noto Sans SC"/>
                <a:sym typeface="Noto Sans SC"/>
              </a:rPr>
              <a:t>功能实现 - 技术栈</a:t>
            </a:r>
            <a:endParaRPr lang="en-US" sz="1100"/>
          </a:p>
        </p:txBody>
      </p:sp>
      <p:cxnSp>
        <p:nvCxnSpPr>
          <p:cNvPr id="3" name="Connector 3"/>
          <p:cNvCxnSpPr/>
          <p:nvPr/>
        </p:nvCxnSpPr>
        <p:spPr>
          <a:xfrm rot="-4092">
            <a:off x="762004" y="1263650"/>
            <a:ext cx="10668000" cy="12700"/>
          </a:xfrm>
          <a:prstGeom prst="straightConnector1">
            <a:avLst/>
          </a:prstGeom>
          <a:solidFill>
            <a:srgbClr val="DEE0E3">
              <a:alpha val="100000"/>
            </a:srgbClr>
          </a:solidFill>
          <a:ln w="12700" cap="flat" cmpd="sng">
            <a:solidFill>
              <a:srgbClr val="E5E7EB">
                <a:alpha val="100000"/>
              </a:srgbClr>
            </a:solidFill>
            <a:prstDash val="solid"/>
            <a:round/>
            <a:headEnd type="none" w="med" len="med"/>
            <a:tailEnd type="none" w="med" len="med"/>
          </a:ln>
        </p:spPr>
      </p:cxnSp>
      <p:sp>
        <p:nvSpPr>
          <p:cNvPr id="4" name="AutoShape 4"/>
          <p:cNvSpPr/>
          <p:nvPr/>
        </p:nvSpPr>
        <p:spPr>
          <a:xfrm>
            <a:off x="762000" y="1778000"/>
            <a:ext cx="3302000" cy="3048000"/>
          </a:xfrm>
          <a:prstGeom prst="roundRect">
            <a:avLst>
              <a:gd name="adj" fmla="val 3333"/>
            </a:avLst>
          </a:prstGeom>
          <a:solidFill>
            <a:srgbClr val="FFFFFF">
              <a:alpha val="100000"/>
            </a:srgbClr>
          </a:solidFill>
          <a:ln w="12700" cap="flat" cmpd="sng">
            <a:solidFill>
              <a:srgbClr val="E5E7EB">
                <a:alpha val="100000"/>
              </a:srgbClr>
            </a:solidFill>
            <a:prstDash val="solid"/>
            <a:round/>
          </a:ln>
          <a:effectLst>
            <a:outerShdw blurRad="127000" dir="5400000" algn="tl" rotWithShape="0">
              <a:srgbClr val="000000">
                <a:alpha val="5000"/>
              </a:srgbClr>
            </a:outerShdw>
          </a:effectLst>
        </p:spPr>
        <p:txBody>
          <a:bodyPr vert="horz" wrap="square" lIns="63500" tIns="63500" rIns="63500" bIns="63500" rtlCol="0" anchor="ctr"/>
          <a:lstStyle/>
          <a:p>
            <a:pPr algn="ctr">
              <a:defRPr/>
            </a:pPr>
            <a:endParaRPr/>
          </a:p>
        </p:txBody>
      </p:sp>
      <p:pic>
        <p:nvPicPr>
          <p:cNvPr id="5" name="Picture 5"/>
          <p:cNvPicPr>
            <a:picLocks noChangeAspect="1"/>
          </p:cNvPicPr>
          <p:nvPr/>
        </p:nvPicPr>
        <p:blipFill>
          <a:blip r:embed="rId3"/>
          <a:srcRect l="16219" r="16219"/>
          <a:stretch>
            <a:fillRect/>
          </a:stretch>
        </p:blipFill>
        <p:spPr>
          <a:xfrm>
            <a:off x="1397000" y="2159000"/>
            <a:ext cx="2032000" cy="508000"/>
          </a:xfrm>
          <a:prstGeom prst="rect">
            <a:avLst/>
          </a:prstGeom>
          <a:noFill/>
          <a:ln w="25400" cap="flat" cmpd="sng">
            <a:noFill/>
            <a:prstDash val="solid"/>
            <a:round/>
          </a:ln>
        </p:spPr>
      </p:pic>
      <p:sp>
        <p:nvSpPr>
          <p:cNvPr id="6" name="AutoShape 6"/>
          <p:cNvSpPr/>
          <p:nvPr/>
        </p:nvSpPr>
        <p:spPr>
          <a:xfrm>
            <a:off x="1016000" y="3048000"/>
            <a:ext cx="2794000" cy="3048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800" b="1" i="0" u="none" strike="noStrike">
                <a:solidFill>
                  <a:srgbClr val="003366"/>
                </a:solidFill>
                <a:latin typeface="Noto Sans SC"/>
                <a:ea typeface="Noto Sans SC"/>
                <a:cs typeface="Noto Sans SC"/>
                <a:sym typeface="Noto Sans SC"/>
              </a:rPr>
              <a:t>前端</a:t>
            </a:r>
            <a:endParaRPr lang="en-US" sz="1100"/>
          </a:p>
        </p:txBody>
      </p:sp>
      <p:sp>
        <p:nvSpPr>
          <p:cNvPr id="7" name="AutoShape 7"/>
          <p:cNvSpPr/>
          <p:nvPr/>
        </p:nvSpPr>
        <p:spPr>
          <a:xfrm>
            <a:off x="1016000" y="3479800"/>
            <a:ext cx="2794000" cy="254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400" b="0" i="0" u="none" strike="noStrike">
                <a:solidFill>
                  <a:srgbClr val="6B7280"/>
                </a:solidFill>
                <a:latin typeface="Noto Sans SC"/>
                <a:ea typeface="Noto Sans SC"/>
                <a:cs typeface="Noto Sans SC"/>
                <a:sym typeface="Noto Sans SC"/>
              </a:rPr>
              <a:t>Python Streamlit</a:t>
            </a:r>
            <a:endParaRPr lang="en-US" sz="1100"/>
          </a:p>
        </p:txBody>
      </p:sp>
      <p:sp>
        <p:nvSpPr>
          <p:cNvPr id="8" name="AutoShape 8"/>
          <p:cNvSpPr/>
          <p:nvPr/>
        </p:nvSpPr>
        <p:spPr>
          <a:xfrm>
            <a:off x="4445000" y="1778000"/>
            <a:ext cx="3302000" cy="3048000"/>
          </a:xfrm>
          <a:prstGeom prst="roundRect">
            <a:avLst>
              <a:gd name="adj" fmla="val 3333"/>
            </a:avLst>
          </a:prstGeom>
          <a:solidFill>
            <a:srgbClr val="FFFFFF">
              <a:alpha val="100000"/>
            </a:srgbClr>
          </a:solidFill>
          <a:ln w="12700" cap="flat" cmpd="sng">
            <a:solidFill>
              <a:srgbClr val="E5E7EB">
                <a:alpha val="100000"/>
              </a:srgbClr>
            </a:solidFill>
            <a:prstDash val="solid"/>
            <a:round/>
          </a:ln>
          <a:effectLst>
            <a:outerShdw blurRad="127000" dir="5400000" algn="tl" rotWithShape="0">
              <a:srgbClr val="000000">
                <a:alpha val="5000"/>
              </a:srgbClr>
            </a:outerShdw>
          </a:effectLst>
        </p:spPr>
        <p:txBody>
          <a:bodyPr vert="horz" wrap="square" lIns="63500" tIns="63500" rIns="63500" bIns="63500" rtlCol="0" anchor="ctr"/>
          <a:lstStyle/>
          <a:p>
            <a:pPr algn="ctr">
              <a:defRPr/>
            </a:pPr>
            <a:endParaRPr/>
          </a:p>
        </p:txBody>
      </p:sp>
      <p:pic>
        <p:nvPicPr>
          <p:cNvPr id="9" name="Picture 9"/>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689600" y="2159000"/>
            <a:ext cx="812800" cy="812800"/>
          </a:xfrm>
          <a:prstGeom prst="rect">
            <a:avLst/>
          </a:prstGeom>
        </p:spPr>
      </p:pic>
      <p:sp>
        <p:nvSpPr>
          <p:cNvPr id="10" name="AutoShape 10"/>
          <p:cNvSpPr/>
          <p:nvPr/>
        </p:nvSpPr>
        <p:spPr>
          <a:xfrm>
            <a:off x="4699000" y="3048000"/>
            <a:ext cx="2794000" cy="3048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800" b="1" i="0" u="none" strike="noStrike">
                <a:solidFill>
                  <a:srgbClr val="003366"/>
                </a:solidFill>
                <a:latin typeface="Noto Sans SC"/>
                <a:ea typeface="Noto Sans SC"/>
                <a:cs typeface="Noto Sans SC"/>
                <a:sym typeface="Noto Sans SC"/>
              </a:rPr>
              <a:t>后端</a:t>
            </a:r>
            <a:endParaRPr lang="en-US" sz="1100"/>
          </a:p>
        </p:txBody>
      </p:sp>
      <p:sp>
        <p:nvSpPr>
          <p:cNvPr id="11" name="AutoShape 11"/>
          <p:cNvSpPr/>
          <p:nvPr/>
        </p:nvSpPr>
        <p:spPr>
          <a:xfrm>
            <a:off x="4699000" y="3479800"/>
            <a:ext cx="2794000" cy="254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400" b="0" i="0" u="none" strike="noStrike">
                <a:solidFill>
                  <a:srgbClr val="6B7280"/>
                </a:solidFill>
                <a:latin typeface="Noto Sans SC"/>
                <a:ea typeface="Noto Sans SC"/>
                <a:cs typeface="Noto Sans SC"/>
                <a:sym typeface="Noto Sans SC"/>
              </a:rPr>
              <a:t>Python</a:t>
            </a:r>
            <a:endParaRPr lang="en-US" sz="1100"/>
          </a:p>
        </p:txBody>
      </p:sp>
      <p:sp>
        <p:nvSpPr>
          <p:cNvPr id="12" name="AutoShape 12"/>
          <p:cNvSpPr/>
          <p:nvPr/>
        </p:nvSpPr>
        <p:spPr>
          <a:xfrm>
            <a:off x="8128000" y="1778000"/>
            <a:ext cx="3302000" cy="3048000"/>
          </a:xfrm>
          <a:prstGeom prst="roundRect">
            <a:avLst>
              <a:gd name="adj" fmla="val 3333"/>
            </a:avLst>
          </a:prstGeom>
          <a:solidFill>
            <a:srgbClr val="FFFFFF">
              <a:alpha val="100000"/>
            </a:srgbClr>
          </a:solidFill>
          <a:ln w="12700" cap="flat" cmpd="sng">
            <a:solidFill>
              <a:srgbClr val="E5E7EB">
                <a:alpha val="100000"/>
              </a:srgbClr>
            </a:solidFill>
            <a:prstDash val="solid"/>
            <a:round/>
          </a:ln>
          <a:effectLst>
            <a:outerShdw blurRad="127000" dir="5400000" algn="tl" rotWithShape="0">
              <a:srgbClr val="000000">
                <a:alpha val="5000"/>
              </a:srgbClr>
            </a:outerShdw>
          </a:effectLst>
        </p:spPr>
        <p:txBody>
          <a:bodyPr vert="horz" wrap="square" lIns="63500" tIns="63500" rIns="63500" bIns="63500" rtlCol="0" anchor="ctr"/>
          <a:lstStyle/>
          <a:p>
            <a:pPr algn="ctr">
              <a:defRPr/>
            </a:pPr>
            <a:endParaRPr/>
          </a:p>
        </p:txBody>
      </p:sp>
      <p:pic>
        <p:nvPicPr>
          <p:cNvPr id="13" name="Picture 13"/>
          <p:cNvPicPr>
            <a:picLocks noChangeAspect="1"/>
          </p:cNvPicPr>
          <p:nvPr/>
        </p:nvPicPr>
        <p:blipFill>
          <a:blip r:embed="rId6"/>
          <a:srcRect/>
          <a:stretch>
            <a:fillRect/>
          </a:stretch>
        </p:blipFill>
        <p:spPr>
          <a:xfrm>
            <a:off x="9271000" y="2184400"/>
            <a:ext cx="1016000" cy="762000"/>
          </a:xfrm>
          <a:prstGeom prst="rect">
            <a:avLst/>
          </a:prstGeom>
          <a:noFill/>
          <a:ln w="25400" cap="flat" cmpd="sng">
            <a:noFill/>
            <a:prstDash val="solid"/>
            <a:round/>
          </a:ln>
        </p:spPr>
      </p:pic>
      <p:sp>
        <p:nvSpPr>
          <p:cNvPr id="14" name="AutoShape 14"/>
          <p:cNvSpPr/>
          <p:nvPr/>
        </p:nvSpPr>
        <p:spPr>
          <a:xfrm>
            <a:off x="8382000" y="3048000"/>
            <a:ext cx="2794000" cy="3048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800" b="1" i="0" u="none" strike="noStrike">
                <a:solidFill>
                  <a:srgbClr val="003366"/>
                </a:solidFill>
                <a:latin typeface="Noto Sans SC"/>
                <a:ea typeface="Noto Sans SC"/>
                <a:cs typeface="Noto Sans SC"/>
                <a:sym typeface="Noto Sans SC"/>
              </a:rPr>
              <a:t>数据库</a:t>
            </a:r>
            <a:endParaRPr lang="en-US" sz="1100"/>
          </a:p>
        </p:txBody>
      </p:sp>
      <p:sp>
        <p:nvSpPr>
          <p:cNvPr id="15" name="AutoShape 15"/>
          <p:cNvSpPr/>
          <p:nvPr/>
        </p:nvSpPr>
        <p:spPr>
          <a:xfrm>
            <a:off x="8382000" y="3479800"/>
            <a:ext cx="2794000" cy="254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400" b="0" i="0" u="none" strike="noStrike">
                <a:solidFill>
                  <a:srgbClr val="6B7280"/>
                </a:solidFill>
                <a:latin typeface="Noto Sans SC"/>
                <a:ea typeface="Noto Sans SC"/>
                <a:cs typeface="Noto Sans SC"/>
                <a:sym typeface="Noto Sans SC"/>
              </a:rPr>
              <a:t>SQLite</a:t>
            </a:r>
            <a:endParaRPr lang="en-US" sz="1100"/>
          </a:p>
        </p:txBody>
      </p:sp>
      <p:sp>
        <p:nvSpPr>
          <p:cNvPr id="16" name="AutoShape 16"/>
          <p:cNvSpPr/>
          <p:nvPr/>
        </p:nvSpPr>
        <p:spPr>
          <a:xfrm>
            <a:off x="762000" y="5207000"/>
            <a:ext cx="10668000" cy="558800"/>
          </a:xfrm>
          <a:prstGeom prst="rect">
            <a:avLst/>
          </a:prstGeom>
          <a:noFill/>
          <a:ln w="12700" cap="flat" cmpd="sng">
            <a:noFill/>
            <a:prstDash val="solid"/>
            <a:round/>
          </a:ln>
        </p:spPr>
        <p:txBody>
          <a:bodyPr vert="horz" wrap="square" lIns="0" tIns="0" rIns="0" bIns="0" rtlCol="0" anchor="t" anchorCtr="0"/>
          <a:lstStyle/>
          <a:p>
            <a:pPr indent="0" algn="ctr">
              <a:lnSpc>
                <a:spcPct val="125000"/>
              </a:lnSpc>
              <a:defRPr/>
            </a:pPr>
            <a:r>
              <a:rPr lang="en-US" sz="1400" b="0" i="0" u="none" strike="noStrike">
                <a:solidFill>
                  <a:srgbClr val="6B7280"/>
                </a:solidFill>
                <a:latin typeface="Noto Sans SC"/>
                <a:ea typeface="Noto Sans SC"/>
                <a:cs typeface="Noto Sans SC"/>
                <a:sym typeface="Noto Sans SC"/>
              </a:rPr>
              <a:t>轻量级、高效的技术组合，实现快速开发与便捷部署。</a:t>
            </a:r>
            <a:endParaRPr lang="en-US" sz="110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5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508000"/>
            <a:ext cx="7620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600" b="1" i="0" u="none" strike="noStrike">
                <a:solidFill>
                  <a:srgbClr val="003366"/>
                </a:solidFill>
                <a:latin typeface="Noto Sans SC"/>
                <a:ea typeface="Noto Sans SC"/>
                <a:cs typeface="Noto Sans SC"/>
                <a:sym typeface="Noto Sans SC"/>
              </a:rPr>
              <a:t>功能实现 - 患者端功能</a:t>
            </a:r>
            <a:endParaRPr lang="en-US" sz="1100"/>
          </a:p>
        </p:txBody>
      </p:sp>
      <p:cxnSp>
        <p:nvCxnSpPr>
          <p:cNvPr id="3" name="Connector 3"/>
          <p:cNvCxnSpPr/>
          <p:nvPr/>
        </p:nvCxnSpPr>
        <p:spPr>
          <a:xfrm rot="-4092">
            <a:off x="762004" y="1212850"/>
            <a:ext cx="10668000" cy="12700"/>
          </a:xfrm>
          <a:prstGeom prst="straightConnector1">
            <a:avLst/>
          </a:prstGeom>
          <a:solidFill>
            <a:srgbClr val="DEE0E3">
              <a:alpha val="100000"/>
            </a:srgbClr>
          </a:solidFill>
          <a:ln w="12700" cap="flat" cmpd="sng">
            <a:solidFill>
              <a:srgbClr val="E5E7EB">
                <a:alpha val="100000"/>
              </a:srgbClr>
            </a:solidFill>
            <a:prstDash val="solid"/>
            <a:round/>
            <a:headEnd type="none" w="med" len="med"/>
            <a:tailEnd type="none" w="med" len="med"/>
          </a:ln>
        </p:spPr>
      </p:cxnSp>
      <p:pic>
        <p:nvPicPr>
          <p:cNvPr id="4" name="Picture 4"/>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62000" y="1778000"/>
            <a:ext cx="406400" cy="406400"/>
          </a:xfrm>
          <a:prstGeom prst="rect">
            <a:avLst/>
          </a:prstGeom>
        </p:spPr>
      </p:pic>
      <p:sp>
        <p:nvSpPr>
          <p:cNvPr id="5" name="AutoShape 5"/>
          <p:cNvSpPr/>
          <p:nvPr/>
        </p:nvSpPr>
        <p:spPr>
          <a:xfrm>
            <a:off x="1371600" y="1803400"/>
            <a:ext cx="4826000" cy="355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03366"/>
                </a:solidFill>
                <a:latin typeface="Noto Sans SC"/>
                <a:ea typeface="Noto Sans SC"/>
                <a:cs typeface="Noto Sans SC"/>
                <a:sym typeface="Noto Sans SC"/>
              </a:rPr>
              <a:t>预约挂号</a:t>
            </a:r>
            <a:endParaRPr lang="en-US" sz="1100"/>
          </a:p>
        </p:txBody>
      </p:sp>
      <p:sp>
        <p:nvSpPr>
          <p:cNvPr id="6" name="AutoShape 6"/>
          <p:cNvSpPr/>
          <p:nvPr/>
        </p:nvSpPr>
        <p:spPr>
          <a:xfrm>
            <a:off x="1371600" y="2286000"/>
            <a:ext cx="4826000" cy="8382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1400" b="0" i="0" u="none" strike="noStrike">
                <a:solidFill>
                  <a:srgbClr val="6B7280"/>
                </a:solidFill>
                <a:latin typeface="Noto Sans SC"/>
                <a:ea typeface="Noto Sans SC"/>
                <a:cs typeface="Noto Sans SC"/>
                <a:sym typeface="Noto Sans SC"/>
              </a:rPr>
              <a:t>患者可以通过简洁的界面，输入姓名、联系电话，选择就诊科室和预计到达时间，完成预约。</a:t>
            </a:r>
            <a:endParaRPr lang="en-US" sz="1100"/>
          </a:p>
        </p:txBody>
      </p:sp>
      <p:pic>
        <p:nvPicPr>
          <p:cNvPr id="7" name="Picture 7"/>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762000" y="3556000"/>
            <a:ext cx="406400" cy="406400"/>
          </a:xfrm>
          <a:prstGeom prst="rect">
            <a:avLst/>
          </a:prstGeom>
        </p:spPr>
      </p:pic>
      <p:sp>
        <p:nvSpPr>
          <p:cNvPr id="8" name="AutoShape 8"/>
          <p:cNvSpPr/>
          <p:nvPr/>
        </p:nvSpPr>
        <p:spPr>
          <a:xfrm>
            <a:off x="1371600" y="3581400"/>
            <a:ext cx="4826000" cy="355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03366"/>
                </a:solidFill>
                <a:latin typeface="Noto Sans SC"/>
                <a:ea typeface="Noto Sans SC"/>
                <a:cs typeface="Noto Sans SC"/>
                <a:sym typeface="Noto Sans SC"/>
              </a:rPr>
              <a:t>状态查询</a:t>
            </a:r>
            <a:endParaRPr lang="en-US" sz="1100"/>
          </a:p>
        </p:txBody>
      </p:sp>
      <p:sp>
        <p:nvSpPr>
          <p:cNvPr id="9" name="AutoShape 9"/>
          <p:cNvSpPr/>
          <p:nvPr/>
        </p:nvSpPr>
        <p:spPr>
          <a:xfrm>
            <a:off x="1371600" y="4064000"/>
            <a:ext cx="4826000" cy="8382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1400" b="0" i="0" u="none" strike="noStrike">
                <a:solidFill>
                  <a:srgbClr val="6B7280"/>
                </a:solidFill>
                <a:latin typeface="Noto Sans SC"/>
                <a:ea typeface="Noto Sans SC"/>
                <a:cs typeface="Noto Sans SC"/>
                <a:sym typeface="Noto Sans SC"/>
              </a:rPr>
              <a:t>患者可以通过预留的电话号码，随时查询自己的预约或就诊状态，了解当前进度。</a:t>
            </a:r>
            <a:endParaRPr lang="en-US" sz="1100"/>
          </a:p>
        </p:txBody>
      </p:sp>
      <p:cxnSp>
        <p:nvCxnSpPr>
          <p:cNvPr id="10" name="Connector 10"/>
          <p:cNvCxnSpPr/>
          <p:nvPr/>
        </p:nvCxnSpPr>
        <p:spPr>
          <a:xfrm rot="5386249">
            <a:off x="4762500" y="3359163"/>
            <a:ext cx="3175000" cy="12700"/>
          </a:xfrm>
          <a:prstGeom prst="straightConnector1">
            <a:avLst/>
          </a:prstGeom>
          <a:solidFill>
            <a:srgbClr val="DEE0E3">
              <a:alpha val="100000"/>
            </a:srgbClr>
          </a:solidFill>
          <a:ln w="12700" cap="flat" cmpd="sng">
            <a:solidFill>
              <a:srgbClr val="E5E7EB">
                <a:alpha val="100000"/>
              </a:srgbClr>
            </a:solidFill>
            <a:prstDash val="dash"/>
            <a:round/>
            <a:headEnd type="none" w="med" len="med"/>
            <a:tailEnd type="none" w="med" len="med"/>
          </a:ln>
        </p:spPr>
      </p:cxnSp>
      <p:sp>
        <p:nvSpPr>
          <p:cNvPr id="12" name="AutoShape 12"/>
          <p:cNvSpPr/>
          <p:nvPr/>
        </p:nvSpPr>
        <p:spPr>
          <a:xfrm>
            <a:off x="6858000" y="5207000"/>
            <a:ext cx="4318000" cy="3048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400" b="0" i="0" u="none" strike="noStrike">
                <a:solidFill>
                  <a:srgbClr val="9CA3AF"/>
                </a:solidFill>
                <a:latin typeface="Noto Sans SC"/>
                <a:ea typeface="Noto Sans SC"/>
                <a:cs typeface="Noto Sans SC"/>
                <a:sym typeface="Noto Sans SC"/>
              </a:rPr>
              <a:t>患者端预约挂号界面示意图</a:t>
            </a:r>
            <a:endParaRPr lang="en-US" sz="1100"/>
          </a:p>
        </p:txBody>
      </p:sp>
      <p:pic>
        <p:nvPicPr>
          <p:cNvPr id="14" name="图片 13">
            <a:extLst>
              <a:ext uri="{FF2B5EF4-FFF2-40B4-BE49-F238E27FC236}">
                <a16:creationId xmlns:a16="http://schemas.microsoft.com/office/drawing/2014/main" id="{0A9D700E-7D2D-1612-8DE3-9474CA0BCBD9}"/>
              </a:ext>
            </a:extLst>
          </p:cNvPr>
          <p:cNvPicPr>
            <a:picLocks noChangeAspect="1"/>
          </p:cNvPicPr>
          <p:nvPr/>
        </p:nvPicPr>
        <p:blipFill>
          <a:blip r:embed="rId7"/>
          <a:stretch>
            <a:fillRect/>
          </a:stretch>
        </p:blipFill>
        <p:spPr>
          <a:xfrm>
            <a:off x="6502400" y="1761932"/>
            <a:ext cx="5407442" cy="3124226"/>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5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508000"/>
            <a:ext cx="7620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600" b="1" i="0" u="none" strike="noStrike">
                <a:solidFill>
                  <a:srgbClr val="003366"/>
                </a:solidFill>
                <a:latin typeface="Noto Sans SC"/>
                <a:ea typeface="Noto Sans SC"/>
                <a:cs typeface="Noto Sans SC"/>
                <a:sym typeface="Noto Sans SC"/>
              </a:rPr>
              <a:t>功能实现 - 前台端功能</a:t>
            </a:r>
            <a:endParaRPr lang="en-US" sz="1100"/>
          </a:p>
        </p:txBody>
      </p:sp>
      <p:cxnSp>
        <p:nvCxnSpPr>
          <p:cNvPr id="3" name="Connector 3"/>
          <p:cNvCxnSpPr/>
          <p:nvPr/>
        </p:nvCxnSpPr>
        <p:spPr>
          <a:xfrm rot="-4092">
            <a:off x="762004" y="1212850"/>
            <a:ext cx="10668000" cy="12700"/>
          </a:xfrm>
          <a:prstGeom prst="straightConnector1">
            <a:avLst/>
          </a:prstGeom>
          <a:solidFill>
            <a:srgbClr val="DEE0E3">
              <a:alpha val="100000"/>
            </a:srgbClr>
          </a:solidFill>
          <a:ln w="12700" cap="flat" cmpd="sng">
            <a:solidFill>
              <a:srgbClr val="E5E7EB">
                <a:alpha val="100000"/>
              </a:srgbClr>
            </a:solidFill>
            <a:prstDash val="solid"/>
            <a:round/>
            <a:headEnd type="none" w="med" len="med"/>
            <a:tailEnd type="none" w="med" len="med"/>
          </a:ln>
        </p:spPr>
      </p:cxnSp>
      <p:pic>
        <p:nvPicPr>
          <p:cNvPr id="4" name="Picture 4"/>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62000" y="1778000"/>
            <a:ext cx="406400" cy="406400"/>
          </a:xfrm>
          <a:prstGeom prst="rect">
            <a:avLst/>
          </a:prstGeom>
        </p:spPr>
      </p:pic>
      <p:sp>
        <p:nvSpPr>
          <p:cNvPr id="5" name="AutoShape 5"/>
          <p:cNvSpPr/>
          <p:nvPr/>
        </p:nvSpPr>
        <p:spPr>
          <a:xfrm>
            <a:off x="1422400" y="1803400"/>
            <a:ext cx="4826000" cy="355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03366"/>
                </a:solidFill>
                <a:latin typeface="Noto Sans SC"/>
                <a:ea typeface="Noto Sans SC"/>
                <a:cs typeface="Noto Sans SC"/>
                <a:sym typeface="Noto Sans SC"/>
              </a:rPr>
              <a:t>预约核验</a:t>
            </a:r>
            <a:endParaRPr lang="en-US" sz="1100"/>
          </a:p>
        </p:txBody>
      </p:sp>
      <p:sp>
        <p:nvSpPr>
          <p:cNvPr id="6" name="AutoShape 6"/>
          <p:cNvSpPr/>
          <p:nvPr/>
        </p:nvSpPr>
        <p:spPr>
          <a:xfrm>
            <a:off x="1422400" y="2286000"/>
            <a:ext cx="4826000" cy="5588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1400" b="0" i="0" u="none" strike="noStrike">
                <a:solidFill>
                  <a:srgbClr val="374151"/>
                </a:solidFill>
                <a:latin typeface="Noto Sans SC"/>
                <a:ea typeface="Noto Sans SC"/>
                <a:cs typeface="Noto Sans SC"/>
                <a:sym typeface="Noto Sans SC"/>
              </a:rPr>
              <a:t>前台人员可以查看当天的预约列表，对到院患者进行快速核验，并为其分配诊室。</a:t>
            </a:r>
            <a:endParaRPr lang="en-US" sz="1100"/>
          </a:p>
        </p:txBody>
      </p:sp>
      <p:pic>
        <p:nvPicPr>
          <p:cNvPr id="7" name="Picture 7"/>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762000" y="3429000"/>
            <a:ext cx="406400" cy="406400"/>
          </a:xfrm>
          <a:prstGeom prst="rect">
            <a:avLst/>
          </a:prstGeom>
        </p:spPr>
      </p:pic>
      <p:sp>
        <p:nvSpPr>
          <p:cNvPr id="8" name="AutoShape 8"/>
          <p:cNvSpPr/>
          <p:nvPr/>
        </p:nvSpPr>
        <p:spPr>
          <a:xfrm>
            <a:off x="1422400" y="3454400"/>
            <a:ext cx="4826000" cy="355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03366"/>
                </a:solidFill>
                <a:latin typeface="Noto Sans SC"/>
                <a:ea typeface="Noto Sans SC"/>
                <a:cs typeface="Noto Sans SC"/>
                <a:sym typeface="Noto Sans SC"/>
              </a:rPr>
              <a:t>收费结算</a:t>
            </a:r>
            <a:endParaRPr lang="en-US" sz="1100"/>
          </a:p>
        </p:txBody>
      </p:sp>
      <p:sp>
        <p:nvSpPr>
          <p:cNvPr id="9" name="AutoShape 9"/>
          <p:cNvSpPr/>
          <p:nvPr/>
        </p:nvSpPr>
        <p:spPr>
          <a:xfrm>
            <a:off x="1422400" y="3937000"/>
            <a:ext cx="4826000" cy="5588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1400" b="0" i="0" u="none" strike="noStrike">
                <a:solidFill>
                  <a:srgbClr val="374151"/>
                </a:solidFill>
                <a:latin typeface="Noto Sans SC"/>
                <a:ea typeface="Noto Sans SC"/>
                <a:cs typeface="Noto Sans SC"/>
                <a:sym typeface="Noto Sans SC"/>
              </a:rPr>
              <a:t>就诊结束后，前台人员可为患者办理收费结算，系统支持医保和自费金额的自动拆分。</a:t>
            </a:r>
            <a:endParaRPr lang="en-US" sz="1100"/>
          </a:p>
        </p:txBody>
      </p:sp>
      <p:cxnSp>
        <p:nvCxnSpPr>
          <p:cNvPr id="10" name="Connector 10"/>
          <p:cNvCxnSpPr/>
          <p:nvPr/>
        </p:nvCxnSpPr>
        <p:spPr>
          <a:xfrm rot="5385676">
            <a:off x="4572000" y="3295663"/>
            <a:ext cx="3048000" cy="12700"/>
          </a:xfrm>
          <a:prstGeom prst="straightConnector1">
            <a:avLst/>
          </a:prstGeom>
          <a:solidFill>
            <a:srgbClr val="DEE0E3">
              <a:alpha val="100000"/>
            </a:srgbClr>
          </a:solidFill>
          <a:ln w="12700" cap="flat" cmpd="sng">
            <a:solidFill>
              <a:srgbClr val="E5E7EB">
                <a:alpha val="100000"/>
              </a:srgbClr>
            </a:solidFill>
            <a:prstDash val="dash"/>
            <a:round/>
            <a:headEnd type="none" w="med" len="med"/>
            <a:tailEnd type="none" w="med" len="med"/>
          </a:ln>
        </p:spPr>
      </p:cxnSp>
      <p:sp>
        <p:nvSpPr>
          <p:cNvPr id="12" name="AutoShape 12"/>
          <p:cNvSpPr/>
          <p:nvPr/>
        </p:nvSpPr>
        <p:spPr>
          <a:xfrm>
            <a:off x="6604000" y="4953000"/>
            <a:ext cx="4826000" cy="254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300" b="0" i="0" u="none" strike="noStrike">
                <a:solidFill>
                  <a:srgbClr val="6B7280"/>
                </a:solidFill>
                <a:latin typeface="Noto Sans SC"/>
                <a:ea typeface="Noto Sans SC"/>
                <a:cs typeface="Noto Sans SC"/>
                <a:sym typeface="Noto Sans SC"/>
              </a:rPr>
              <a:t>前台端收费结算界面示意图</a:t>
            </a:r>
            <a:endParaRPr lang="en-US" sz="1100"/>
          </a:p>
        </p:txBody>
      </p:sp>
      <p:pic>
        <p:nvPicPr>
          <p:cNvPr id="14" name="图片 13">
            <a:extLst>
              <a:ext uri="{FF2B5EF4-FFF2-40B4-BE49-F238E27FC236}">
                <a16:creationId xmlns:a16="http://schemas.microsoft.com/office/drawing/2014/main" id="{8E383F4C-2225-B07A-1683-BC0C2A42D5A1}"/>
              </a:ext>
            </a:extLst>
          </p:cNvPr>
          <p:cNvPicPr>
            <a:picLocks noChangeAspect="1"/>
          </p:cNvPicPr>
          <p:nvPr/>
        </p:nvPicPr>
        <p:blipFill>
          <a:blip r:embed="rId7"/>
          <a:stretch>
            <a:fillRect/>
          </a:stretch>
        </p:blipFill>
        <p:spPr>
          <a:xfrm>
            <a:off x="6604000" y="1651000"/>
            <a:ext cx="5415261" cy="3048028"/>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5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508000"/>
            <a:ext cx="7620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003366"/>
                </a:solidFill>
                <a:latin typeface="Noto Sans SC"/>
                <a:ea typeface="Noto Sans SC"/>
                <a:cs typeface="Noto Sans SC"/>
                <a:sym typeface="Noto Sans SC"/>
              </a:rPr>
              <a:t>功能实现 - 管理员端功能</a:t>
            </a:r>
            <a:endParaRPr lang="en-US" sz="1100"/>
          </a:p>
        </p:txBody>
      </p:sp>
      <p:cxnSp>
        <p:nvCxnSpPr>
          <p:cNvPr id="3" name="Connector 3"/>
          <p:cNvCxnSpPr/>
          <p:nvPr/>
        </p:nvCxnSpPr>
        <p:spPr>
          <a:xfrm rot="-4092">
            <a:off x="762004" y="1212850"/>
            <a:ext cx="10668000" cy="12700"/>
          </a:xfrm>
          <a:prstGeom prst="straightConnector1">
            <a:avLst/>
          </a:prstGeom>
          <a:solidFill>
            <a:srgbClr val="DEE0E3">
              <a:alpha val="100000"/>
            </a:srgbClr>
          </a:solidFill>
          <a:ln w="12700" cap="flat" cmpd="sng">
            <a:solidFill>
              <a:srgbClr val="E5E7EB">
                <a:alpha val="100000"/>
              </a:srgbClr>
            </a:solidFill>
            <a:prstDash val="solid"/>
            <a:round/>
            <a:headEnd type="none" w="med" len="med"/>
            <a:tailEnd type="none" w="med" len="med"/>
          </a:ln>
        </p:spPr>
      </p:cxnSp>
      <p:pic>
        <p:nvPicPr>
          <p:cNvPr id="4" name="Picture 4"/>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62000" y="1778000"/>
            <a:ext cx="355600" cy="355600"/>
          </a:xfrm>
          <a:prstGeom prst="rect">
            <a:avLst/>
          </a:prstGeom>
        </p:spPr>
      </p:pic>
      <p:sp>
        <p:nvSpPr>
          <p:cNvPr id="5" name="AutoShape 5"/>
          <p:cNvSpPr/>
          <p:nvPr/>
        </p:nvSpPr>
        <p:spPr>
          <a:xfrm>
            <a:off x="1320800" y="1803400"/>
            <a:ext cx="4826000" cy="355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03366"/>
                </a:solidFill>
                <a:latin typeface="Noto Sans SC"/>
                <a:ea typeface="Noto Sans SC"/>
                <a:cs typeface="Noto Sans SC"/>
                <a:sym typeface="Noto Sans SC"/>
              </a:rPr>
              <a:t>数据看板</a:t>
            </a:r>
            <a:endParaRPr lang="en-US" sz="1100"/>
          </a:p>
        </p:txBody>
      </p:sp>
      <p:sp>
        <p:nvSpPr>
          <p:cNvPr id="6" name="AutoShape 6"/>
          <p:cNvSpPr/>
          <p:nvPr/>
        </p:nvSpPr>
        <p:spPr>
          <a:xfrm>
            <a:off x="1320800" y="2286000"/>
            <a:ext cx="4826000" cy="8382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1400" b="0" i="0" u="none" strike="noStrike">
                <a:solidFill>
                  <a:srgbClr val="6B7280"/>
                </a:solidFill>
                <a:latin typeface="Noto Sans SC"/>
                <a:ea typeface="Noto Sans SC"/>
                <a:cs typeface="Noto Sans SC"/>
                <a:sym typeface="Noto Sans SC"/>
              </a:rPr>
              <a:t>管理员可直观了解医院运营状况，如各科室门诊收入、就诊人次等关键指标。</a:t>
            </a:r>
            <a:endParaRPr lang="en-US" sz="1100"/>
          </a:p>
        </p:txBody>
      </p:sp>
      <p:pic>
        <p:nvPicPr>
          <p:cNvPr id="7" name="Picture 7"/>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762000" y="3429000"/>
            <a:ext cx="355600" cy="355600"/>
          </a:xfrm>
          <a:prstGeom prst="rect">
            <a:avLst/>
          </a:prstGeom>
        </p:spPr>
      </p:pic>
      <p:sp>
        <p:nvSpPr>
          <p:cNvPr id="8" name="AutoShape 8"/>
          <p:cNvSpPr/>
          <p:nvPr/>
        </p:nvSpPr>
        <p:spPr>
          <a:xfrm>
            <a:off x="1320800" y="3454400"/>
            <a:ext cx="4826000" cy="355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03366"/>
                </a:solidFill>
                <a:latin typeface="Noto Sans SC"/>
                <a:ea typeface="Noto Sans SC"/>
                <a:cs typeface="Noto Sans SC"/>
                <a:sym typeface="Noto Sans SC"/>
              </a:rPr>
              <a:t>员工管理</a:t>
            </a:r>
            <a:endParaRPr lang="en-US" sz="1100"/>
          </a:p>
        </p:txBody>
      </p:sp>
      <p:sp>
        <p:nvSpPr>
          <p:cNvPr id="9" name="AutoShape 9"/>
          <p:cNvSpPr/>
          <p:nvPr/>
        </p:nvSpPr>
        <p:spPr>
          <a:xfrm>
            <a:off x="1320800" y="3937000"/>
            <a:ext cx="4826000" cy="8382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1400" b="0" i="0" u="none" strike="noStrike">
                <a:solidFill>
                  <a:srgbClr val="6B7280"/>
                </a:solidFill>
                <a:latin typeface="Noto Sans SC"/>
                <a:ea typeface="Noto Sans SC"/>
                <a:cs typeface="Noto Sans SC"/>
                <a:sym typeface="Noto Sans SC"/>
              </a:rPr>
              <a:t>方便地管理医院员工信息，支持新增、修改、查询等操作，提升人事管理效率。</a:t>
            </a:r>
            <a:endParaRPr lang="en-US" sz="1100"/>
          </a:p>
        </p:txBody>
      </p:sp>
      <p:cxnSp>
        <p:nvCxnSpPr>
          <p:cNvPr id="10" name="Connector 10"/>
          <p:cNvCxnSpPr/>
          <p:nvPr/>
        </p:nvCxnSpPr>
        <p:spPr>
          <a:xfrm rot="5385676">
            <a:off x="4572000" y="3295663"/>
            <a:ext cx="3048000" cy="12700"/>
          </a:xfrm>
          <a:prstGeom prst="straightConnector1">
            <a:avLst/>
          </a:prstGeom>
          <a:solidFill>
            <a:srgbClr val="DEE0E3">
              <a:alpha val="100000"/>
            </a:srgbClr>
          </a:solidFill>
          <a:ln w="12700" cap="flat" cmpd="sng">
            <a:solidFill>
              <a:srgbClr val="E5E7EB">
                <a:alpha val="100000"/>
              </a:srgbClr>
            </a:solidFill>
            <a:prstDash val="dash"/>
            <a:round/>
            <a:headEnd type="none" w="med" len="med"/>
            <a:tailEnd type="none" w="med" len="med"/>
          </a:ln>
        </p:spPr>
      </p:cxnSp>
      <p:sp>
        <p:nvSpPr>
          <p:cNvPr id="12" name="AutoShape 12"/>
          <p:cNvSpPr/>
          <p:nvPr/>
        </p:nvSpPr>
        <p:spPr>
          <a:xfrm>
            <a:off x="6604000" y="4953000"/>
            <a:ext cx="4826000" cy="2794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400" b="0" i="0" u="none" strike="noStrike">
                <a:solidFill>
                  <a:srgbClr val="9CA3AF"/>
                </a:solidFill>
                <a:latin typeface="Noto Sans SC"/>
                <a:ea typeface="Noto Sans SC"/>
                <a:cs typeface="Noto Sans SC"/>
                <a:sym typeface="Noto Sans SC"/>
              </a:rPr>
              <a:t>管理员端数据看板示意图</a:t>
            </a:r>
            <a:endParaRPr lang="en-US" sz="1100"/>
          </a:p>
        </p:txBody>
      </p:sp>
      <p:pic>
        <p:nvPicPr>
          <p:cNvPr id="14" name="图片 13">
            <a:extLst>
              <a:ext uri="{FF2B5EF4-FFF2-40B4-BE49-F238E27FC236}">
                <a16:creationId xmlns:a16="http://schemas.microsoft.com/office/drawing/2014/main" id="{BC28F02B-5798-E1D8-B1C7-348B79DDED9F}"/>
              </a:ext>
            </a:extLst>
          </p:cNvPr>
          <p:cNvPicPr>
            <a:picLocks noChangeAspect="1"/>
          </p:cNvPicPr>
          <p:nvPr/>
        </p:nvPicPr>
        <p:blipFill>
          <a:blip r:embed="rId7"/>
          <a:stretch>
            <a:fillRect/>
          </a:stretch>
        </p:blipFill>
        <p:spPr>
          <a:xfrm>
            <a:off x="6350000" y="1951197"/>
            <a:ext cx="5455805" cy="2921028"/>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5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508000"/>
            <a:ext cx="7620000" cy="558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dirty="0" err="1">
                <a:solidFill>
                  <a:srgbClr val="003366"/>
                </a:solidFill>
                <a:latin typeface="Noto Sans SC"/>
                <a:ea typeface="Noto Sans SC"/>
                <a:cs typeface="Noto Sans SC"/>
                <a:sym typeface="Noto Sans SC"/>
              </a:rPr>
              <a:t>功能实现</a:t>
            </a:r>
            <a:r>
              <a:rPr lang="en-US" sz="3200" b="1" i="0" u="none" strike="noStrike" dirty="0">
                <a:solidFill>
                  <a:srgbClr val="003366"/>
                </a:solidFill>
                <a:latin typeface="Noto Sans SC"/>
                <a:ea typeface="Noto Sans SC"/>
                <a:cs typeface="Noto Sans SC"/>
                <a:sym typeface="Noto Sans SC"/>
              </a:rPr>
              <a:t> - </a:t>
            </a:r>
            <a:r>
              <a:rPr lang="en-US" sz="3200" b="1" i="0" u="none" strike="noStrike" dirty="0" err="1">
                <a:solidFill>
                  <a:srgbClr val="003366"/>
                </a:solidFill>
                <a:latin typeface="Noto Sans SC"/>
                <a:ea typeface="Noto Sans SC"/>
                <a:cs typeface="Noto Sans SC"/>
                <a:sym typeface="Noto Sans SC"/>
              </a:rPr>
              <a:t>核心代码展示</a:t>
            </a:r>
            <a:endParaRPr lang="en-US" sz="1100" dirty="0"/>
          </a:p>
        </p:txBody>
      </p:sp>
      <p:cxnSp>
        <p:nvCxnSpPr>
          <p:cNvPr id="3" name="Connector 3"/>
          <p:cNvCxnSpPr/>
          <p:nvPr/>
        </p:nvCxnSpPr>
        <p:spPr>
          <a:xfrm rot="-4092">
            <a:off x="762004" y="1212850"/>
            <a:ext cx="10668000" cy="12700"/>
          </a:xfrm>
          <a:prstGeom prst="straightConnector1">
            <a:avLst/>
          </a:prstGeom>
          <a:solidFill>
            <a:srgbClr val="DEE0E3">
              <a:alpha val="100000"/>
            </a:srgbClr>
          </a:solidFill>
          <a:ln w="12700" cap="flat" cmpd="sng">
            <a:solidFill>
              <a:srgbClr val="E5E7EB">
                <a:alpha val="100000"/>
              </a:srgbClr>
            </a:solidFill>
            <a:prstDash val="solid"/>
            <a:round/>
            <a:headEnd type="none" w="med" len="med"/>
            <a:tailEnd type="none" w="med" len="med"/>
          </a:ln>
        </p:spPr>
      </p:cxnSp>
      <p:sp>
        <p:nvSpPr>
          <p:cNvPr id="4" name="AutoShape 4"/>
          <p:cNvSpPr/>
          <p:nvPr/>
        </p:nvSpPr>
        <p:spPr>
          <a:xfrm>
            <a:off x="762000" y="1524000"/>
            <a:ext cx="5080000" cy="355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dirty="0" err="1">
                <a:solidFill>
                  <a:srgbClr val="003366"/>
                </a:solidFill>
                <a:latin typeface="Noto Sans SC"/>
                <a:ea typeface="Noto Sans SC"/>
                <a:cs typeface="Noto Sans SC"/>
                <a:sym typeface="Noto Sans SC"/>
              </a:rPr>
              <a:t>创建</a:t>
            </a:r>
            <a:r>
              <a:rPr lang="zh-CN" altLang="en-US" sz="1800" b="1" i="0" u="none" strike="noStrike" dirty="0">
                <a:solidFill>
                  <a:srgbClr val="003366"/>
                </a:solidFill>
                <a:latin typeface="Noto Sans SC"/>
                <a:ea typeface="Noto Sans SC"/>
                <a:cs typeface="Noto Sans SC"/>
                <a:sym typeface="Noto Sans SC"/>
              </a:rPr>
              <a:t>费用表</a:t>
            </a:r>
            <a:endParaRPr lang="en-US" sz="1100" dirty="0"/>
          </a:p>
        </p:txBody>
      </p:sp>
      <p:sp>
        <p:nvSpPr>
          <p:cNvPr id="5" name="AutoShape 5"/>
          <p:cNvSpPr/>
          <p:nvPr/>
        </p:nvSpPr>
        <p:spPr>
          <a:xfrm>
            <a:off x="762000" y="2032000"/>
            <a:ext cx="5080000" cy="2540000"/>
          </a:xfrm>
          <a:prstGeom prst="roundRect">
            <a:avLst>
              <a:gd name="adj" fmla="val 4000"/>
            </a:avLst>
          </a:prstGeom>
          <a:solidFill>
            <a:srgbClr val="FFFFFF">
              <a:alpha val="100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endParaRPr/>
          </a:p>
        </p:txBody>
      </p:sp>
      <p:sp>
        <p:nvSpPr>
          <p:cNvPr id="6" name="AutoShape 6"/>
          <p:cNvSpPr/>
          <p:nvPr/>
        </p:nvSpPr>
        <p:spPr>
          <a:xfrm>
            <a:off x="952500" y="2222500"/>
            <a:ext cx="4699000" cy="21590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endParaRPr lang="en-US" sz="1300" b="0" i="0" u="none" strike="noStrike" dirty="0">
              <a:solidFill>
                <a:srgbClr val="374151"/>
              </a:solidFill>
              <a:latin typeface="Roboto Mono"/>
              <a:ea typeface="Roboto Mono"/>
              <a:cs typeface="Roboto Mono"/>
              <a:sym typeface="Roboto Mono"/>
            </a:endParaRPr>
          </a:p>
        </p:txBody>
      </p:sp>
      <p:cxnSp>
        <p:nvCxnSpPr>
          <p:cNvPr id="7" name="Connector 7"/>
          <p:cNvCxnSpPr/>
          <p:nvPr/>
        </p:nvCxnSpPr>
        <p:spPr>
          <a:xfrm rot="5385676">
            <a:off x="4572000" y="3041663"/>
            <a:ext cx="3048000" cy="12700"/>
          </a:xfrm>
          <a:prstGeom prst="straightConnector1">
            <a:avLst/>
          </a:prstGeom>
          <a:solidFill>
            <a:srgbClr val="DEE0E3">
              <a:alpha val="100000"/>
            </a:srgbClr>
          </a:solidFill>
          <a:ln w="12700" cap="flat" cmpd="sng">
            <a:solidFill>
              <a:srgbClr val="E5E7EB">
                <a:alpha val="100000"/>
              </a:srgbClr>
            </a:solidFill>
            <a:prstDash val="dash"/>
            <a:round/>
            <a:headEnd type="none" w="med" len="med"/>
            <a:tailEnd type="none" w="med" len="med"/>
          </a:ln>
        </p:spPr>
      </p:cxnSp>
      <p:sp>
        <p:nvSpPr>
          <p:cNvPr id="8" name="AutoShape 8"/>
          <p:cNvSpPr/>
          <p:nvPr/>
        </p:nvSpPr>
        <p:spPr>
          <a:xfrm>
            <a:off x="6350000" y="1524000"/>
            <a:ext cx="5080000" cy="355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03366"/>
                </a:solidFill>
                <a:latin typeface="Noto Sans SC"/>
                <a:ea typeface="Noto Sans SC"/>
                <a:cs typeface="Noto Sans SC"/>
                <a:sym typeface="Noto Sans SC"/>
              </a:rPr>
              <a:t>创建触发器 (Trigger)</a:t>
            </a:r>
            <a:endParaRPr lang="en-US" sz="1100"/>
          </a:p>
        </p:txBody>
      </p:sp>
      <p:sp>
        <p:nvSpPr>
          <p:cNvPr id="9" name="AutoShape 9"/>
          <p:cNvSpPr/>
          <p:nvPr/>
        </p:nvSpPr>
        <p:spPr>
          <a:xfrm>
            <a:off x="6350000" y="2032000"/>
            <a:ext cx="5080000" cy="2540000"/>
          </a:xfrm>
          <a:prstGeom prst="roundRect">
            <a:avLst>
              <a:gd name="adj" fmla="val 4000"/>
            </a:avLst>
          </a:prstGeom>
          <a:solidFill>
            <a:srgbClr val="FFFFFF">
              <a:alpha val="100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endParaRPr/>
          </a:p>
        </p:txBody>
      </p:sp>
      <p:sp>
        <p:nvSpPr>
          <p:cNvPr id="10" name="AutoShape 10"/>
          <p:cNvSpPr/>
          <p:nvPr/>
        </p:nvSpPr>
        <p:spPr>
          <a:xfrm>
            <a:off x="6540500" y="2222500"/>
            <a:ext cx="4699000" cy="21590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endParaRPr lang="en-US" sz="1300" b="1" i="0" u="none" strike="noStrike" dirty="0">
              <a:solidFill>
                <a:srgbClr val="4A90E2"/>
              </a:solidFill>
              <a:latin typeface="Roboto Mono"/>
              <a:ea typeface="Roboto Mono"/>
              <a:cs typeface="Roboto Mono"/>
              <a:sym typeface="Roboto Mono"/>
            </a:endParaRPr>
          </a:p>
        </p:txBody>
      </p:sp>
      <p:cxnSp>
        <p:nvCxnSpPr>
          <p:cNvPr id="11" name="Connector 11"/>
          <p:cNvCxnSpPr/>
          <p:nvPr/>
        </p:nvCxnSpPr>
        <p:spPr>
          <a:xfrm rot="-4092">
            <a:off x="762004" y="4819650"/>
            <a:ext cx="10668000" cy="12700"/>
          </a:xfrm>
          <a:prstGeom prst="straightConnector1">
            <a:avLst/>
          </a:prstGeom>
          <a:solidFill>
            <a:srgbClr val="DEE0E3">
              <a:alpha val="100000"/>
            </a:srgbClr>
          </a:solidFill>
          <a:ln w="12700" cap="flat" cmpd="sng">
            <a:solidFill>
              <a:srgbClr val="E5E7EB">
                <a:alpha val="100000"/>
              </a:srgbClr>
            </a:solidFill>
            <a:prstDash val="solid"/>
            <a:round/>
            <a:headEnd type="none" w="med" len="med"/>
            <a:tailEnd type="none" w="med" len="med"/>
          </a:ln>
        </p:spPr>
      </p:cxnSp>
      <p:pic>
        <p:nvPicPr>
          <p:cNvPr id="12" name="Picture 12"/>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62000" y="5207000"/>
            <a:ext cx="304800" cy="304800"/>
          </a:xfrm>
          <a:prstGeom prst="rect">
            <a:avLst/>
          </a:prstGeom>
        </p:spPr>
      </p:pic>
      <p:sp>
        <p:nvSpPr>
          <p:cNvPr id="13" name="AutoShape 13"/>
          <p:cNvSpPr/>
          <p:nvPr/>
        </p:nvSpPr>
        <p:spPr>
          <a:xfrm>
            <a:off x="1270000" y="5232400"/>
            <a:ext cx="9906000" cy="558800"/>
          </a:xfrm>
          <a:prstGeom prst="rect">
            <a:avLst/>
          </a:prstGeom>
          <a:noFill/>
          <a:ln w="12700" cap="flat" cmpd="sng">
            <a:noFill/>
            <a:prstDash val="solid"/>
            <a:round/>
          </a:ln>
        </p:spPr>
        <p:txBody>
          <a:bodyPr vert="horz" wrap="square" lIns="0" tIns="0" rIns="0" bIns="0" rtlCol="0" anchor="t" anchorCtr="0"/>
          <a:lstStyle/>
          <a:p>
            <a:pPr indent="0" algn="l">
              <a:lnSpc>
                <a:spcPct val="116666"/>
              </a:lnSpc>
              <a:defRPr/>
            </a:pPr>
            <a:r>
              <a:rPr lang="en-US" sz="1400" b="0" i="0" u="none" strike="noStrike">
                <a:solidFill>
                  <a:srgbClr val="374151"/>
                </a:solidFill>
                <a:latin typeface="Noto Sans SC"/>
                <a:ea typeface="Noto Sans SC"/>
                <a:cs typeface="Noto Sans SC"/>
                <a:sym typeface="Noto Sans SC"/>
              </a:rPr>
              <a:t>支付完成后，触发器自动将就诊状态更新为“已离院”，实现业务流程自动化，提升系统效率。</a:t>
            </a:r>
            <a:endParaRPr lang="en-US" sz="1100"/>
          </a:p>
        </p:txBody>
      </p:sp>
      <p:pic>
        <p:nvPicPr>
          <p:cNvPr id="15" name="图片 14">
            <a:extLst>
              <a:ext uri="{FF2B5EF4-FFF2-40B4-BE49-F238E27FC236}">
                <a16:creationId xmlns:a16="http://schemas.microsoft.com/office/drawing/2014/main" id="{8659C1EF-9E36-7473-EA81-BA4A350E051E}"/>
              </a:ext>
            </a:extLst>
          </p:cNvPr>
          <p:cNvPicPr>
            <a:picLocks noChangeAspect="1"/>
          </p:cNvPicPr>
          <p:nvPr/>
        </p:nvPicPr>
        <p:blipFill>
          <a:blip r:embed="rId5"/>
          <a:stretch>
            <a:fillRect/>
          </a:stretch>
        </p:blipFill>
        <p:spPr>
          <a:xfrm>
            <a:off x="6540500" y="2201709"/>
            <a:ext cx="4496427" cy="2200582"/>
          </a:xfrm>
          <a:prstGeom prst="rect">
            <a:avLst/>
          </a:prstGeom>
        </p:spPr>
      </p:pic>
      <p:pic>
        <p:nvPicPr>
          <p:cNvPr id="17" name="图片 16">
            <a:extLst>
              <a:ext uri="{FF2B5EF4-FFF2-40B4-BE49-F238E27FC236}">
                <a16:creationId xmlns:a16="http://schemas.microsoft.com/office/drawing/2014/main" id="{9EAF59CB-1781-F2B8-9899-BCD4D586938E}"/>
              </a:ext>
            </a:extLst>
          </p:cNvPr>
          <p:cNvPicPr>
            <a:picLocks noChangeAspect="1"/>
          </p:cNvPicPr>
          <p:nvPr/>
        </p:nvPicPr>
        <p:blipFill>
          <a:blip r:embed="rId6"/>
          <a:stretch>
            <a:fillRect/>
          </a:stretch>
        </p:blipFill>
        <p:spPr>
          <a:xfrm>
            <a:off x="952500" y="2201709"/>
            <a:ext cx="4755896" cy="2246449"/>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111827">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3"/>
          <a:srcRect t="21875" b="21875"/>
          <a:stretch>
            <a:fillRect/>
          </a:stretch>
        </p:blipFill>
        <p:spPr>
          <a:xfrm>
            <a:off x="0" y="0"/>
            <a:ext cx="12192000" cy="6858000"/>
          </a:xfrm>
          <a:prstGeom prst="rect">
            <a:avLst/>
          </a:prstGeom>
          <a:noFill/>
          <a:ln w="25400" cap="flat" cmpd="sng">
            <a:noFill/>
            <a:prstDash val="solid"/>
            <a:round/>
          </a:ln>
        </p:spPr>
      </p:pic>
      <p:sp>
        <p:nvSpPr>
          <p:cNvPr id="3" name="AutoShape 3"/>
          <p:cNvSpPr/>
          <p:nvPr/>
        </p:nvSpPr>
        <p:spPr>
          <a:xfrm>
            <a:off x="0" y="0"/>
            <a:ext cx="12192000" cy="6858000"/>
          </a:xfrm>
          <a:prstGeom prst="roundRect">
            <a:avLst>
              <a:gd name="adj" fmla="val 0"/>
            </a:avLst>
          </a:prstGeom>
          <a:solidFill>
            <a:srgbClr val="111827">
              <a:alpha val="60000"/>
            </a:srgbClr>
          </a:solidFill>
          <a:ln w="25400" cap="flat" cmpd="sng">
            <a:noFill/>
            <a:prstDash val="solid"/>
            <a:round/>
          </a:ln>
        </p:spPr>
        <p:txBody>
          <a:bodyPr vert="horz" wrap="square" lIns="63500" tIns="63500" rIns="63500" bIns="63500" rtlCol="0" anchor="ctr"/>
          <a:lstStyle/>
          <a:p>
            <a:pPr algn="ctr">
              <a:defRPr/>
            </a:pPr>
            <a:endParaRPr/>
          </a:p>
        </p:txBody>
      </p:sp>
      <p:sp>
        <p:nvSpPr>
          <p:cNvPr id="4" name="AutoShape 4"/>
          <p:cNvSpPr/>
          <p:nvPr/>
        </p:nvSpPr>
        <p:spPr>
          <a:xfrm>
            <a:off x="762000" y="508000"/>
            <a:ext cx="10668000" cy="609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600" b="1" i="0" u="none" strike="noStrike">
                <a:solidFill>
                  <a:srgbClr val="FFFFFF"/>
                </a:solidFill>
                <a:latin typeface="Noto Sans SC"/>
                <a:ea typeface="Noto Sans SC"/>
                <a:cs typeface="Noto Sans SC"/>
                <a:sym typeface="Noto Sans SC"/>
              </a:rPr>
              <a:t>创新与亮点 - 触发器与自动化</a:t>
            </a:r>
            <a:endParaRPr lang="en-US" sz="1100"/>
          </a:p>
        </p:txBody>
      </p:sp>
      <p:cxnSp>
        <p:nvCxnSpPr>
          <p:cNvPr id="5" name="Connector 5"/>
          <p:cNvCxnSpPr/>
          <p:nvPr/>
        </p:nvCxnSpPr>
        <p:spPr>
          <a:xfrm rot="-4092">
            <a:off x="762004" y="1263650"/>
            <a:ext cx="10668000" cy="12700"/>
          </a:xfrm>
          <a:prstGeom prst="straightConnector1">
            <a:avLst/>
          </a:prstGeom>
          <a:solidFill>
            <a:srgbClr val="DEE0E3">
              <a:alpha val="100000"/>
            </a:srgbClr>
          </a:solidFill>
          <a:ln w="12700" cap="flat" cmpd="sng">
            <a:solidFill>
              <a:srgbClr val="4A90E2">
                <a:alpha val="50000"/>
              </a:srgbClr>
            </a:solidFill>
            <a:prstDash val="solid"/>
            <a:round/>
            <a:headEnd type="none" w="med" len="med"/>
            <a:tailEnd type="none" w="med" len="med"/>
          </a:ln>
        </p:spPr>
      </p:cxnSp>
      <p:sp>
        <p:nvSpPr>
          <p:cNvPr id="6" name="AutoShape 6"/>
          <p:cNvSpPr/>
          <p:nvPr/>
        </p:nvSpPr>
        <p:spPr>
          <a:xfrm>
            <a:off x="762000" y="1651000"/>
            <a:ext cx="5080000" cy="355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FFFFFF"/>
                </a:solidFill>
                <a:latin typeface="Noto Sans SC"/>
                <a:ea typeface="Noto Sans SC"/>
                <a:cs typeface="Noto Sans SC"/>
                <a:sym typeface="Noto Sans SC"/>
              </a:rPr>
              <a:t>自动化业务流转</a:t>
            </a:r>
            <a:endParaRPr lang="en-US" sz="1100"/>
          </a:p>
        </p:txBody>
      </p:sp>
      <p:pic>
        <p:nvPicPr>
          <p:cNvPr id="7" name="Picture 7"/>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762000" y="2286000"/>
            <a:ext cx="304800" cy="304800"/>
          </a:xfrm>
          <a:prstGeom prst="rect">
            <a:avLst/>
          </a:prstGeom>
        </p:spPr>
      </p:pic>
      <p:sp>
        <p:nvSpPr>
          <p:cNvPr id="8" name="AutoShape 8"/>
          <p:cNvSpPr/>
          <p:nvPr/>
        </p:nvSpPr>
        <p:spPr>
          <a:xfrm>
            <a:off x="1270000" y="2311400"/>
            <a:ext cx="4572000" cy="558800"/>
          </a:xfrm>
          <a:prstGeom prst="rect">
            <a:avLst/>
          </a:prstGeom>
          <a:noFill/>
          <a:ln w="12700" cap="flat" cmpd="sng">
            <a:noFill/>
            <a:prstDash val="solid"/>
            <a:round/>
          </a:ln>
        </p:spPr>
        <p:txBody>
          <a:bodyPr vert="horz" wrap="square" lIns="0" tIns="0" rIns="0" bIns="0" rtlCol="0" anchor="t" anchorCtr="0"/>
          <a:lstStyle/>
          <a:p>
            <a:pPr indent="0" algn="l">
              <a:lnSpc>
                <a:spcPct val="116666"/>
              </a:lnSpc>
              <a:defRPr/>
            </a:pPr>
            <a:r>
              <a:rPr lang="en-US" sz="1400" b="0" i="0" u="none" strike="noStrike">
                <a:solidFill>
                  <a:srgbClr val="E5E7EB"/>
                </a:solidFill>
                <a:latin typeface="Noto Sans SC"/>
                <a:ea typeface="Noto Sans SC"/>
                <a:cs typeface="Noto Sans SC"/>
                <a:sym typeface="Noto Sans SC"/>
              </a:rPr>
              <a:t>患者缴费成功后，就诊状态自动流转为“已离院”。</a:t>
            </a:r>
            <a:endParaRPr lang="en-US" sz="1100"/>
          </a:p>
        </p:txBody>
      </p:sp>
      <p:pic>
        <p:nvPicPr>
          <p:cNvPr id="9" name="Picture 9"/>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762000" y="3175000"/>
            <a:ext cx="304800" cy="304800"/>
          </a:xfrm>
          <a:prstGeom prst="rect">
            <a:avLst/>
          </a:prstGeom>
        </p:spPr>
      </p:pic>
      <p:sp>
        <p:nvSpPr>
          <p:cNvPr id="10" name="AutoShape 10"/>
          <p:cNvSpPr/>
          <p:nvPr/>
        </p:nvSpPr>
        <p:spPr>
          <a:xfrm>
            <a:off x="1270000" y="3200400"/>
            <a:ext cx="4572000" cy="558800"/>
          </a:xfrm>
          <a:prstGeom prst="rect">
            <a:avLst/>
          </a:prstGeom>
          <a:noFill/>
          <a:ln w="12700" cap="flat" cmpd="sng">
            <a:noFill/>
            <a:prstDash val="solid"/>
            <a:round/>
          </a:ln>
        </p:spPr>
        <p:txBody>
          <a:bodyPr vert="horz" wrap="square" lIns="0" tIns="0" rIns="0" bIns="0" rtlCol="0" anchor="t" anchorCtr="0"/>
          <a:lstStyle/>
          <a:p>
            <a:pPr indent="0" algn="l">
              <a:lnSpc>
                <a:spcPct val="116666"/>
              </a:lnSpc>
              <a:defRPr/>
            </a:pPr>
            <a:r>
              <a:rPr lang="en-US" sz="1400" b="0" i="0" u="none" strike="noStrike">
                <a:solidFill>
                  <a:srgbClr val="E5E7EB"/>
                </a:solidFill>
                <a:latin typeface="Noto Sans SC"/>
                <a:ea typeface="Noto Sans SC"/>
                <a:cs typeface="Noto Sans SC"/>
                <a:sym typeface="Noto Sans SC"/>
              </a:rPr>
              <a:t>预约成功后，相关医生的排班挂号数自动增加。</a:t>
            </a:r>
            <a:endParaRPr lang="en-US" sz="1100"/>
          </a:p>
        </p:txBody>
      </p:sp>
      <p:cxnSp>
        <p:nvCxnSpPr>
          <p:cNvPr id="11" name="Connector 11"/>
          <p:cNvCxnSpPr/>
          <p:nvPr/>
        </p:nvCxnSpPr>
        <p:spPr>
          <a:xfrm rot="5381906">
            <a:off x="4889500" y="2851167"/>
            <a:ext cx="2413000" cy="12700"/>
          </a:xfrm>
          <a:prstGeom prst="straightConnector1">
            <a:avLst/>
          </a:prstGeom>
          <a:solidFill>
            <a:srgbClr val="DEE0E3">
              <a:alpha val="100000"/>
            </a:srgbClr>
          </a:solidFill>
          <a:ln w="12700" cap="flat" cmpd="sng">
            <a:solidFill>
              <a:srgbClr val="4A90E2">
                <a:alpha val="30000"/>
              </a:srgbClr>
            </a:solidFill>
            <a:prstDash val="dash"/>
            <a:round/>
            <a:headEnd type="none" w="med" len="med"/>
            <a:tailEnd type="none" w="med" len="med"/>
          </a:ln>
        </p:spPr>
      </p:cxnSp>
      <p:sp>
        <p:nvSpPr>
          <p:cNvPr id="12" name="AutoShape 12"/>
          <p:cNvSpPr/>
          <p:nvPr/>
        </p:nvSpPr>
        <p:spPr>
          <a:xfrm>
            <a:off x="6604000" y="1651000"/>
            <a:ext cx="5080000" cy="355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FFFFFF"/>
                </a:solidFill>
                <a:latin typeface="Noto Sans SC"/>
                <a:ea typeface="Noto Sans SC"/>
                <a:cs typeface="Noto Sans SC"/>
                <a:sym typeface="Noto Sans SC"/>
              </a:rPr>
              <a:t>减少应用层干预</a:t>
            </a:r>
            <a:endParaRPr lang="en-US" sz="1100"/>
          </a:p>
        </p:txBody>
      </p:sp>
      <p:pic>
        <p:nvPicPr>
          <p:cNvPr id="13" name="Picture 13"/>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604000" y="2286000"/>
            <a:ext cx="304800" cy="304800"/>
          </a:xfrm>
          <a:prstGeom prst="rect">
            <a:avLst/>
          </a:prstGeom>
        </p:spPr>
      </p:pic>
      <p:sp>
        <p:nvSpPr>
          <p:cNvPr id="14" name="AutoShape 14"/>
          <p:cNvSpPr/>
          <p:nvPr/>
        </p:nvSpPr>
        <p:spPr>
          <a:xfrm>
            <a:off x="7112000" y="2311400"/>
            <a:ext cx="4572000" cy="558800"/>
          </a:xfrm>
          <a:prstGeom prst="rect">
            <a:avLst/>
          </a:prstGeom>
          <a:noFill/>
          <a:ln w="12700" cap="flat" cmpd="sng">
            <a:noFill/>
            <a:prstDash val="solid"/>
            <a:round/>
          </a:ln>
        </p:spPr>
        <p:txBody>
          <a:bodyPr vert="horz" wrap="square" lIns="0" tIns="0" rIns="0" bIns="0" rtlCol="0" anchor="t" anchorCtr="0"/>
          <a:lstStyle/>
          <a:p>
            <a:pPr indent="0" algn="l">
              <a:lnSpc>
                <a:spcPct val="116666"/>
              </a:lnSpc>
              <a:defRPr/>
            </a:pPr>
            <a:r>
              <a:rPr lang="en-US" sz="1400" b="0" i="0" u="none" strike="noStrike">
                <a:solidFill>
                  <a:srgbClr val="E5E7EB"/>
                </a:solidFill>
                <a:latin typeface="Noto Sans SC"/>
                <a:ea typeface="Noto Sans SC"/>
                <a:cs typeface="Noto Sans SC"/>
                <a:sym typeface="Noto Sans SC"/>
              </a:rPr>
              <a:t>简化应用代码，降低维护成本和逻辑复杂度。</a:t>
            </a:r>
            <a:endParaRPr lang="en-US" sz="1100"/>
          </a:p>
        </p:txBody>
      </p:sp>
      <p:pic>
        <p:nvPicPr>
          <p:cNvPr id="15" name="Picture 15"/>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6604000" y="3175000"/>
            <a:ext cx="304800" cy="304800"/>
          </a:xfrm>
          <a:prstGeom prst="rect">
            <a:avLst/>
          </a:prstGeom>
        </p:spPr>
      </p:pic>
      <p:sp>
        <p:nvSpPr>
          <p:cNvPr id="16" name="AutoShape 16"/>
          <p:cNvSpPr/>
          <p:nvPr/>
        </p:nvSpPr>
        <p:spPr>
          <a:xfrm>
            <a:off x="7112000" y="3200400"/>
            <a:ext cx="4572000" cy="558800"/>
          </a:xfrm>
          <a:prstGeom prst="rect">
            <a:avLst/>
          </a:prstGeom>
          <a:noFill/>
          <a:ln w="12700" cap="flat" cmpd="sng">
            <a:noFill/>
            <a:prstDash val="solid"/>
            <a:round/>
          </a:ln>
        </p:spPr>
        <p:txBody>
          <a:bodyPr vert="horz" wrap="square" lIns="0" tIns="0" rIns="0" bIns="0" rtlCol="0" anchor="t" anchorCtr="0"/>
          <a:lstStyle/>
          <a:p>
            <a:pPr indent="0" algn="l">
              <a:lnSpc>
                <a:spcPct val="116666"/>
              </a:lnSpc>
              <a:defRPr/>
            </a:pPr>
            <a:r>
              <a:rPr lang="en-US" sz="1400" b="0" i="0" u="none" strike="noStrike">
                <a:solidFill>
                  <a:srgbClr val="E5E7EB"/>
                </a:solidFill>
                <a:latin typeface="Noto Sans SC"/>
                <a:ea typeface="Noto Sans SC"/>
                <a:cs typeface="Noto Sans SC"/>
                <a:sym typeface="Noto Sans SC"/>
              </a:rPr>
              <a:t>降低人为干预出错风险，保证数据操作的原子性。</a:t>
            </a:r>
            <a:endParaRPr lang="en-US" sz="1100"/>
          </a:p>
        </p:txBody>
      </p:sp>
      <p:sp>
        <p:nvSpPr>
          <p:cNvPr id="17" name="AutoShape 17"/>
          <p:cNvSpPr/>
          <p:nvPr/>
        </p:nvSpPr>
        <p:spPr>
          <a:xfrm>
            <a:off x="762000" y="4572000"/>
            <a:ext cx="10668000" cy="1016000"/>
          </a:xfrm>
          <a:prstGeom prst="roundRect">
            <a:avLst>
              <a:gd name="adj" fmla="val 10000"/>
            </a:avLst>
          </a:prstGeom>
          <a:solidFill>
            <a:srgbClr val="4A90E2">
              <a:alpha val="10000"/>
            </a:srgbClr>
          </a:solidFill>
          <a:ln w="12700" cap="flat" cmpd="sng">
            <a:solidFill>
              <a:srgbClr val="4A90E2">
                <a:alpha val="100000"/>
              </a:srgbClr>
            </a:solidFill>
            <a:prstDash val="solid"/>
            <a:round/>
          </a:ln>
        </p:spPr>
        <p:txBody>
          <a:bodyPr vert="horz" wrap="square" lIns="63500" tIns="63500" rIns="63500" bIns="63500" rtlCol="0" anchor="ctr"/>
          <a:lstStyle/>
          <a:p>
            <a:pPr algn="ctr">
              <a:defRPr/>
            </a:pPr>
            <a:endParaRPr/>
          </a:p>
        </p:txBody>
      </p:sp>
      <p:pic>
        <p:nvPicPr>
          <p:cNvPr id="18" name="Picture 18"/>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1016000" y="4902200"/>
            <a:ext cx="355600" cy="355600"/>
          </a:xfrm>
          <a:prstGeom prst="rect">
            <a:avLst/>
          </a:prstGeom>
        </p:spPr>
      </p:pic>
      <p:sp>
        <p:nvSpPr>
          <p:cNvPr id="19" name="AutoShape 19"/>
          <p:cNvSpPr/>
          <p:nvPr/>
        </p:nvSpPr>
        <p:spPr>
          <a:xfrm>
            <a:off x="1574800" y="4927600"/>
            <a:ext cx="9398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0" i="0" u="none" strike="noStrike">
                <a:solidFill>
                  <a:srgbClr val="E5E7EB"/>
                </a:solidFill>
                <a:latin typeface="Noto Sans SC"/>
                <a:ea typeface="Noto Sans SC"/>
                <a:cs typeface="Noto Sans SC"/>
                <a:sym typeface="Noto Sans SC"/>
              </a:rPr>
              <a:t>通过触发器实现自动化，从根本上保证了核心业务数据的最终一致性。</a:t>
            </a:r>
            <a:endParaRPr lang="en-US" sz="110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0F172A">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3"/>
          <a:srcRect t="21875" b="21875"/>
          <a:stretch>
            <a:fillRect/>
          </a:stretch>
        </p:blipFill>
        <p:spPr>
          <a:xfrm>
            <a:off x="0" y="0"/>
            <a:ext cx="12192000" cy="6858000"/>
          </a:xfrm>
          <a:prstGeom prst="rect">
            <a:avLst/>
          </a:prstGeom>
          <a:noFill/>
          <a:ln w="25400" cap="flat" cmpd="sng">
            <a:noFill/>
            <a:prstDash val="solid"/>
            <a:round/>
          </a:ln>
        </p:spPr>
      </p:pic>
      <p:sp>
        <p:nvSpPr>
          <p:cNvPr id="3" name="AutoShape 3"/>
          <p:cNvSpPr/>
          <p:nvPr/>
        </p:nvSpPr>
        <p:spPr>
          <a:xfrm>
            <a:off x="0" y="0"/>
            <a:ext cx="12192000" cy="6858000"/>
          </a:xfrm>
          <a:prstGeom prst="roundRect">
            <a:avLst>
              <a:gd name="adj" fmla="val 0"/>
            </a:avLst>
          </a:prstGeom>
          <a:solidFill>
            <a:srgbClr val="0F172A">
              <a:alpha val="60000"/>
            </a:srgbClr>
          </a:solidFill>
          <a:ln w="25400" cap="flat" cmpd="sng">
            <a:noFill/>
            <a:prstDash val="solid"/>
            <a:round/>
          </a:ln>
        </p:spPr>
        <p:txBody>
          <a:bodyPr vert="horz" wrap="square" lIns="63500" tIns="63500" rIns="63500" bIns="63500" rtlCol="0" anchor="ctr"/>
          <a:lstStyle/>
          <a:p>
            <a:pPr algn="ctr">
              <a:defRPr/>
            </a:pPr>
            <a:endParaRPr/>
          </a:p>
        </p:txBody>
      </p:sp>
      <p:sp>
        <p:nvSpPr>
          <p:cNvPr id="4" name="AutoShape 4"/>
          <p:cNvSpPr/>
          <p:nvPr/>
        </p:nvSpPr>
        <p:spPr>
          <a:xfrm>
            <a:off x="762000" y="508000"/>
            <a:ext cx="8890000" cy="609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600" b="1" i="0" u="none" strike="noStrike">
                <a:solidFill>
                  <a:srgbClr val="FFFFFF"/>
                </a:solidFill>
                <a:latin typeface="Noto Sans SC"/>
                <a:ea typeface="Noto Sans SC"/>
                <a:cs typeface="Noto Sans SC"/>
                <a:sym typeface="Noto Sans SC"/>
              </a:rPr>
              <a:t>创新与亮点 - 数据一致性保护</a:t>
            </a:r>
            <a:endParaRPr lang="en-US" sz="1100"/>
          </a:p>
        </p:txBody>
      </p:sp>
      <p:cxnSp>
        <p:nvCxnSpPr>
          <p:cNvPr id="5" name="Connector 5"/>
          <p:cNvCxnSpPr/>
          <p:nvPr/>
        </p:nvCxnSpPr>
        <p:spPr>
          <a:xfrm rot="-8594">
            <a:off x="762008" y="1263650"/>
            <a:ext cx="5080000" cy="12700"/>
          </a:xfrm>
          <a:prstGeom prst="straightConnector1">
            <a:avLst/>
          </a:prstGeom>
          <a:solidFill>
            <a:srgbClr val="DEE0E3">
              <a:alpha val="100000"/>
            </a:srgbClr>
          </a:solidFill>
          <a:ln w="25400" cap="flat" cmpd="sng">
            <a:solidFill>
              <a:srgbClr val="4A90E2">
                <a:alpha val="100000"/>
              </a:srgbClr>
            </a:solidFill>
            <a:prstDash val="solid"/>
            <a:round/>
            <a:headEnd type="none" w="lg" len="lg"/>
            <a:tailEnd type="none" w="lg" len="lg"/>
          </a:ln>
        </p:spPr>
      </p:cxnSp>
      <p:sp>
        <p:nvSpPr>
          <p:cNvPr id="6" name="AutoShape 6"/>
          <p:cNvSpPr/>
          <p:nvPr/>
        </p:nvSpPr>
        <p:spPr>
          <a:xfrm>
            <a:off x="762000" y="1778000"/>
            <a:ext cx="5080000" cy="1905000"/>
          </a:xfrm>
          <a:prstGeom prst="roundRect">
            <a:avLst>
              <a:gd name="adj" fmla="val 5333"/>
            </a:avLst>
          </a:prstGeom>
          <a:solidFill>
            <a:srgbClr val="FFFFFF">
              <a:alpha val="5000"/>
            </a:srgbClr>
          </a:solidFill>
          <a:ln w="12700" cap="flat" cmpd="sng">
            <a:solidFill>
              <a:srgbClr val="4A90E2">
                <a:alpha val="40000"/>
              </a:srgbClr>
            </a:solidFill>
            <a:prstDash val="solid"/>
            <a:round/>
          </a:ln>
        </p:spPr>
        <p:txBody>
          <a:bodyPr vert="horz" wrap="square" lIns="63500" tIns="63500" rIns="63500" bIns="63500" rtlCol="0" anchor="ctr"/>
          <a:lstStyle/>
          <a:p>
            <a:pPr algn="ctr">
              <a:defRPr/>
            </a:pPr>
            <a:endParaRPr/>
          </a:p>
        </p:txBody>
      </p:sp>
      <p:pic>
        <p:nvPicPr>
          <p:cNvPr id="7" name="Picture 7"/>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16000" y="2032000"/>
            <a:ext cx="355600" cy="355600"/>
          </a:xfrm>
          <a:prstGeom prst="rect">
            <a:avLst/>
          </a:prstGeom>
        </p:spPr>
      </p:pic>
      <p:sp>
        <p:nvSpPr>
          <p:cNvPr id="8" name="AutoShape 8"/>
          <p:cNvSpPr/>
          <p:nvPr/>
        </p:nvSpPr>
        <p:spPr>
          <a:xfrm>
            <a:off x="1574800" y="2044700"/>
            <a:ext cx="4064000" cy="355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FFFFFF"/>
                </a:solidFill>
                <a:latin typeface="Noto Sans SC"/>
                <a:ea typeface="Noto Sans SC"/>
                <a:cs typeface="Noto Sans SC"/>
                <a:sym typeface="Noto Sans SC"/>
              </a:rPr>
              <a:t>乐观锁防超卖</a:t>
            </a:r>
            <a:endParaRPr lang="en-US" sz="1100"/>
          </a:p>
        </p:txBody>
      </p:sp>
      <p:sp>
        <p:nvSpPr>
          <p:cNvPr id="9" name="AutoShape 9"/>
          <p:cNvSpPr/>
          <p:nvPr/>
        </p:nvSpPr>
        <p:spPr>
          <a:xfrm>
            <a:off x="1574800" y="2540000"/>
            <a:ext cx="4064000" cy="7620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1400" b="0" i="0" u="none" strike="noStrike">
                <a:solidFill>
                  <a:srgbClr val="E5E7EB"/>
                </a:solidFill>
                <a:latin typeface="Noto Sans SC"/>
                <a:ea typeface="Noto Sans SC"/>
                <a:cs typeface="Noto Sans SC"/>
                <a:sym typeface="Noto Sans SC"/>
              </a:rPr>
              <a:t>通过数据库层面检查可用号源，有效防止并发情况下的超卖问题，保障预约系统的准确性。</a:t>
            </a:r>
            <a:endParaRPr lang="en-US" sz="1100"/>
          </a:p>
        </p:txBody>
      </p:sp>
      <p:sp>
        <p:nvSpPr>
          <p:cNvPr id="10" name="AutoShape 10"/>
          <p:cNvSpPr/>
          <p:nvPr/>
        </p:nvSpPr>
        <p:spPr>
          <a:xfrm>
            <a:off x="762000" y="3937000"/>
            <a:ext cx="5080000" cy="1905000"/>
          </a:xfrm>
          <a:prstGeom prst="roundRect">
            <a:avLst>
              <a:gd name="adj" fmla="val 5333"/>
            </a:avLst>
          </a:prstGeom>
          <a:solidFill>
            <a:srgbClr val="FFFFFF">
              <a:alpha val="5000"/>
            </a:srgbClr>
          </a:solidFill>
          <a:ln w="12700" cap="flat" cmpd="sng">
            <a:solidFill>
              <a:srgbClr val="4A90E2">
                <a:alpha val="40000"/>
              </a:srgbClr>
            </a:solidFill>
            <a:prstDash val="solid"/>
            <a:round/>
          </a:ln>
        </p:spPr>
        <p:txBody>
          <a:bodyPr vert="horz" wrap="square" lIns="63500" tIns="63500" rIns="63500" bIns="63500" rtlCol="0" anchor="ctr"/>
          <a:lstStyle/>
          <a:p>
            <a:pPr algn="ctr">
              <a:defRPr/>
            </a:pPr>
            <a:endParaRPr/>
          </a:p>
        </p:txBody>
      </p:sp>
      <p:pic>
        <p:nvPicPr>
          <p:cNvPr id="11" name="Picture 11"/>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016000" y="4191000"/>
            <a:ext cx="355600" cy="355600"/>
          </a:xfrm>
          <a:prstGeom prst="rect">
            <a:avLst/>
          </a:prstGeom>
        </p:spPr>
      </p:pic>
      <p:sp>
        <p:nvSpPr>
          <p:cNvPr id="12" name="AutoShape 12"/>
          <p:cNvSpPr/>
          <p:nvPr/>
        </p:nvSpPr>
        <p:spPr>
          <a:xfrm>
            <a:off x="1574800" y="4203700"/>
            <a:ext cx="4064000" cy="355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FFFFFF"/>
                </a:solidFill>
                <a:latin typeface="Noto Sans SC"/>
                <a:ea typeface="Noto Sans SC"/>
                <a:cs typeface="Noto Sans SC"/>
                <a:sym typeface="Noto Sans SC"/>
              </a:rPr>
              <a:t>事务保证原子性</a:t>
            </a:r>
            <a:endParaRPr lang="en-US" sz="1100"/>
          </a:p>
        </p:txBody>
      </p:sp>
      <p:sp>
        <p:nvSpPr>
          <p:cNvPr id="13" name="AutoShape 13"/>
          <p:cNvSpPr/>
          <p:nvPr/>
        </p:nvSpPr>
        <p:spPr>
          <a:xfrm>
            <a:off x="1574800" y="4699000"/>
            <a:ext cx="4064000" cy="7620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1400" b="0" i="0" u="none" strike="noStrike">
                <a:solidFill>
                  <a:srgbClr val="E5E7EB"/>
                </a:solidFill>
                <a:latin typeface="Noto Sans SC"/>
                <a:ea typeface="Noto Sans SC"/>
                <a:cs typeface="Noto Sans SC"/>
                <a:sym typeface="Noto Sans SC"/>
              </a:rPr>
              <a:t>确保多表修改操作要么全部成功，要么全部失败，保证关键业务流程的数据完整性与一致性。</a:t>
            </a:r>
            <a:endParaRPr lang="en-US" sz="1100"/>
          </a:p>
        </p:txBody>
      </p:sp>
      <p:cxnSp>
        <p:nvCxnSpPr>
          <p:cNvPr id="14" name="Connector 14"/>
          <p:cNvCxnSpPr/>
          <p:nvPr/>
        </p:nvCxnSpPr>
        <p:spPr>
          <a:xfrm rot="5389257">
            <a:off x="4064000" y="3803660"/>
            <a:ext cx="4064000" cy="12700"/>
          </a:xfrm>
          <a:prstGeom prst="straightConnector1">
            <a:avLst/>
          </a:prstGeom>
          <a:solidFill>
            <a:srgbClr val="DEE0E3">
              <a:alpha val="100000"/>
            </a:srgbClr>
          </a:solidFill>
          <a:ln w="12700" cap="flat" cmpd="sng">
            <a:solidFill>
              <a:srgbClr val="4A90E2">
                <a:alpha val="30000"/>
              </a:srgbClr>
            </a:solidFill>
            <a:prstDash val="dash"/>
            <a:round/>
            <a:headEnd type="none" w="med" len="med"/>
            <a:tailEnd type="none" w="med" len="med"/>
          </a:ln>
        </p:spPr>
      </p:cxnSp>
      <p:sp>
        <p:nvSpPr>
          <p:cNvPr id="15" name="AutoShape 15"/>
          <p:cNvSpPr/>
          <p:nvPr/>
        </p:nvSpPr>
        <p:spPr>
          <a:xfrm>
            <a:off x="6477000" y="1778000"/>
            <a:ext cx="5080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FFFFFF"/>
                </a:solidFill>
                <a:latin typeface="Noto Sans SC"/>
                <a:ea typeface="Noto Sans SC"/>
                <a:cs typeface="Noto Sans SC"/>
                <a:sym typeface="Noto Sans SC"/>
              </a:rPr>
              <a:t>核心价值</a:t>
            </a:r>
            <a:endParaRPr lang="en-US" sz="1100"/>
          </a:p>
        </p:txBody>
      </p:sp>
      <p:pic>
        <p:nvPicPr>
          <p:cNvPr id="16" name="Picture 16"/>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6477000" y="2413000"/>
            <a:ext cx="254000" cy="254000"/>
          </a:xfrm>
          <a:prstGeom prst="rect">
            <a:avLst/>
          </a:prstGeom>
        </p:spPr>
      </p:pic>
      <p:sp>
        <p:nvSpPr>
          <p:cNvPr id="17" name="AutoShape 17"/>
          <p:cNvSpPr/>
          <p:nvPr/>
        </p:nvSpPr>
        <p:spPr>
          <a:xfrm>
            <a:off x="6921500" y="2413000"/>
            <a:ext cx="4445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FFFFFF"/>
                </a:solidFill>
                <a:latin typeface="Noto Sans SC"/>
                <a:ea typeface="Noto Sans SC"/>
                <a:cs typeface="Noto Sans SC"/>
                <a:sym typeface="Noto Sans SC"/>
              </a:rPr>
              <a:t>数据准确</a:t>
            </a:r>
            <a:endParaRPr lang="en-US" sz="1100"/>
          </a:p>
        </p:txBody>
      </p:sp>
      <p:sp>
        <p:nvSpPr>
          <p:cNvPr id="18" name="AutoShape 18"/>
          <p:cNvSpPr/>
          <p:nvPr/>
        </p:nvSpPr>
        <p:spPr>
          <a:xfrm>
            <a:off x="6921500" y="2794000"/>
            <a:ext cx="4445000" cy="508000"/>
          </a:xfrm>
          <a:prstGeom prst="rect">
            <a:avLst/>
          </a:prstGeom>
          <a:noFill/>
          <a:ln w="12700" cap="flat" cmpd="sng">
            <a:noFill/>
            <a:prstDash val="solid"/>
            <a:round/>
          </a:ln>
        </p:spPr>
        <p:txBody>
          <a:bodyPr vert="horz" wrap="square" lIns="0" tIns="0" rIns="0" bIns="0" rtlCol="0" anchor="t" anchorCtr="0"/>
          <a:lstStyle/>
          <a:p>
            <a:pPr indent="0" algn="l">
              <a:lnSpc>
                <a:spcPct val="116666"/>
              </a:lnSpc>
              <a:defRPr/>
            </a:pPr>
            <a:r>
              <a:rPr lang="en-US" sz="1400" b="0" i="0" u="none" strike="noStrike">
                <a:solidFill>
                  <a:srgbClr val="D1D5DB"/>
                </a:solidFill>
                <a:latin typeface="Noto Sans SC"/>
                <a:ea typeface="Noto Sans SC"/>
                <a:cs typeface="Noto Sans SC"/>
                <a:sym typeface="Noto Sans SC"/>
              </a:rPr>
              <a:t>杜绝超卖、错卖，保障业务数据的精准无误。</a:t>
            </a:r>
            <a:endParaRPr lang="en-US" sz="1100"/>
          </a:p>
        </p:txBody>
      </p:sp>
      <p:pic>
        <p:nvPicPr>
          <p:cNvPr id="19" name="Picture 19"/>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6477000" y="3556000"/>
            <a:ext cx="254000" cy="254000"/>
          </a:xfrm>
          <a:prstGeom prst="rect">
            <a:avLst/>
          </a:prstGeom>
        </p:spPr>
      </p:pic>
      <p:sp>
        <p:nvSpPr>
          <p:cNvPr id="20" name="AutoShape 20"/>
          <p:cNvSpPr/>
          <p:nvPr/>
        </p:nvSpPr>
        <p:spPr>
          <a:xfrm>
            <a:off x="6921500" y="3556000"/>
            <a:ext cx="4445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FFFFFF"/>
                </a:solidFill>
                <a:latin typeface="Noto Sans SC"/>
                <a:ea typeface="Noto Sans SC"/>
                <a:cs typeface="Noto Sans SC"/>
                <a:sym typeface="Noto Sans SC"/>
              </a:rPr>
              <a:t>系统可靠</a:t>
            </a:r>
            <a:endParaRPr lang="en-US" sz="1100"/>
          </a:p>
        </p:txBody>
      </p:sp>
      <p:sp>
        <p:nvSpPr>
          <p:cNvPr id="21" name="AutoShape 21"/>
          <p:cNvSpPr/>
          <p:nvPr/>
        </p:nvSpPr>
        <p:spPr>
          <a:xfrm>
            <a:off x="6921500" y="3937000"/>
            <a:ext cx="4445000" cy="508000"/>
          </a:xfrm>
          <a:prstGeom prst="rect">
            <a:avLst/>
          </a:prstGeom>
          <a:noFill/>
          <a:ln w="12700" cap="flat" cmpd="sng">
            <a:noFill/>
            <a:prstDash val="solid"/>
            <a:round/>
          </a:ln>
        </p:spPr>
        <p:txBody>
          <a:bodyPr vert="horz" wrap="square" lIns="0" tIns="0" rIns="0" bIns="0" rtlCol="0" anchor="t" anchorCtr="0"/>
          <a:lstStyle/>
          <a:p>
            <a:pPr indent="0" algn="l">
              <a:lnSpc>
                <a:spcPct val="116666"/>
              </a:lnSpc>
              <a:defRPr/>
            </a:pPr>
            <a:r>
              <a:rPr lang="en-US" sz="1400" b="0" i="0" u="none" strike="noStrike">
                <a:solidFill>
                  <a:srgbClr val="D1D5DB"/>
                </a:solidFill>
                <a:latin typeface="Noto Sans SC"/>
                <a:ea typeface="Noto Sans SC"/>
                <a:cs typeface="Noto Sans SC"/>
                <a:sym typeface="Noto Sans SC"/>
              </a:rPr>
              <a:t>关键操作的原子性保障，提升系统整体稳定性。</a:t>
            </a:r>
            <a:endParaRPr lang="en-US" sz="1100"/>
          </a:p>
        </p:txBody>
      </p:sp>
      <p:pic>
        <p:nvPicPr>
          <p:cNvPr id="22" name="Picture 22"/>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6477000" y="4699000"/>
            <a:ext cx="254000" cy="254000"/>
          </a:xfrm>
          <a:prstGeom prst="rect">
            <a:avLst/>
          </a:prstGeom>
        </p:spPr>
      </p:pic>
      <p:sp>
        <p:nvSpPr>
          <p:cNvPr id="23" name="AutoShape 23"/>
          <p:cNvSpPr/>
          <p:nvPr/>
        </p:nvSpPr>
        <p:spPr>
          <a:xfrm>
            <a:off x="6921500" y="4699000"/>
            <a:ext cx="4445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FFFFFF"/>
                </a:solidFill>
                <a:latin typeface="Noto Sans SC"/>
                <a:ea typeface="Noto Sans SC"/>
                <a:cs typeface="Noto Sans SC"/>
                <a:sym typeface="Noto Sans SC"/>
              </a:rPr>
              <a:t>用户信任</a:t>
            </a:r>
            <a:endParaRPr lang="en-US" sz="1100"/>
          </a:p>
        </p:txBody>
      </p:sp>
      <p:sp>
        <p:nvSpPr>
          <p:cNvPr id="24" name="AutoShape 24"/>
          <p:cNvSpPr/>
          <p:nvPr/>
        </p:nvSpPr>
        <p:spPr>
          <a:xfrm>
            <a:off x="6921500" y="5080000"/>
            <a:ext cx="4445000" cy="508000"/>
          </a:xfrm>
          <a:prstGeom prst="rect">
            <a:avLst/>
          </a:prstGeom>
          <a:noFill/>
          <a:ln w="12700" cap="flat" cmpd="sng">
            <a:noFill/>
            <a:prstDash val="solid"/>
            <a:round/>
          </a:ln>
        </p:spPr>
        <p:txBody>
          <a:bodyPr vert="horz" wrap="square" lIns="0" tIns="0" rIns="0" bIns="0" rtlCol="0" anchor="t" anchorCtr="0"/>
          <a:lstStyle/>
          <a:p>
            <a:pPr indent="0" algn="l">
              <a:lnSpc>
                <a:spcPct val="116666"/>
              </a:lnSpc>
              <a:defRPr/>
            </a:pPr>
            <a:r>
              <a:rPr lang="en-US" sz="1400" b="0" i="0" u="none" strike="noStrike">
                <a:solidFill>
                  <a:srgbClr val="D1D5DB"/>
                </a:solidFill>
                <a:latin typeface="Noto Sans SC"/>
                <a:ea typeface="Noto Sans SC"/>
                <a:cs typeface="Noto Sans SC"/>
                <a:sym typeface="Noto Sans SC"/>
              </a:rPr>
              <a:t>数据安全可靠是赢得用户信赖的基础。</a:t>
            </a:r>
            <a:endParaRPr lang="en-US" sz="110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3"/>
          <a:srcRect t="21875" b="21875"/>
          <a:stretch>
            <a:fillRect/>
          </a:stretch>
        </p:blipFill>
        <p:spPr>
          <a:xfrm>
            <a:off x="0" y="0"/>
            <a:ext cx="12192000" cy="6858000"/>
          </a:xfrm>
          <a:prstGeom prst="rect">
            <a:avLst/>
          </a:prstGeom>
          <a:noFill/>
          <a:ln w="25400" cap="flat" cmpd="sng">
            <a:noFill/>
            <a:prstDash val="solid"/>
            <a:round/>
          </a:ln>
        </p:spPr>
      </p:pic>
      <p:sp>
        <p:nvSpPr>
          <p:cNvPr id="3" name="AutoShape 3"/>
          <p:cNvSpPr/>
          <p:nvPr/>
        </p:nvSpPr>
        <p:spPr>
          <a:xfrm>
            <a:off x="0" y="0"/>
            <a:ext cx="12192000" cy="6858000"/>
          </a:xfrm>
          <a:prstGeom prst="roundRect">
            <a:avLst>
              <a:gd name="adj" fmla="val 0"/>
            </a:avLst>
          </a:prstGeom>
          <a:solidFill>
            <a:srgbClr val="FFFFFF">
              <a:alpha val="80000"/>
            </a:srgbClr>
          </a:solidFill>
          <a:ln w="25400" cap="flat" cmpd="sng">
            <a:noFill/>
            <a:prstDash val="solid"/>
            <a:round/>
          </a:ln>
        </p:spPr>
        <p:txBody>
          <a:bodyPr vert="horz" wrap="square" lIns="63500" tIns="63500" rIns="63500" bIns="63500" rtlCol="0" anchor="ctr"/>
          <a:lstStyle/>
          <a:p>
            <a:pPr algn="ctr">
              <a:defRPr/>
            </a:pPr>
            <a:endParaRPr/>
          </a:p>
        </p:txBody>
      </p:sp>
      <p:sp>
        <p:nvSpPr>
          <p:cNvPr id="4" name="AutoShape 4"/>
          <p:cNvSpPr/>
          <p:nvPr/>
        </p:nvSpPr>
        <p:spPr>
          <a:xfrm>
            <a:off x="762000" y="508000"/>
            <a:ext cx="7620000" cy="609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600" b="1" i="0" u="none" strike="noStrike">
                <a:solidFill>
                  <a:srgbClr val="003366"/>
                </a:solidFill>
                <a:latin typeface="Noto Sans SC"/>
                <a:ea typeface="Noto Sans SC"/>
                <a:cs typeface="Noto Sans SC"/>
                <a:sym typeface="Noto Sans SC"/>
              </a:rPr>
              <a:t>创新与亮点 - 性能优化</a:t>
            </a:r>
            <a:endParaRPr lang="en-US" sz="1100"/>
          </a:p>
        </p:txBody>
      </p:sp>
      <p:cxnSp>
        <p:nvCxnSpPr>
          <p:cNvPr id="5" name="Connector 5"/>
          <p:cNvCxnSpPr/>
          <p:nvPr/>
        </p:nvCxnSpPr>
        <p:spPr>
          <a:xfrm rot="-4092">
            <a:off x="762004" y="1263650"/>
            <a:ext cx="10668000" cy="12700"/>
          </a:xfrm>
          <a:prstGeom prst="straightConnector1">
            <a:avLst/>
          </a:prstGeom>
          <a:solidFill>
            <a:srgbClr val="DEE0E3">
              <a:alpha val="100000"/>
            </a:srgbClr>
          </a:solidFill>
          <a:ln w="25400" cap="flat" cmpd="sng">
            <a:solidFill>
              <a:srgbClr val="4A90E2">
                <a:alpha val="100000"/>
              </a:srgbClr>
            </a:solidFill>
            <a:prstDash val="solid"/>
            <a:round/>
            <a:headEnd type="none" w="lg" len="lg"/>
            <a:tailEnd type="none" w="lg" len="lg"/>
          </a:ln>
        </p:spPr>
      </p:cxnSp>
      <p:sp>
        <p:nvSpPr>
          <p:cNvPr id="6" name="AutoShape 6"/>
          <p:cNvSpPr/>
          <p:nvPr/>
        </p:nvSpPr>
        <p:spPr>
          <a:xfrm>
            <a:off x="762000" y="1778000"/>
            <a:ext cx="5080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03366"/>
                </a:solidFill>
                <a:latin typeface="Noto Sans SC"/>
                <a:ea typeface="Noto Sans SC"/>
                <a:cs typeface="Noto Sans SC"/>
                <a:sym typeface="Noto Sans SC"/>
              </a:rPr>
              <a:t>预编译视图</a:t>
            </a:r>
            <a:endParaRPr lang="en-US" sz="1100"/>
          </a:p>
        </p:txBody>
      </p:sp>
      <p:pic>
        <p:nvPicPr>
          <p:cNvPr id="7" name="Picture 7"/>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762000" y="2286000"/>
            <a:ext cx="355600" cy="355600"/>
          </a:xfrm>
          <a:prstGeom prst="rect">
            <a:avLst/>
          </a:prstGeom>
        </p:spPr>
      </p:pic>
      <p:sp>
        <p:nvSpPr>
          <p:cNvPr id="8" name="AutoShape 8"/>
          <p:cNvSpPr/>
          <p:nvPr/>
        </p:nvSpPr>
        <p:spPr>
          <a:xfrm>
            <a:off x="1270000" y="2311400"/>
            <a:ext cx="4572000" cy="10160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1400" b="0" i="0" u="none" strike="noStrike">
                <a:solidFill>
                  <a:srgbClr val="374151"/>
                </a:solidFill>
                <a:latin typeface="Noto Sans SC"/>
                <a:ea typeface="Noto Sans SC"/>
                <a:cs typeface="Noto Sans SC"/>
                <a:sym typeface="Noto Sans SC"/>
              </a:rPr>
              <a:t>为提高数据看板查询效率，我们创建了预编译视图，将复杂查询预先计算，显著提升报表生成速度。</a:t>
            </a:r>
            <a:endParaRPr lang="en-US" sz="1100"/>
          </a:p>
        </p:txBody>
      </p:sp>
      <p:cxnSp>
        <p:nvCxnSpPr>
          <p:cNvPr id="9" name="Connector 9"/>
          <p:cNvCxnSpPr/>
          <p:nvPr/>
        </p:nvCxnSpPr>
        <p:spPr>
          <a:xfrm rot="5375445">
            <a:off x="5207000" y="2660673"/>
            <a:ext cx="1778000" cy="12700"/>
          </a:xfrm>
          <a:prstGeom prst="straightConnector1">
            <a:avLst/>
          </a:prstGeom>
          <a:solidFill>
            <a:srgbClr val="DEE0E3">
              <a:alpha val="100000"/>
            </a:srgbClr>
          </a:solidFill>
          <a:ln w="12700" cap="flat" cmpd="sng">
            <a:solidFill>
              <a:srgbClr val="E5E7EB">
                <a:alpha val="100000"/>
              </a:srgbClr>
            </a:solidFill>
            <a:prstDash val="dash"/>
            <a:round/>
            <a:headEnd type="none" w="med" len="med"/>
            <a:tailEnd type="none" w="med" len="med"/>
          </a:ln>
        </p:spPr>
      </p:cxnSp>
      <p:sp>
        <p:nvSpPr>
          <p:cNvPr id="10" name="AutoShape 10"/>
          <p:cNvSpPr/>
          <p:nvPr/>
        </p:nvSpPr>
        <p:spPr>
          <a:xfrm>
            <a:off x="6604000" y="1778000"/>
            <a:ext cx="5080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03366"/>
                </a:solidFill>
                <a:latin typeface="Noto Sans SC"/>
                <a:ea typeface="Noto Sans SC"/>
                <a:cs typeface="Noto Sans SC"/>
                <a:sym typeface="Noto Sans SC"/>
              </a:rPr>
              <a:t>索引优化</a:t>
            </a:r>
            <a:endParaRPr lang="en-US" sz="1100"/>
          </a:p>
        </p:txBody>
      </p:sp>
      <p:pic>
        <p:nvPicPr>
          <p:cNvPr id="11" name="Picture 11"/>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604000" y="2286000"/>
            <a:ext cx="355600" cy="355600"/>
          </a:xfrm>
          <a:prstGeom prst="rect">
            <a:avLst/>
          </a:prstGeom>
        </p:spPr>
      </p:pic>
      <p:sp>
        <p:nvSpPr>
          <p:cNvPr id="12" name="AutoShape 12"/>
          <p:cNvSpPr/>
          <p:nvPr/>
        </p:nvSpPr>
        <p:spPr>
          <a:xfrm>
            <a:off x="7112000" y="2311400"/>
            <a:ext cx="4572000" cy="10160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1400" b="0" i="0" u="none" strike="noStrike">
                <a:solidFill>
                  <a:srgbClr val="374151"/>
                </a:solidFill>
                <a:latin typeface="Noto Sans SC"/>
                <a:ea typeface="Noto Sans SC"/>
                <a:cs typeface="Noto Sans SC"/>
                <a:sym typeface="Noto Sans SC"/>
              </a:rPr>
              <a:t>对高频查询字段（如电话、时间）建立索引，大幅提高了查询操作的响应速度。</a:t>
            </a:r>
            <a:endParaRPr lang="en-US" sz="1100"/>
          </a:p>
        </p:txBody>
      </p:sp>
      <p:sp>
        <p:nvSpPr>
          <p:cNvPr id="13" name="AutoShape 13"/>
          <p:cNvSpPr/>
          <p:nvPr/>
        </p:nvSpPr>
        <p:spPr>
          <a:xfrm>
            <a:off x="762000" y="4318000"/>
            <a:ext cx="10668000" cy="1270000"/>
          </a:xfrm>
          <a:prstGeom prst="roundRect">
            <a:avLst>
              <a:gd name="adj" fmla="val 8000"/>
            </a:avLst>
          </a:prstGeom>
          <a:solidFill>
            <a:srgbClr val="4A90E2">
              <a:alpha val="10000"/>
            </a:srgbClr>
          </a:solidFill>
          <a:ln w="12700" cap="flat" cmpd="sng">
            <a:solidFill>
              <a:srgbClr val="4A90E2">
                <a:alpha val="100000"/>
              </a:srgbClr>
            </a:solidFill>
            <a:prstDash val="solid"/>
            <a:round/>
          </a:ln>
        </p:spPr>
        <p:txBody>
          <a:bodyPr vert="horz" wrap="square" lIns="63500" tIns="63500" rIns="63500" bIns="63500" rtlCol="0" anchor="ctr"/>
          <a:lstStyle/>
          <a:p>
            <a:pPr algn="ctr">
              <a:defRPr/>
            </a:pPr>
            <a:endParaRPr/>
          </a:p>
        </p:txBody>
      </p:sp>
      <p:pic>
        <p:nvPicPr>
          <p:cNvPr id="14" name="Picture 14"/>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1016000" y="4572000"/>
            <a:ext cx="304800" cy="304800"/>
          </a:xfrm>
          <a:prstGeom prst="rect">
            <a:avLst/>
          </a:prstGeom>
        </p:spPr>
      </p:pic>
      <p:sp>
        <p:nvSpPr>
          <p:cNvPr id="15" name="AutoShape 15"/>
          <p:cNvSpPr/>
          <p:nvPr/>
        </p:nvSpPr>
        <p:spPr>
          <a:xfrm>
            <a:off x="1524000" y="4597400"/>
            <a:ext cx="9652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003366"/>
                </a:solidFill>
                <a:latin typeface="Noto Sans SC"/>
                <a:ea typeface="Noto Sans SC"/>
                <a:cs typeface="Noto Sans SC"/>
                <a:sym typeface="Noto Sans SC"/>
              </a:rPr>
              <a:t>核心目标</a:t>
            </a:r>
            <a:endParaRPr lang="en-US" sz="1100"/>
          </a:p>
        </p:txBody>
      </p:sp>
      <p:sp>
        <p:nvSpPr>
          <p:cNvPr id="16" name="AutoShape 16"/>
          <p:cNvSpPr/>
          <p:nvPr/>
        </p:nvSpPr>
        <p:spPr>
          <a:xfrm>
            <a:off x="1524000" y="4978400"/>
            <a:ext cx="9652000" cy="2794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1400" b="0" i="0" u="none" strike="noStrike">
                <a:solidFill>
                  <a:srgbClr val="374151"/>
                </a:solidFill>
                <a:latin typeface="Noto Sans SC"/>
                <a:ea typeface="Noto Sans SC"/>
                <a:cs typeface="Noto Sans SC"/>
                <a:sym typeface="Noto Sans SC"/>
              </a:rPr>
              <a:t>确保系统在数据量持续增长的情况下，依然保持高效、稳定的运行。</a:t>
            </a:r>
            <a:endParaRPr lang="en-US" sz="110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5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508000"/>
            <a:ext cx="7620000" cy="609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600" b="1" i="0" u="none" strike="noStrike">
                <a:solidFill>
                  <a:srgbClr val="003366"/>
                </a:solidFill>
                <a:latin typeface="Noto Sans SC"/>
                <a:ea typeface="Noto Sans SC"/>
                <a:cs typeface="Noto Sans SC"/>
                <a:sym typeface="Noto Sans SC"/>
              </a:rPr>
              <a:t>系统验证与测试</a:t>
            </a:r>
            <a:endParaRPr lang="en-US" sz="1100"/>
          </a:p>
        </p:txBody>
      </p:sp>
      <p:cxnSp>
        <p:nvCxnSpPr>
          <p:cNvPr id="3" name="Connector 3"/>
          <p:cNvCxnSpPr/>
          <p:nvPr/>
        </p:nvCxnSpPr>
        <p:spPr>
          <a:xfrm rot="-4092">
            <a:off x="762004" y="1263650"/>
            <a:ext cx="10668000" cy="12700"/>
          </a:xfrm>
          <a:prstGeom prst="straightConnector1">
            <a:avLst/>
          </a:prstGeom>
          <a:solidFill>
            <a:srgbClr val="DEE0E3">
              <a:alpha val="100000"/>
            </a:srgbClr>
          </a:solidFill>
          <a:ln w="12700" cap="flat" cmpd="sng">
            <a:solidFill>
              <a:srgbClr val="E5E7EB">
                <a:alpha val="100000"/>
              </a:srgbClr>
            </a:solidFill>
            <a:prstDash val="solid"/>
            <a:round/>
            <a:headEnd type="none" w="med" len="med"/>
            <a:tailEnd type="none" w="med" len="med"/>
          </a:ln>
        </p:spPr>
      </p:cxnSp>
      <p:pic>
        <p:nvPicPr>
          <p:cNvPr id="4" name="Picture 4"/>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62000" y="1778000"/>
            <a:ext cx="355600" cy="355600"/>
          </a:xfrm>
          <a:prstGeom prst="rect">
            <a:avLst/>
          </a:prstGeom>
        </p:spPr>
      </p:pic>
      <p:sp>
        <p:nvSpPr>
          <p:cNvPr id="5" name="AutoShape 5"/>
          <p:cNvSpPr/>
          <p:nvPr/>
        </p:nvSpPr>
        <p:spPr>
          <a:xfrm>
            <a:off x="1320800" y="1803400"/>
            <a:ext cx="4826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03366"/>
                </a:solidFill>
                <a:latin typeface="Noto Sans SC"/>
                <a:ea typeface="Noto Sans SC"/>
                <a:cs typeface="Noto Sans SC"/>
                <a:sym typeface="Noto Sans SC"/>
              </a:rPr>
              <a:t>测试环境</a:t>
            </a:r>
            <a:endParaRPr lang="en-US" sz="1100"/>
          </a:p>
        </p:txBody>
      </p:sp>
      <p:sp>
        <p:nvSpPr>
          <p:cNvPr id="6" name="AutoShape 6"/>
          <p:cNvSpPr/>
          <p:nvPr/>
        </p:nvSpPr>
        <p:spPr>
          <a:xfrm>
            <a:off x="1320800" y="2209800"/>
            <a:ext cx="4826000" cy="5588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1400" b="0" i="0" u="none" strike="noStrike">
                <a:solidFill>
                  <a:srgbClr val="374151"/>
                </a:solidFill>
                <a:latin typeface="Noto Sans SC"/>
                <a:ea typeface="Noto Sans SC"/>
                <a:cs typeface="Noto Sans SC"/>
                <a:sym typeface="Noto Sans SC"/>
              </a:rPr>
              <a:t>在本地开发环境和模拟的生产环境中对系统进行了全面测试。</a:t>
            </a:r>
            <a:endParaRPr lang="en-US" sz="1100"/>
          </a:p>
        </p:txBody>
      </p:sp>
      <p:pic>
        <p:nvPicPr>
          <p:cNvPr id="7" name="Picture 7"/>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762000" y="3175000"/>
            <a:ext cx="355600" cy="355600"/>
          </a:xfrm>
          <a:prstGeom prst="rect">
            <a:avLst/>
          </a:prstGeom>
        </p:spPr>
      </p:pic>
      <p:sp>
        <p:nvSpPr>
          <p:cNvPr id="8" name="AutoShape 8"/>
          <p:cNvSpPr/>
          <p:nvPr/>
        </p:nvSpPr>
        <p:spPr>
          <a:xfrm>
            <a:off x="1320800" y="3200400"/>
            <a:ext cx="4826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03366"/>
                </a:solidFill>
                <a:latin typeface="Noto Sans SC"/>
                <a:ea typeface="Noto Sans SC"/>
                <a:cs typeface="Noto Sans SC"/>
                <a:sym typeface="Noto Sans SC"/>
              </a:rPr>
              <a:t>测试用例</a:t>
            </a:r>
            <a:endParaRPr lang="en-US" sz="1100"/>
          </a:p>
        </p:txBody>
      </p:sp>
      <p:sp>
        <p:nvSpPr>
          <p:cNvPr id="9" name="AutoShape 9"/>
          <p:cNvSpPr/>
          <p:nvPr/>
        </p:nvSpPr>
        <p:spPr>
          <a:xfrm>
            <a:off x="1320800" y="3606800"/>
            <a:ext cx="4826000" cy="5588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1400" b="0" i="0" u="none" strike="noStrike">
                <a:solidFill>
                  <a:srgbClr val="374151"/>
                </a:solidFill>
                <a:latin typeface="Noto Sans SC"/>
                <a:ea typeface="Noto Sans SC"/>
                <a:cs typeface="Noto Sans SC"/>
                <a:sym typeface="Noto Sans SC"/>
              </a:rPr>
              <a:t>设计了涵盖所有功能模块的测试用例，包括正常、边界和异常处理。</a:t>
            </a:r>
            <a:endParaRPr lang="en-US" sz="1100"/>
          </a:p>
        </p:txBody>
      </p:sp>
      <p:pic>
        <p:nvPicPr>
          <p:cNvPr id="10" name="Picture 10"/>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762000" y="4572000"/>
            <a:ext cx="355600" cy="355600"/>
          </a:xfrm>
          <a:prstGeom prst="rect">
            <a:avLst/>
          </a:prstGeom>
        </p:spPr>
      </p:pic>
      <p:sp>
        <p:nvSpPr>
          <p:cNvPr id="11" name="AutoShape 11"/>
          <p:cNvSpPr/>
          <p:nvPr/>
        </p:nvSpPr>
        <p:spPr>
          <a:xfrm>
            <a:off x="1320800" y="4597400"/>
            <a:ext cx="4826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03366"/>
                </a:solidFill>
                <a:latin typeface="Noto Sans SC"/>
                <a:ea typeface="Noto Sans SC"/>
                <a:cs typeface="Noto Sans SC"/>
                <a:sym typeface="Noto Sans SC"/>
              </a:rPr>
              <a:t>测试结果</a:t>
            </a:r>
            <a:endParaRPr lang="en-US" sz="1100"/>
          </a:p>
        </p:txBody>
      </p:sp>
      <p:sp>
        <p:nvSpPr>
          <p:cNvPr id="12" name="AutoShape 12"/>
          <p:cNvSpPr/>
          <p:nvPr/>
        </p:nvSpPr>
        <p:spPr>
          <a:xfrm>
            <a:off x="1320800" y="5003800"/>
            <a:ext cx="4826000" cy="5588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1400" b="0" i="0" u="none" strike="noStrike">
                <a:solidFill>
                  <a:srgbClr val="374151"/>
                </a:solidFill>
                <a:latin typeface="Noto Sans SC"/>
                <a:ea typeface="Noto Sans SC"/>
                <a:cs typeface="Noto Sans SC"/>
                <a:sym typeface="Noto Sans SC"/>
              </a:rPr>
              <a:t>系统功能正常，数据准确，性能良好，达到预期设计目标。</a:t>
            </a:r>
            <a:endParaRPr lang="en-US" sz="1100"/>
          </a:p>
        </p:txBody>
      </p:sp>
      <p:cxnSp>
        <p:nvCxnSpPr>
          <p:cNvPr id="13" name="Connector 13"/>
          <p:cNvCxnSpPr/>
          <p:nvPr/>
        </p:nvCxnSpPr>
        <p:spPr>
          <a:xfrm rot="5388540">
            <a:off x="4445000" y="3676661"/>
            <a:ext cx="3810000" cy="12700"/>
          </a:xfrm>
          <a:prstGeom prst="straightConnector1">
            <a:avLst/>
          </a:prstGeom>
          <a:solidFill>
            <a:srgbClr val="DEE0E3">
              <a:alpha val="100000"/>
            </a:srgbClr>
          </a:solidFill>
          <a:ln w="12700" cap="flat" cmpd="sng">
            <a:solidFill>
              <a:srgbClr val="E5E7EB">
                <a:alpha val="100000"/>
              </a:srgbClr>
            </a:solidFill>
            <a:prstDash val="dash"/>
            <a:round/>
            <a:headEnd type="none" w="med" len="med"/>
            <a:tailEnd type="none" w="med" len="med"/>
          </a:ln>
        </p:spPr>
      </p:cxnSp>
      <p:pic>
        <p:nvPicPr>
          <p:cNvPr id="14" name="Picture 14"/>
          <p:cNvPicPr>
            <a:picLocks noChangeAspect="1"/>
          </p:cNvPicPr>
          <p:nvPr/>
        </p:nvPicPr>
        <p:blipFill>
          <a:blip r:embed="rId9"/>
          <a:srcRect t="14705" b="14705"/>
          <a:stretch>
            <a:fillRect/>
          </a:stretch>
        </p:blipFill>
        <p:spPr>
          <a:xfrm>
            <a:off x="6858000" y="2032000"/>
            <a:ext cx="4318000" cy="3048000"/>
          </a:xfrm>
          <a:prstGeom prst="roundRect">
            <a:avLst>
              <a:gd name="adj" fmla="val 5000"/>
            </a:avLst>
          </a:prstGeom>
          <a:noFill/>
          <a:ln w="25400" cap="flat" cmpd="sng">
            <a:noFill/>
            <a:prstDash val="solid"/>
            <a:round/>
          </a:ln>
          <a:effectLst>
            <a:outerShdw blurRad="254000" dist="63500" dir="2700000" algn="tl" rotWithShape="0">
              <a:srgbClr val="000000">
                <a:alpha val="10000"/>
              </a:srgbClr>
            </a:outerShdw>
          </a:effectLst>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3"/>
          <a:srcRect t="21875" b="21875"/>
          <a:stretch>
            <a:fillRect/>
          </a:stretch>
        </p:blipFill>
        <p:spPr>
          <a:xfrm>
            <a:off x="0" y="0"/>
            <a:ext cx="12192000" cy="6858000"/>
          </a:xfrm>
          <a:prstGeom prst="rect">
            <a:avLst/>
          </a:prstGeom>
          <a:noFill/>
          <a:ln w="25400" cap="flat" cmpd="sng">
            <a:noFill/>
            <a:prstDash val="solid"/>
            <a:round/>
          </a:ln>
        </p:spPr>
      </p:pic>
      <p:sp>
        <p:nvSpPr>
          <p:cNvPr id="3" name="AutoShape 3"/>
          <p:cNvSpPr/>
          <p:nvPr/>
        </p:nvSpPr>
        <p:spPr>
          <a:xfrm>
            <a:off x="0" y="0"/>
            <a:ext cx="12192000" cy="6858000"/>
          </a:xfrm>
          <a:prstGeom prst="roundRect">
            <a:avLst>
              <a:gd name="adj" fmla="val 0"/>
            </a:avLst>
          </a:prstGeom>
          <a:solidFill>
            <a:srgbClr val="FFFFFF">
              <a:alpha val="85000"/>
            </a:srgbClr>
          </a:solidFill>
          <a:ln w="25400" cap="flat" cmpd="sng">
            <a:noFill/>
            <a:prstDash val="solid"/>
            <a:round/>
          </a:ln>
        </p:spPr>
        <p:txBody>
          <a:bodyPr vert="horz" wrap="square" lIns="63500" tIns="63500" rIns="63500" bIns="63500" rtlCol="0" anchor="ctr"/>
          <a:lstStyle/>
          <a:p>
            <a:pPr algn="ctr">
              <a:defRPr/>
            </a:pPr>
            <a:endParaRPr/>
          </a:p>
        </p:txBody>
      </p:sp>
      <p:sp>
        <p:nvSpPr>
          <p:cNvPr id="4" name="AutoShape 4"/>
          <p:cNvSpPr/>
          <p:nvPr/>
        </p:nvSpPr>
        <p:spPr>
          <a:xfrm>
            <a:off x="762000" y="508000"/>
            <a:ext cx="5080000" cy="609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600" b="1" i="0" u="none" strike="noStrike">
                <a:solidFill>
                  <a:srgbClr val="003366"/>
                </a:solidFill>
                <a:latin typeface="Noto Sans SC"/>
                <a:ea typeface="Noto Sans SC"/>
                <a:cs typeface="Noto Sans SC"/>
                <a:sym typeface="Noto Sans SC"/>
              </a:rPr>
              <a:t>总结与展望</a:t>
            </a:r>
            <a:endParaRPr lang="en-US" sz="1100"/>
          </a:p>
        </p:txBody>
      </p:sp>
      <p:cxnSp>
        <p:nvCxnSpPr>
          <p:cNvPr id="5" name="Connector 5"/>
          <p:cNvCxnSpPr/>
          <p:nvPr/>
        </p:nvCxnSpPr>
        <p:spPr>
          <a:xfrm rot="-4092">
            <a:off x="762004" y="1263650"/>
            <a:ext cx="10668000" cy="12700"/>
          </a:xfrm>
          <a:prstGeom prst="straightConnector1">
            <a:avLst/>
          </a:prstGeom>
          <a:solidFill>
            <a:srgbClr val="DEE0E3">
              <a:alpha val="100000"/>
            </a:srgbClr>
          </a:solidFill>
          <a:ln w="12700" cap="flat" cmpd="sng">
            <a:solidFill>
              <a:srgbClr val="E5E7EB">
                <a:alpha val="100000"/>
              </a:srgbClr>
            </a:solidFill>
            <a:prstDash val="solid"/>
            <a:round/>
            <a:headEnd type="none" w="med" len="med"/>
            <a:tailEnd type="none" w="med" len="med"/>
          </a:ln>
        </p:spPr>
      </p:cxnSp>
      <p:sp>
        <p:nvSpPr>
          <p:cNvPr id="6" name="AutoShape 6"/>
          <p:cNvSpPr/>
          <p:nvPr/>
        </p:nvSpPr>
        <p:spPr>
          <a:xfrm>
            <a:off x="762000" y="1574800"/>
            <a:ext cx="5080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03366"/>
                </a:solidFill>
                <a:latin typeface="Noto Sans SC"/>
                <a:ea typeface="Noto Sans SC"/>
                <a:cs typeface="Noto Sans SC"/>
                <a:sym typeface="Noto Sans SC"/>
              </a:rPr>
              <a:t>项目总结</a:t>
            </a:r>
            <a:endParaRPr lang="en-US" sz="1100"/>
          </a:p>
        </p:txBody>
      </p:sp>
      <p:pic>
        <p:nvPicPr>
          <p:cNvPr id="7" name="Picture 7"/>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762000" y="2159000"/>
            <a:ext cx="304800" cy="304800"/>
          </a:xfrm>
          <a:prstGeom prst="rect">
            <a:avLst/>
          </a:prstGeom>
        </p:spPr>
      </p:pic>
      <p:sp>
        <p:nvSpPr>
          <p:cNvPr id="8" name="AutoShape 8"/>
          <p:cNvSpPr/>
          <p:nvPr/>
        </p:nvSpPr>
        <p:spPr>
          <a:xfrm>
            <a:off x="1219200" y="2184400"/>
            <a:ext cx="4572000" cy="558800"/>
          </a:xfrm>
          <a:prstGeom prst="rect">
            <a:avLst/>
          </a:prstGeom>
          <a:noFill/>
          <a:ln w="12700" cap="flat" cmpd="sng">
            <a:noFill/>
            <a:prstDash val="solid"/>
            <a:round/>
          </a:ln>
        </p:spPr>
        <p:txBody>
          <a:bodyPr vert="horz" wrap="square" lIns="0" tIns="0" rIns="0" bIns="0" rtlCol="0" anchor="t" anchorCtr="0"/>
          <a:lstStyle/>
          <a:p>
            <a:pPr indent="0" algn="l">
              <a:lnSpc>
                <a:spcPct val="116666"/>
              </a:lnSpc>
              <a:defRPr/>
            </a:pPr>
            <a:r>
              <a:rPr lang="en-US" sz="1400" b="0" i="0" u="none" strike="noStrike">
                <a:solidFill>
                  <a:srgbClr val="374151"/>
                </a:solidFill>
                <a:latin typeface="Noto Sans SC"/>
                <a:ea typeface="Noto Sans SC"/>
                <a:cs typeface="Noto Sans SC"/>
                <a:sym typeface="Noto Sans SC"/>
              </a:rPr>
              <a:t>成功设计并实现了社区医院门诊管理系统的数据库。</a:t>
            </a:r>
            <a:endParaRPr lang="en-US" sz="1100"/>
          </a:p>
        </p:txBody>
      </p:sp>
      <p:pic>
        <p:nvPicPr>
          <p:cNvPr id="9" name="Picture 9"/>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762000" y="3048000"/>
            <a:ext cx="304800" cy="304800"/>
          </a:xfrm>
          <a:prstGeom prst="rect">
            <a:avLst/>
          </a:prstGeom>
        </p:spPr>
      </p:pic>
      <p:sp>
        <p:nvSpPr>
          <p:cNvPr id="10" name="AutoShape 10"/>
          <p:cNvSpPr/>
          <p:nvPr/>
        </p:nvSpPr>
        <p:spPr>
          <a:xfrm>
            <a:off x="1219200" y="3073400"/>
            <a:ext cx="4572000" cy="558800"/>
          </a:xfrm>
          <a:prstGeom prst="rect">
            <a:avLst/>
          </a:prstGeom>
          <a:noFill/>
          <a:ln w="12700" cap="flat" cmpd="sng">
            <a:noFill/>
            <a:prstDash val="solid"/>
            <a:round/>
          </a:ln>
        </p:spPr>
        <p:txBody>
          <a:bodyPr vert="horz" wrap="square" lIns="0" tIns="0" rIns="0" bIns="0" rtlCol="0" anchor="t" anchorCtr="0"/>
          <a:lstStyle/>
          <a:p>
            <a:pPr indent="0" algn="l">
              <a:lnSpc>
                <a:spcPct val="116666"/>
              </a:lnSpc>
              <a:defRPr/>
            </a:pPr>
            <a:r>
              <a:rPr lang="en-US" sz="1400" b="0" i="0" u="none" strike="noStrike">
                <a:solidFill>
                  <a:srgbClr val="374151"/>
                </a:solidFill>
                <a:latin typeface="Noto Sans SC"/>
                <a:ea typeface="Noto Sans SC"/>
                <a:cs typeface="Noto Sans SC"/>
                <a:sym typeface="Noto Sans SC"/>
              </a:rPr>
              <a:t>实现了患者、前台、管理员三类用户的核心需求。</a:t>
            </a:r>
            <a:endParaRPr lang="en-US" sz="1100"/>
          </a:p>
        </p:txBody>
      </p:sp>
      <p:pic>
        <p:nvPicPr>
          <p:cNvPr id="11" name="Picture 11"/>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762000" y="3937000"/>
            <a:ext cx="304800" cy="304800"/>
          </a:xfrm>
          <a:prstGeom prst="rect">
            <a:avLst/>
          </a:prstGeom>
        </p:spPr>
      </p:pic>
      <p:sp>
        <p:nvSpPr>
          <p:cNvPr id="12" name="AutoShape 12"/>
          <p:cNvSpPr/>
          <p:nvPr/>
        </p:nvSpPr>
        <p:spPr>
          <a:xfrm>
            <a:off x="1219200" y="3962400"/>
            <a:ext cx="4572000" cy="558800"/>
          </a:xfrm>
          <a:prstGeom prst="rect">
            <a:avLst/>
          </a:prstGeom>
          <a:noFill/>
          <a:ln w="12700" cap="flat" cmpd="sng">
            <a:noFill/>
            <a:prstDash val="solid"/>
            <a:round/>
          </a:ln>
        </p:spPr>
        <p:txBody>
          <a:bodyPr vert="horz" wrap="square" lIns="0" tIns="0" rIns="0" bIns="0" rtlCol="0" anchor="t" anchorCtr="0"/>
          <a:lstStyle/>
          <a:p>
            <a:pPr indent="0" algn="l">
              <a:lnSpc>
                <a:spcPct val="116666"/>
              </a:lnSpc>
              <a:defRPr/>
            </a:pPr>
            <a:r>
              <a:rPr lang="en-US" sz="1400" b="0" i="0" u="none" strike="noStrike">
                <a:solidFill>
                  <a:srgbClr val="374151"/>
                </a:solidFill>
                <a:latin typeface="Noto Sans SC"/>
                <a:ea typeface="Noto Sans SC"/>
                <a:cs typeface="Noto Sans SC"/>
                <a:sym typeface="Noto Sans SC"/>
              </a:rPr>
              <a:t>采用触发器、事务、视图等技术保证系统高性能。</a:t>
            </a:r>
            <a:endParaRPr lang="en-US" sz="1100"/>
          </a:p>
        </p:txBody>
      </p:sp>
      <p:cxnSp>
        <p:nvCxnSpPr>
          <p:cNvPr id="13" name="Connector 13"/>
          <p:cNvCxnSpPr/>
          <p:nvPr/>
        </p:nvCxnSpPr>
        <p:spPr>
          <a:xfrm rot="5385433">
            <a:off x="4597400" y="3067063"/>
            <a:ext cx="2997200" cy="12700"/>
          </a:xfrm>
          <a:prstGeom prst="straightConnector1">
            <a:avLst/>
          </a:prstGeom>
          <a:solidFill>
            <a:srgbClr val="DEE0E3">
              <a:alpha val="100000"/>
            </a:srgbClr>
          </a:solidFill>
          <a:ln w="12700" cap="flat" cmpd="sng">
            <a:solidFill>
              <a:srgbClr val="E5E7EB">
                <a:alpha val="100000"/>
              </a:srgbClr>
            </a:solidFill>
            <a:prstDash val="dash"/>
            <a:round/>
            <a:headEnd type="none" w="med" len="med"/>
            <a:tailEnd type="none" w="med" len="med"/>
          </a:ln>
        </p:spPr>
      </p:cxnSp>
      <p:sp>
        <p:nvSpPr>
          <p:cNvPr id="14" name="AutoShape 14"/>
          <p:cNvSpPr/>
          <p:nvPr/>
        </p:nvSpPr>
        <p:spPr>
          <a:xfrm>
            <a:off x="6477000" y="1574800"/>
            <a:ext cx="5080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03366"/>
                </a:solidFill>
                <a:latin typeface="Noto Sans SC"/>
                <a:ea typeface="Noto Sans SC"/>
                <a:cs typeface="Noto Sans SC"/>
                <a:sym typeface="Noto Sans SC"/>
              </a:rPr>
              <a:t>未来展望</a:t>
            </a:r>
            <a:endParaRPr lang="en-US" sz="1100"/>
          </a:p>
        </p:txBody>
      </p:sp>
      <p:pic>
        <p:nvPicPr>
          <p:cNvPr id="15" name="Picture 15"/>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477000" y="2159000"/>
            <a:ext cx="304800" cy="304800"/>
          </a:xfrm>
          <a:prstGeom prst="rect">
            <a:avLst/>
          </a:prstGeom>
        </p:spPr>
      </p:pic>
      <p:sp>
        <p:nvSpPr>
          <p:cNvPr id="16" name="AutoShape 16"/>
          <p:cNvSpPr/>
          <p:nvPr/>
        </p:nvSpPr>
        <p:spPr>
          <a:xfrm>
            <a:off x="6934200" y="2184400"/>
            <a:ext cx="4572000" cy="558800"/>
          </a:xfrm>
          <a:prstGeom prst="rect">
            <a:avLst/>
          </a:prstGeom>
          <a:noFill/>
          <a:ln w="12700" cap="flat" cmpd="sng">
            <a:noFill/>
            <a:prstDash val="solid"/>
            <a:round/>
          </a:ln>
        </p:spPr>
        <p:txBody>
          <a:bodyPr vert="horz" wrap="square" lIns="0" tIns="0" rIns="0" bIns="0" rtlCol="0" anchor="t" anchorCtr="0"/>
          <a:lstStyle/>
          <a:p>
            <a:pPr indent="0" algn="l">
              <a:lnSpc>
                <a:spcPct val="116666"/>
              </a:lnSpc>
              <a:defRPr/>
            </a:pPr>
            <a:r>
              <a:rPr lang="en-US" sz="1400" b="1" i="0" u="none" strike="noStrike">
                <a:solidFill>
                  <a:srgbClr val="374151"/>
                </a:solidFill>
                <a:latin typeface="Noto Sans SC"/>
                <a:ea typeface="Noto Sans SC"/>
                <a:cs typeface="Noto Sans SC"/>
                <a:sym typeface="Noto Sans SC"/>
              </a:rPr>
              <a:t>功能扩展：</a:t>
            </a:r>
            <a:r>
              <a:rPr lang="en-US" sz="1400" b="0" i="0" u="none" strike="noStrike">
                <a:solidFill>
                  <a:srgbClr val="374151"/>
                </a:solidFill>
                <a:latin typeface="Noto Sans SC"/>
                <a:ea typeface="Noto Sans SC"/>
                <a:cs typeface="Noto Sans SC"/>
                <a:sym typeface="Noto Sans SC"/>
              </a:rPr>
              <a:t>增加电子病历、药品管理等模块。</a:t>
            </a:r>
            <a:endParaRPr lang="en-US" sz="1100"/>
          </a:p>
        </p:txBody>
      </p:sp>
      <p:pic>
        <p:nvPicPr>
          <p:cNvPr id="17" name="Picture 17"/>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6477000" y="3048000"/>
            <a:ext cx="304800" cy="304800"/>
          </a:xfrm>
          <a:prstGeom prst="rect">
            <a:avLst/>
          </a:prstGeom>
        </p:spPr>
      </p:pic>
      <p:sp>
        <p:nvSpPr>
          <p:cNvPr id="18" name="AutoShape 18"/>
          <p:cNvSpPr/>
          <p:nvPr/>
        </p:nvSpPr>
        <p:spPr>
          <a:xfrm>
            <a:off x="6934200" y="3073400"/>
            <a:ext cx="4572000" cy="558800"/>
          </a:xfrm>
          <a:prstGeom prst="rect">
            <a:avLst/>
          </a:prstGeom>
          <a:noFill/>
          <a:ln w="12700" cap="flat" cmpd="sng">
            <a:noFill/>
            <a:prstDash val="solid"/>
            <a:round/>
          </a:ln>
        </p:spPr>
        <p:txBody>
          <a:bodyPr vert="horz" wrap="square" lIns="0" tIns="0" rIns="0" bIns="0" rtlCol="0" anchor="t" anchorCtr="0"/>
          <a:lstStyle/>
          <a:p>
            <a:pPr indent="0" algn="l">
              <a:lnSpc>
                <a:spcPct val="116666"/>
              </a:lnSpc>
              <a:defRPr/>
            </a:pPr>
            <a:r>
              <a:rPr lang="en-US" sz="1400" b="1" i="0" u="none" strike="noStrike">
                <a:solidFill>
                  <a:srgbClr val="374151"/>
                </a:solidFill>
                <a:latin typeface="Noto Sans SC"/>
                <a:ea typeface="Noto Sans SC"/>
                <a:cs typeface="Noto Sans SC"/>
                <a:sym typeface="Noto Sans SC"/>
              </a:rPr>
              <a:t>移动应用：</a:t>
            </a:r>
            <a:r>
              <a:rPr lang="en-US" sz="1400" b="0" i="0" u="none" strike="noStrike">
                <a:solidFill>
                  <a:srgbClr val="374151"/>
                </a:solidFill>
                <a:latin typeface="Noto Sans SC"/>
                <a:ea typeface="Noto Sans SC"/>
                <a:cs typeface="Noto Sans SC"/>
                <a:sym typeface="Noto Sans SC"/>
              </a:rPr>
              <a:t>开发配套移动端，提供便捷服务。</a:t>
            </a:r>
            <a:endParaRPr lang="en-US" sz="1100"/>
          </a:p>
        </p:txBody>
      </p:sp>
      <p:pic>
        <p:nvPicPr>
          <p:cNvPr id="19" name="Picture 19"/>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6477000" y="3937000"/>
            <a:ext cx="304800" cy="304800"/>
          </a:xfrm>
          <a:prstGeom prst="rect">
            <a:avLst/>
          </a:prstGeom>
        </p:spPr>
      </p:pic>
      <p:sp>
        <p:nvSpPr>
          <p:cNvPr id="20" name="AutoShape 20"/>
          <p:cNvSpPr/>
          <p:nvPr/>
        </p:nvSpPr>
        <p:spPr>
          <a:xfrm>
            <a:off x="6934200" y="3962400"/>
            <a:ext cx="4572000" cy="558800"/>
          </a:xfrm>
          <a:prstGeom prst="rect">
            <a:avLst/>
          </a:prstGeom>
          <a:noFill/>
          <a:ln w="12700" cap="flat" cmpd="sng">
            <a:noFill/>
            <a:prstDash val="solid"/>
            <a:round/>
          </a:ln>
        </p:spPr>
        <p:txBody>
          <a:bodyPr vert="horz" wrap="square" lIns="0" tIns="0" rIns="0" bIns="0" rtlCol="0" anchor="t" anchorCtr="0"/>
          <a:lstStyle/>
          <a:p>
            <a:pPr indent="0" algn="l">
              <a:lnSpc>
                <a:spcPct val="116666"/>
              </a:lnSpc>
              <a:defRPr/>
            </a:pPr>
            <a:r>
              <a:rPr lang="en-US" sz="1400" b="1" i="0" u="none" strike="noStrike">
                <a:solidFill>
                  <a:srgbClr val="374151"/>
                </a:solidFill>
                <a:latin typeface="Noto Sans SC"/>
                <a:ea typeface="Noto Sans SC"/>
                <a:cs typeface="Noto Sans SC"/>
                <a:sym typeface="Noto Sans SC"/>
              </a:rPr>
              <a:t>数据分析：</a:t>
            </a:r>
            <a:r>
              <a:rPr lang="en-US" sz="1400" b="0" i="0" u="none" strike="noStrike">
                <a:solidFill>
                  <a:srgbClr val="374151"/>
                </a:solidFill>
                <a:latin typeface="Noto Sans SC"/>
                <a:ea typeface="Noto Sans SC"/>
                <a:cs typeface="Noto Sans SC"/>
                <a:sym typeface="Noto Sans SC"/>
              </a:rPr>
              <a:t>深化分析与AI应用，支持精准决策。</a:t>
            </a:r>
            <a:endParaRPr lang="en-US" sz="1100"/>
          </a:p>
        </p:txBody>
      </p:sp>
      <p:sp>
        <p:nvSpPr>
          <p:cNvPr id="21" name="AutoShape 21"/>
          <p:cNvSpPr/>
          <p:nvPr/>
        </p:nvSpPr>
        <p:spPr>
          <a:xfrm>
            <a:off x="762000" y="5334000"/>
            <a:ext cx="10668000" cy="508000"/>
          </a:xfrm>
          <a:prstGeom prst="roundRect">
            <a:avLst>
              <a:gd name="adj" fmla="val 20000"/>
            </a:avLst>
          </a:prstGeom>
          <a:solidFill>
            <a:srgbClr val="003366">
              <a:alpha val="100000"/>
            </a:srgbClr>
          </a:solidFill>
          <a:ln w="25400" cap="flat" cmpd="sng">
            <a:noFill/>
            <a:prstDash val="solid"/>
            <a:round/>
          </a:ln>
        </p:spPr>
        <p:txBody>
          <a:bodyPr vert="horz" wrap="square" lIns="0" tIns="0" rIns="0" bIns="0" rtlCol="0" anchor="ctr" anchorCtr="0"/>
          <a:lstStyle/>
          <a:p>
            <a:pPr indent="0" algn="ctr">
              <a:lnSpc>
                <a:spcPct val="125000"/>
              </a:lnSpc>
              <a:defRPr/>
            </a:pPr>
            <a:r>
              <a:rPr lang="en-US" sz="1400" b="0" i="0" u="none" strike="noStrike">
                <a:solidFill>
                  <a:srgbClr val="FFFFFF"/>
                </a:solidFill>
                <a:latin typeface="Noto Sans SC"/>
                <a:ea typeface="Noto Sans SC"/>
                <a:cs typeface="Noto Sans SC"/>
                <a:sym typeface="Noto Sans SC"/>
              </a:rPr>
              <a:t>持续优化，为社区医疗服务贡献技术力量</a:t>
            </a:r>
            <a:endParaRPr lang="en-US" sz="1100"/>
          </a:p>
        </p:txBody>
      </p:sp>
    </p:spTree>
  </p:cSld>
  <p:clrMapOvr>
    <a:masterClrMapping/>
  </p:clrMapOvr>
</p:sld>
</file>

<file path=ppt/theme/theme1.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TotalTime>
  <Words>994</Words>
  <Application>Microsoft Office PowerPoint</Application>
  <PresentationFormat>宽屏</PresentationFormat>
  <Paragraphs>362</Paragraphs>
  <Slides>21</Slides>
  <Notes>21</Notes>
  <HiddenSlides>0</HiddenSlides>
  <MMClips>0</MMClips>
  <ScaleCrop>false</ScaleCrop>
  <HeadingPairs>
    <vt:vector size="6" baseType="variant">
      <vt:variant>
        <vt:lpstr>已用的字体</vt:lpstr>
      </vt:variant>
      <vt:variant>
        <vt:i4>3</vt:i4>
      </vt:variant>
      <vt:variant>
        <vt:lpstr>主题</vt:lpstr>
      </vt:variant>
      <vt:variant>
        <vt:i4>2</vt:i4>
      </vt:variant>
      <vt:variant>
        <vt:lpstr>幻灯片标题</vt:lpstr>
      </vt:variant>
      <vt:variant>
        <vt:i4>21</vt:i4>
      </vt:variant>
    </vt:vector>
  </HeadingPairs>
  <TitlesOfParts>
    <vt:vector size="26" baseType="lpstr">
      <vt:lpstr>Noto Sans SC</vt:lpstr>
      <vt:lpstr>Arial</vt:lpstr>
      <vt:lpstr>Roboto Mono</vt:lpstr>
      <vt:lpstr>Office 主题​​</vt:lpstr>
      <vt:lpstr>默认主题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ysj3423312540@outlook.com</cp:lastModifiedBy>
  <cp:revision>5</cp:revision>
  <dcterms:modified xsi:type="dcterms:W3CDTF">2026-01-14T04:40:45Z</dcterms:modified>
</cp:coreProperties>
</file>